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5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y="6858000" cx="12192000"/>
  <p:notesSz cx="6858000" cy="9144000"/>
  <p:embeddedFontLst>
    <p:embeddedFont>
      <p:font typeface="Roboto"/>
      <p:regular r:id="rId26"/>
      <p:bold r:id="rId27"/>
      <p:italic r:id="rId28"/>
      <p:boldItalic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0" roundtripDataSignature="AMtx7miOkfqKv4vPITrbLCQBwBo7gK/0M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26" Type="http://schemas.openxmlformats.org/officeDocument/2006/relationships/font" Target="fonts/Roboto-regular.fntdata"/><Relationship Id="rId25" Type="http://schemas.openxmlformats.org/officeDocument/2006/relationships/slide" Target="slides/slide20.xml"/><Relationship Id="rId28" Type="http://schemas.openxmlformats.org/officeDocument/2006/relationships/font" Target="fonts/Roboto-italic.fntdata"/><Relationship Id="rId27" Type="http://schemas.openxmlformats.org/officeDocument/2006/relationships/font" Target="fonts/Roboto-bold.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Roboto-boldItalic.fntdata"/><Relationship Id="rId7" Type="http://schemas.openxmlformats.org/officeDocument/2006/relationships/slide" Target="slides/slide2.xml"/><Relationship Id="rId8" Type="http://schemas.openxmlformats.org/officeDocument/2006/relationships/slide" Target="slides/slide3.xml"/><Relationship Id="rId30" Type="http://customschemas.google.com/relationships/presentationmetadata" Target="meta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turingmachine.io"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b0d07ae252_1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b0d07ae252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Turing machines were initially ideated by Alan Turing, an English mathematician. They consist of a “tape,” which represents an </a:t>
            </a:r>
            <a:r>
              <a:rPr lang="en-US"/>
              <a:t>arbitrary</a:t>
            </a:r>
            <a:r>
              <a:rPr lang="en-US"/>
              <a:t> amount of memory, and a “tape head,” which points to the current position in the memory. The head reads the value at that position in memory and conditionally moves to the left or right. The underlying Turing Machine consists of various states and transitions, which provide instructions to write a value and move left or right based the input value. In computer science, they are used to represent </a:t>
            </a:r>
            <a:r>
              <a:rPr i="1" lang="en-US"/>
              <a:t>decidable problems</a:t>
            </a:r>
            <a:r>
              <a:rPr lang="en-US"/>
              <a:t>, which are problems that are “computationally feasible” to compute. Computer programs are </a:t>
            </a:r>
            <a:r>
              <a:rPr i="1" lang="en-US"/>
              <a:t>implementations</a:t>
            </a:r>
            <a:r>
              <a:rPr lang="en-US"/>
              <a:t> of Turing Machines, although exact </a:t>
            </a:r>
            <a:r>
              <a:rPr lang="en-US"/>
              <a:t>implementations</a:t>
            </a:r>
            <a:r>
              <a:rPr lang="en-US"/>
              <a:t> may depend on the language and programmer.</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So, what happens when the implementation of a Turing Machine does not match the theoretical design? The Turing Machine in the image (from </a:t>
            </a:r>
            <a:r>
              <a:rPr lang="en-US" u="sng">
                <a:solidFill>
                  <a:schemeClr val="hlink"/>
                </a:solidFill>
                <a:hlinkClick r:id="rId2"/>
              </a:rPr>
              <a:t>https://turingmachine.io</a:t>
            </a:r>
            <a:r>
              <a:rPr lang="en-US"/>
              <a:t>) </a:t>
            </a:r>
            <a:r>
              <a:rPr lang="en-US"/>
              <a:t>simulates adding “1” to a given binary number. The machine moves right to the end of the binary number, then moves left and changes 1s to 0s until a 0 or blank is reached and changed to a “1” in the transition to the “done” state. A programmer could implement this fairly easy in almost any modern language, but while the </a:t>
            </a:r>
            <a:r>
              <a:rPr lang="en-US"/>
              <a:t>TM</a:t>
            </a:r>
            <a:r>
              <a:rPr lang="en-US"/>
              <a:t> itself may not be </a:t>
            </a:r>
            <a:r>
              <a:rPr lang="en-US"/>
              <a:t>affected</a:t>
            </a:r>
            <a:r>
              <a:rPr lang="en-US"/>
              <a:t> by unintended inputs, the implementation could be. This is the central concept of the “Weird Machine;” unintended (“weird”) states and behaviors can emerge from inputs that the programmer did not account for or consider. A very well-known example of this is a Buffer Overflow attack, where an attacker uses a specially-crafted input to overwrite values on memory and arbitrarily execute code.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Weird machines can add both benign and malicious functionalities to a machine.</a:t>
            </a:r>
            <a:endParaRPr/>
          </a:p>
        </p:txBody>
      </p:sp>
      <p:sp>
        <p:nvSpPr>
          <p:cNvPr id="116" name="Google Shape;116;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rPr>
              <a:t>Sam - </a:t>
            </a:r>
            <a:r>
              <a:rPr lang="en-US" sz="1200">
                <a:solidFill>
                  <a:schemeClr val="dk1"/>
                </a:solidFill>
              </a:rPr>
              <a:t>From Buffer Overflows to “Weird Machines” and Theory of Computation </a:t>
            </a:r>
            <a:r>
              <a:rPr lang="en-US">
                <a:solidFill>
                  <a:schemeClr val="dk1"/>
                </a:solidFill>
              </a:rPr>
              <a:t>paper was the most helpful because it reframed exploits not as ad-hoc hacking, but as programs for emergent “weird machines,” which really helped connect practical exploitation techniques to computability theory and providing a clearer way to reason about unexpected system behavior.</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Jada - Both Bratus papers were especially useful in understanding what a Weird Machine was and how it could result from existing structures in a program or system. </a:t>
            </a:r>
            <a:r>
              <a:rPr i="1" lang="en-US">
                <a:solidFill>
                  <a:schemeClr val="dk1"/>
                </a:solidFill>
              </a:rPr>
              <a:t>Hacking &amp; Computer Science</a:t>
            </a:r>
            <a:r>
              <a:rPr lang="en-US"/>
              <a:t> introduced the concept of data-ruled machine rather than machine-controlled data. Machines operate based on the data they are given and are thus controlled by them. </a:t>
            </a:r>
            <a:r>
              <a:rPr i="1" lang="en-US"/>
              <a:t>From Buffer Overflows…</a:t>
            </a:r>
            <a:r>
              <a:rPr lang="en-US"/>
              <a:t> provided exploits as proofs for the presence of Weird Machines, connecting the security mindset to the theoretical.</a:t>
            </a:r>
            <a:endParaRPr/>
          </a:p>
        </p:txBody>
      </p:sp>
      <p:sp>
        <p:nvSpPr>
          <p:cNvPr id="126" name="Google Shape;126;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This timeline shows that weird machines aren’t new they have appeared repeatedly across hardware, software, and cyber-physical systems.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It starts with the  Apollo 13 Mailbox, arguably the first beneficial cyber-physical weird machine, astronauts repurposed constrained hardware and procedures to compute a life-saving solution under failure conditions.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Early theoretical work in the 1970s showed that ambiguity and access-control mechanisms can unintentionally become computationally powerful.</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By the 1980s and 1990s, weird machines became visible in software, with the Morris Worm and early memory-reuse attacks demonstrating unintended computation at scale.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In the 2000s, this behavior was formalized by ROP (Return-Oriented Programming) proving that even restricted gadgets can be Turing-complete, and Bratus et al. paper formally named and unified these behaviors under the concept of </a:t>
            </a:r>
            <a:r>
              <a:rPr i="1" lang="en-US">
                <a:solidFill>
                  <a:schemeClr val="dk1"/>
                </a:solidFill>
              </a:rPr>
              <a:t>weird machines</a:t>
            </a:r>
            <a:r>
              <a:rPr lang="en-US">
                <a:solidFill>
                  <a:schemeClr val="dk1"/>
                </a:solidFill>
              </a:rPr>
              <a:t>, giving us a vocabulary to reason about them.</a:t>
            </a:r>
            <a:endParaRPr>
              <a:solidFill>
                <a:schemeClr val="dk1"/>
              </a:solidFill>
            </a:endParaRPr>
          </a:p>
          <a:p>
            <a:pPr indent="0" lvl="0" marL="0" rtl="0" algn="l">
              <a:lnSpc>
                <a:spcPct val="115000"/>
              </a:lnSpc>
              <a:spcBef>
                <a:spcPts val="1200"/>
              </a:spcBef>
              <a:spcAft>
                <a:spcPts val="1200"/>
              </a:spcAft>
              <a:buNone/>
            </a:pPr>
            <a:r>
              <a:rPr lang="en-US">
                <a:solidFill>
                  <a:schemeClr val="dk1"/>
                </a:solidFill>
              </a:rPr>
              <a:t>This work builds on that history by demonstrating intentional, dual-use weird machines in cyber-physical systems, showing they can be both beneficial and malicious depending on how they’re composed.</a:t>
            </a:r>
            <a:endParaRPr/>
          </a:p>
        </p:txBody>
      </p:sp>
      <p:sp>
        <p:nvSpPr>
          <p:cNvPr id="132" name="Google Shape;132;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b0d07ae252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g3b0d07ae252_2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a71945877e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a71945877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A weird machine gadget is just a set of pieces in a system that were never meant to be a programming language, but that you can still “wire together” to make the system follow your instructions. Think of it as finding Lego bricks hidden inside something that was supposed to be finished and fixed.</a:t>
            </a:r>
            <a:endParaRPr sz="1200">
              <a:solidFill>
                <a:schemeClr val="dk1"/>
              </a:solidFill>
              <a:latin typeface="Roboto"/>
              <a:ea typeface="Roboto"/>
              <a:cs typeface="Roboto"/>
              <a:sym typeface="Roboto"/>
            </a:endParaRPr>
          </a:p>
          <a:p>
            <a:pPr indent="0" lvl="0" marL="0" rtl="0" algn="l">
              <a:lnSpc>
                <a:spcPct val="115000"/>
              </a:lnSpc>
              <a:spcBef>
                <a:spcPts val="1200"/>
              </a:spcBef>
              <a:spcAft>
                <a:spcPts val="0"/>
              </a:spcAft>
              <a:buNone/>
            </a:pPr>
            <a:r>
              <a:rPr lang="en-US" sz="1200">
                <a:solidFill>
                  <a:schemeClr val="dk1"/>
                </a:solidFill>
                <a:latin typeface="Roboto"/>
                <a:ea typeface="Roboto"/>
                <a:cs typeface="Roboto"/>
                <a:sym typeface="Roboto"/>
              </a:rPr>
              <a:t>In the video game world, a famous example showed up in Final Fantasy VII. Players discovered that by performing a particular sequence of actions around saving, loading, or exiting, the game would write inconsistent state to disk and then reload it as if the same item existed in two places. Players ended up with duplicate high-value gear or endgame items much earlier than intended, effectively “programming” the game into giving them extra items without touching the code directly</a:t>
            </a:r>
            <a:endParaRPr sz="1200">
              <a:solidFill>
                <a:schemeClr val="dk1"/>
              </a:solidFill>
              <a:latin typeface="Roboto"/>
              <a:ea typeface="Roboto"/>
              <a:cs typeface="Roboto"/>
              <a:sym typeface="Roboto"/>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latin typeface="Roboto"/>
                <a:ea typeface="Roboto"/>
                <a:cs typeface="Roboto"/>
                <a:sym typeface="Roboto"/>
              </a:rPr>
              <a:t>So the save file, the game’s loader, and the console’s memory layout together form a gadget: controllable pieces that, when combined carefully, behave like a little unintended program. The designers never meant for save files to be code, but attackers turned them into exactly that.</a:t>
            </a:r>
            <a:endParaRPr sz="1200">
              <a:solidFill>
                <a:schemeClr val="dk1"/>
              </a:solidFill>
              <a:latin typeface="Roboto"/>
              <a:ea typeface="Roboto"/>
              <a:cs typeface="Roboto"/>
              <a:sym typeface="Roboto"/>
            </a:endParaRPr>
          </a:p>
          <a:p>
            <a:pPr indent="0" lvl="0" marL="0" rtl="0" algn="l">
              <a:spcBef>
                <a:spcPts val="60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The wind energy test bed is built as a scaled-down wind farm that connects physical turbines, industrial controllers, and a SCADA system into a single cyber‑physical environment. At a high level, the slide shows how device‑level control, field networks, secure gateways, and the Rapid SCADA server fit together into that architecture.​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At the edge, scaled and emulated wind turbines are instrumented with motors and sensors, then controlled by a mix of industrial PLCs and Raspberry Pi units. These controllers handle local logic such as RPM limits and shutdown routines, and expose their data and commands over industrial protocols like Modbus TCP and other vendor‑specific fieldbuses.​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PLCs and emulated PLCs connect over Ethernet to the test bed network, where traffic is segmented and routed toward the SCADA environment. A Python‑based proxy with certificates and credentials sits in the path of Modbus TCP, authenticating devices and only forwarding traffic for nodes that prove their identity. This effectively creates a secure Modbus gateway in front of the SCADA server.​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Rapid SCADA server is configured with multiple communication lines, simultaneously polling and controlling devices using Modbus and a REST API. These lines connect to PLCs, simulation servers, and an ambient weather station, with each line mapped into channels, devices, and logs.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Operators interact with the system through Rapid SCADA’s web‑based interface, which presents turbine status, weather measurements, control commands, and alarms in dashboards. This architecture allows experiments that closely mirror how a real wind farm’s supervisory control and cybersecurity stack would be organized.</a:t>
            </a:r>
            <a:endParaRPr/>
          </a:p>
          <a:p>
            <a:pPr indent="0" lvl="0" marL="0" rtl="0" algn="l">
              <a:spcBef>
                <a:spcPts val="0"/>
              </a:spcBef>
              <a:spcAft>
                <a:spcPts val="0"/>
              </a:spcAft>
              <a:buNone/>
            </a:pPr>
            <a:r>
              <a:t/>
            </a:r>
            <a:endParaRPr/>
          </a:p>
        </p:txBody>
      </p:sp>
      <p:sp>
        <p:nvSpPr>
          <p:cNvPr id="171" name="Google Shape;171;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b0d07ae252_9_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7" name="Google Shape;177;g3b0d07ae252_9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b0d07ae252_5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200000"/>
              </a:lnSpc>
              <a:spcBef>
                <a:spcPts val="0"/>
              </a:spcBef>
              <a:spcAft>
                <a:spcPts val="0"/>
              </a:spcAft>
              <a:buSzPts val="1100"/>
              <a:buNone/>
            </a:pPr>
            <a:r>
              <a:rPr lang="en-US">
                <a:solidFill>
                  <a:schemeClr val="dk1"/>
                </a:solidFill>
              </a:rPr>
              <a:t>In the wind-energy testbed, we treat Modbus-like operations as primitives. By sequencing register/coil reads and writes, </a:t>
            </a:r>
            <a:endParaRPr>
              <a:solidFill>
                <a:schemeClr val="dk1"/>
              </a:solidFill>
            </a:endParaRPr>
          </a:p>
          <a:p>
            <a:pPr indent="0" lvl="0" marL="0" rtl="0" algn="l">
              <a:lnSpc>
                <a:spcPct val="200000"/>
              </a:lnSpc>
              <a:spcBef>
                <a:spcPts val="0"/>
              </a:spcBef>
              <a:spcAft>
                <a:spcPts val="0"/>
              </a:spcAft>
              <a:buSzPts val="1100"/>
              <a:buNone/>
            </a:pPr>
            <a:r>
              <a:rPr lang="en-US">
                <a:solidFill>
                  <a:schemeClr val="dk1"/>
                </a:solidFill>
              </a:rPr>
              <a:t>then adding control gadgets like wait/conditional/loop, we can build composite behaviors like counters, timers, </a:t>
            </a:r>
            <a:endParaRPr>
              <a:solidFill>
                <a:schemeClr val="dk1"/>
              </a:solidFill>
            </a:endParaRPr>
          </a:p>
          <a:p>
            <a:pPr indent="0" lvl="0" marL="0" rtl="0" algn="l">
              <a:lnSpc>
                <a:spcPct val="200000"/>
              </a:lnSpc>
              <a:spcBef>
                <a:spcPts val="0"/>
              </a:spcBef>
              <a:spcAft>
                <a:spcPts val="0"/>
              </a:spcAft>
              <a:buClr>
                <a:schemeClr val="dk1"/>
              </a:buClr>
              <a:buSzPts val="1100"/>
              <a:buFont typeface="Arial"/>
              <a:buNone/>
            </a:pPr>
            <a:r>
              <a:rPr lang="en-US">
                <a:solidFill>
                  <a:schemeClr val="dk1"/>
                </a:solidFill>
              </a:rPr>
              <a:t>and even state machines computation emerging from the protocol itself. Allowing unintended computational structure to emerge within a non-computational control protocol.</a:t>
            </a:r>
            <a:endParaRPr/>
          </a:p>
        </p:txBody>
      </p:sp>
      <p:sp>
        <p:nvSpPr>
          <p:cNvPr id="184" name="Google Shape;184;g3b0d07ae252_5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Coming from a traditional software mindset, we expect systems to behave according to their APIs, inputs go in, outputs come out, and side effects or unintended outcomes are seen as “bugs” and documented.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Weird machines violate that expectation, but this problem becomes much harder in cyber-physical systems, where software doesn’t only just compute, it also controls hardware.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In our wind-energy testbed, software running on PLCs and controllers directly affects physical components like turbines, sensors, and actuators. Timing delays, protocol retries, and control feedback loops introduce behaviors that don’t exist in software-only systems.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This is where weird machines really emerge not purely just in code or hardware, but in their interaction.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Python gadget libraries were critical because they abstracted low-level details like Modbus registers, PLC state, and timing behavior into composable primitives. That allowed us to think like software engineers </a:t>
            </a:r>
            <a:r>
              <a:rPr i="1" lang="en-US">
                <a:solidFill>
                  <a:schemeClr val="dk1"/>
                </a:solidFill>
              </a:rPr>
              <a:t>while still manipulating physical state</a:t>
            </a:r>
            <a:r>
              <a:rPr lang="en-US">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Instead of wiring diagrams or ladder logic, we composed gadgets out of the control protocol that our Wind Energy Turbines rely on and through that composition, we were able to intentionally discover and build cyber-physical weird machines.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repository linked here contains the gadget implementations used throughout the project.</a:t>
            </a:r>
            <a:endParaRPr>
              <a:solidFill>
                <a:schemeClr val="dk1"/>
              </a:solidFill>
            </a:endParaRPr>
          </a:p>
          <a:p>
            <a:pPr indent="0" lvl="0" marL="0" rtl="0" algn="l">
              <a:spcBef>
                <a:spcPts val="1200"/>
              </a:spcBef>
              <a:spcAft>
                <a:spcPts val="0"/>
              </a:spcAft>
              <a:buNone/>
            </a:pPr>
            <a:r>
              <a:t/>
            </a:r>
            <a:endParaRPr>
              <a:solidFill>
                <a:schemeClr val="dk1"/>
              </a:solidFill>
            </a:endParaRPr>
          </a:p>
        </p:txBody>
      </p:sp>
      <p:sp>
        <p:nvSpPr>
          <p:cNvPr id="191" name="Google Shape;191;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b0d07ae252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g3b0d07ae252_3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b0d07ae252_2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This implementation of the Weird Gadgets creates a remote mailbox system where messages can be read and written. There is a segmented implementation, where messages of arbitrary size can be sent one character at a time, and an unsegmented implementation, where messages less than some memory size are converted to raw bytes and stored for retrieval. Both pseudo programs make use of conditionals and read/write functions with both integer registers and binary foils. The segmented program also uses loops to iterate through each character of the message.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included screenshot shows one iteration of the segmented messaging system. One system starts by writing a character ASCII value to the specified integer register and changing the “unread message” coil to “On” (logically, “True”). The host checks to see if there is a message by reading the “unread message” coil and goes to read the associated message register if it is on. The character is output to the screen and the “unread message” coil is turned off to mark the message as read. This occurs for each letter in the message, terminating when there are no more characters left to send.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These two programs demonstrate the flexibility of Weird Machines and Architectural Gadgets to create functionality outside of the intended set.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215" name="Google Shape;215;g3b0d07ae252_2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b0d07ae252_2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b0d07ae252_2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As they are Turing Complete, these languages can be used to solve any </a:t>
            </a:r>
            <a:r>
              <a:rPr i="1" lang="en-US"/>
              <a:t>decidable</a:t>
            </a:r>
            <a:r>
              <a:rPr lang="en-US"/>
              <a:t> programming problem.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Something interesting found during the literature review was the </a:t>
            </a:r>
            <a:r>
              <a:rPr i="1" lang="en-US"/>
              <a:t>Crema</a:t>
            </a:r>
            <a:r>
              <a:rPr lang="en-US"/>
              <a:t> programming framework, which proposed non-Turing Complete programming languages. It was created with the argument that Turing Completeness is not always necessary or needed for specific programs.</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381000" rtl="0" algn="l">
              <a:lnSpc>
                <a:spcPct val="200000"/>
              </a:lnSpc>
              <a:spcBef>
                <a:spcPts val="1200"/>
              </a:spcBef>
              <a:spcAft>
                <a:spcPts val="0"/>
              </a:spcAft>
              <a:buNone/>
            </a:pPr>
            <a:r>
              <a:rPr lang="en-US"/>
              <a:t>This work doesn’t end with the prototype gadgets we built. The next step is formalizing the research, reflecting on the tooling that enabled it, </a:t>
            </a:r>
            <a:endParaRPr/>
          </a:p>
          <a:p>
            <a:pPr indent="0" lvl="0" marL="0" marR="381000" rtl="0" algn="l">
              <a:lnSpc>
                <a:spcPct val="200000"/>
              </a:lnSpc>
              <a:spcBef>
                <a:spcPts val="1200"/>
              </a:spcBef>
              <a:spcAft>
                <a:spcPts val="0"/>
              </a:spcAft>
              <a:buNone/>
            </a:pPr>
            <a:r>
              <a:rPr lang="en-US"/>
              <a:t>and exploring how LLMs could help scale weird-machine discovery across cyber physical systems such as our Wind Energy Testbed.</a:t>
            </a:r>
            <a:endParaRPr/>
          </a:p>
          <a:p>
            <a:pPr indent="0" lvl="0" marL="0" rtl="0" algn="l">
              <a:spcBef>
                <a:spcPts val="1200"/>
              </a:spcBef>
              <a:spcAft>
                <a:spcPts val="0"/>
              </a:spcAft>
              <a:buNone/>
            </a:pPr>
            <a:r>
              <a:t/>
            </a:r>
            <a:endParaRPr/>
          </a:p>
        </p:txBody>
      </p:sp>
      <p:sp>
        <p:nvSpPr>
          <p:cNvPr id="239" name="Google Shape;239;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A consortium LLM is essentially a team of specialized models plus a reasoning “conductor” that turns many opinions into one justified decision.​</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Instead of relying on a single large language model to make important decisions, we can build a consortium: several smaller, specialized models that each look at the same input from a slightly different perspective. This ensemble mimics a team of experts in a case conference, where diversity of views leads to better, more reliable answers than any one expert working alone.​</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Each member of the consortium starts as a general‑purpose model, but then gets fine‑tuned on domain‑specific data and task‑specific output formats. In our case this is fine tuning the models on identifying weird gadgets based on system architecture documentation and descriptions. This is just like we did manually for our wind energy test bed. That fine‑tuning is what teaches a model to speak the local language of the domain.​</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On top of these models sits a reasoning LLM that acts as the orchestrator. It receives the individual outputs, compares them, detects agreement and disagreement, and then applies explicit step‑by‑step deliberation to synthesize a final answer with an accompanying rationale.​</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This reasoner is critical for three reasons. First, it turns raw diversity into structured consensus, improving accuracy and robustness over simple voting or averaging. Second, it makes the process more transparent: because it sees all intermediate outputs, it can explain why a particular conclusion was chosen and when the ensemble is uncertain. Third, it enables escalating to a human when disagreement stays high.​</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Detecting weird machine gadgets from architecture documentation and description decisions into structured outputs efficiently requires a consortium with targeted fine‑tuning and an explicit reasoning layer. These capabilities deliver more reliable, interpretable, and domain‑aligned results than a single monolithic model.</a:t>
            </a:r>
            <a:endParaRPr sz="1200">
              <a:solidFill>
                <a:schemeClr val="dk1"/>
              </a:solidFill>
              <a:latin typeface="Roboto"/>
              <a:ea typeface="Roboto"/>
              <a:cs typeface="Roboto"/>
              <a:sym typeface="Roboto"/>
            </a:endParaRPr>
          </a:p>
          <a:p>
            <a:pPr indent="0" lvl="0" marL="0" rtl="0" algn="l">
              <a:spcBef>
                <a:spcPts val="0"/>
              </a:spcBef>
              <a:spcAft>
                <a:spcPts val="0"/>
              </a:spcAft>
              <a:buNone/>
            </a:pPr>
            <a:r>
              <a:t/>
            </a:r>
            <a:endParaRPr sz="1200">
              <a:solidFill>
                <a:schemeClr val="dk1"/>
              </a:solidFill>
              <a:latin typeface="Roboto"/>
              <a:ea typeface="Roboto"/>
              <a:cs typeface="Roboto"/>
              <a:sym typeface="Roboto"/>
            </a:endParaRPr>
          </a:p>
        </p:txBody>
      </p:sp>
      <p:sp>
        <p:nvSpPr>
          <p:cNvPr id="245" name="Google Shape;245;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 name="Shape 12"/>
        <p:cNvGrpSpPr/>
        <p:nvPr/>
      </p:nvGrpSpPr>
      <p:grpSpPr>
        <a:xfrm>
          <a:off x="0" y="0"/>
          <a:ext cx="0" cy="0"/>
          <a:chOff x="0" y="0"/>
          <a:chExt cx="0" cy="0"/>
        </a:xfrm>
      </p:grpSpPr>
      <p:sp>
        <p:nvSpPr>
          <p:cNvPr id="13" name="Google Shape;13;p17"/>
          <p:cNvSpPr/>
          <p:nvPr/>
        </p:nvSpPr>
        <p:spPr>
          <a:xfrm>
            <a:off x="517870" y="6209925"/>
            <a:ext cx="11155680" cy="45719"/>
          </a:xfrm>
          <a:custGeom>
            <a:rect b="b" l="l" r="r" t="t"/>
            <a:pathLst>
              <a:path extrusionOk="0" h="45719" w="8715708">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4" name="Google Shape;14;p17"/>
          <p:cNvSpPr txBox="1"/>
          <p:nvPr>
            <p:ph type="ctrTitle"/>
          </p:nvPr>
        </p:nvSpPr>
        <p:spPr>
          <a:xfrm>
            <a:off x="521208" y="978408"/>
            <a:ext cx="11155680" cy="342900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lt1"/>
              </a:buClr>
              <a:buSzPts val="7200"/>
              <a:buFont typeface="Arial"/>
              <a:buNone/>
              <a:defRPr sz="7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17"/>
          <p:cNvSpPr txBox="1"/>
          <p:nvPr>
            <p:ph idx="1" type="subTitle"/>
          </p:nvPr>
        </p:nvSpPr>
        <p:spPr>
          <a:xfrm>
            <a:off x="521208" y="4480560"/>
            <a:ext cx="7104888" cy="1399032"/>
          </a:xfrm>
          <a:prstGeom prst="rect">
            <a:avLst/>
          </a:prstGeom>
          <a:noFill/>
          <a:ln>
            <a:noFill/>
          </a:ln>
        </p:spPr>
        <p:txBody>
          <a:bodyPr anchorCtr="0" anchor="b" bIns="45700" lIns="91425" spcFirstLastPara="1" rIns="91425" wrap="square" tIns="45700">
            <a:normAutofit/>
          </a:bodyPr>
          <a:lstStyle>
            <a:lvl1pPr lvl="0" algn="l">
              <a:lnSpc>
                <a:spcPct val="110000"/>
              </a:lnSpc>
              <a:spcBef>
                <a:spcPts val="1000"/>
              </a:spcBef>
              <a:spcAft>
                <a:spcPts val="0"/>
              </a:spcAft>
              <a:buClr>
                <a:schemeClr val="lt1"/>
              </a:buClr>
              <a:buSzPts val="2200"/>
              <a:buNone/>
              <a:defRPr i="1" sz="2200"/>
            </a:lvl1pPr>
            <a:lvl2pPr lvl="1" algn="ctr">
              <a:lnSpc>
                <a:spcPct val="110000"/>
              </a:lnSpc>
              <a:spcBef>
                <a:spcPts val="500"/>
              </a:spcBef>
              <a:spcAft>
                <a:spcPts val="0"/>
              </a:spcAft>
              <a:buClr>
                <a:schemeClr val="lt1"/>
              </a:buClr>
              <a:buSzPts val="2000"/>
              <a:buNone/>
              <a:defRPr sz="2000"/>
            </a:lvl2pPr>
            <a:lvl3pPr lvl="2" algn="ctr">
              <a:lnSpc>
                <a:spcPct val="110000"/>
              </a:lnSpc>
              <a:spcBef>
                <a:spcPts val="500"/>
              </a:spcBef>
              <a:spcAft>
                <a:spcPts val="0"/>
              </a:spcAft>
              <a:buClr>
                <a:schemeClr val="lt1"/>
              </a:buClr>
              <a:buSzPts val="1800"/>
              <a:buNone/>
              <a:defRPr sz="1800"/>
            </a:lvl3pPr>
            <a:lvl4pPr lvl="3" algn="ctr">
              <a:lnSpc>
                <a:spcPct val="110000"/>
              </a:lnSpc>
              <a:spcBef>
                <a:spcPts val="500"/>
              </a:spcBef>
              <a:spcAft>
                <a:spcPts val="0"/>
              </a:spcAft>
              <a:buClr>
                <a:schemeClr val="lt1"/>
              </a:buClr>
              <a:buSzPts val="1600"/>
              <a:buNone/>
              <a:defRPr sz="1600"/>
            </a:lvl4pPr>
            <a:lvl5pPr lvl="4" algn="ctr">
              <a:lnSpc>
                <a:spcPct val="110000"/>
              </a:lnSpc>
              <a:spcBef>
                <a:spcPts val="500"/>
              </a:spcBef>
              <a:spcAft>
                <a:spcPts val="0"/>
              </a:spcAft>
              <a:buClr>
                <a:schemeClr val="lt1"/>
              </a:buClr>
              <a:buSzPts val="1600"/>
              <a:buNone/>
              <a:defRPr sz="1600"/>
            </a:lvl5pPr>
            <a:lvl6pPr lvl="5" algn="ctr">
              <a:lnSpc>
                <a:spcPct val="90000"/>
              </a:lnSpc>
              <a:spcBef>
                <a:spcPts val="500"/>
              </a:spcBef>
              <a:spcAft>
                <a:spcPts val="0"/>
              </a:spcAft>
              <a:buClr>
                <a:schemeClr val="lt1"/>
              </a:buClr>
              <a:buSzPts val="1600"/>
              <a:buNone/>
              <a:defRPr sz="1600"/>
            </a:lvl6pPr>
            <a:lvl7pPr lvl="6" algn="ctr">
              <a:lnSpc>
                <a:spcPct val="90000"/>
              </a:lnSpc>
              <a:spcBef>
                <a:spcPts val="500"/>
              </a:spcBef>
              <a:spcAft>
                <a:spcPts val="0"/>
              </a:spcAft>
              <a:buClr>
                <a:schemeClr val="lt1"/>
              </a:buClr>
              <a:buSzPts val="1600"/>
              <a:buNone/>
              <a:defRPr sz="1600"/>
            </a:lvl7pPr>
            <a:lvl8pPr lvl="7" algn="ctr">
              <a:lnSpc>
                <a:spcPct val="90000"/>
              </a:lnSpc>
              <a:spcBef>
                <a:spcPts val="500"/>
              </a:spcBef>
              <a:spcAft>
                <a:spcPts val="0"/>
              </a:spcAft>
              <a:buClr>
                <a:schemeClr val="lt1"/>
              </a:buClr>
              <a:buSzPts val="1600"/>
              <a:buNone/>
              <a:defRPr sz="1600"/>
            </a:lvl8pPr>
            <a:lvl9pPr lvl="8" algn="ctr">
              <a:lnSpc>
                <a:spcPct val="90000"/>
              </a:lnSpc>
              <a:spcBef>
                <a:spcPts val="500"/>
              </a:spcBef>
              <a:spcAft>
                <a:spcPts val="0"/>
              </a:spcAft>
              <a:buClr>
                <a:schemeClr val="lt1"/>
              </a:buClr>
              <a:buSzPts val="1600"/>
              <a:buNone/>
              <a:defRPr sz="1600"/>
            </a:lvl9pPr>
          </a:lstStyle>
          <a:p/>
        </p:txBody>
      </p:sp>
      <p:sp>
        <p:nvSpPr>
          <p:cNvPr id="16" name="Google Shape;16;p17"/>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 name="Google Shape;17;p17"/>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17"/>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 name="Shape 26"/>
        <p:cNvGrpSpPr/>
        <p:nvPr/>
      </p:nvGrpSpPr>
      <p:grpSpPr>
        <a:xfrm>
          <a:off x="0" y="0"/>
          <a:ext cx="0" cy="0"/>
          <a:chOff x="0" y="0"/>
          <a:chExt cx="0" cy="0"/>
        </a:xfrm>
      </p:grpSpPr>
      <p:sp>
        <p:nvSpPr>
          <p:cNvPr id="27" name="Google Shape;27;p18"/>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 name="Google Shape;28;p18"/>
          <p:cNvSpPr txBox="1"/>
          <p:nvPr>
            <p:ph idx="1" type="body"/>
          </p:nvPr>
        </p:nvSpPr>
        <p:spPr>
          <a:xfrm>
            <a:off x="521208" y="2578608"/>
            <a:ext cx="11155680" cy="3767328"/>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18"/>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18"/>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8"/>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2" name="Shape 32"/>
        <p:cNvGrpSpPr/>
        <p:nvPr/>
      </p:nvGrpSpPr>
      <p:grpSpPr>
        <a:xfrm>
          <a:off x="0" y="0"/>
          <a:ext cx="0" cy="0"/>
          <a:chOff x="0" y="0"/>
          <a:chExt cx="0" cy="0"/>
        </a:xfrm>
      </p:grpSpPr>
      <p:sp>
        <p:nvSpPr>
          <p:cNvPr id="33" name="Google Shape;33;p16"/>
          <p:cNvSpPr/>
          <p:nvPr/>
        </p:nvSpPr>
        <p:spPr>
          <a:xfrm>
            <a:off x="517870" y="6209925"/>
            <a:ext cx="11155680" cy="45719"/>
          </a:xfrm>
          <a:custGeom>
            <a:rect b="b" l="l" r="r" t="t"/>
            <a:pathLst>
              <a:path extrusionOk="0" h="45719" w="8715708">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4" name="Google Shape;34;p16"/>
          <p:cNvSpPr txBox="1"/>
          <p:nvPr>
            <p:ph type="ctrTitle"/>
          </p:nvPr>
        </p:nvSpPr>
        <p:spPr>
          <a:xfrm>
            <a:off x="521208" y="978408"/>
            <a:ext cx="11155680" cy="342900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7200"/>
              <a:buFont typeface="Arial"/>
              <a:buNone/>
              <a:defRPr sz="7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6"/>
          <p:cNvSpPr txBox="1"/>
          <p:nvPr>
            <p:ph idx="1" type="subTitle"/>
          </p:nvPr>
        </p:nvSpPr>
        <p:spPr>
          <a:xfrm>
            <a:off x="521208" y="4480560"/>
            <a:ext cx="7104888" cy="1399032"/>
          </a:xfrm>
          <a:prstGeom prst="rect">
            <a:avLst/>
          </a:prstGeom>
          <a:noFill/>
          <a:ln>
            <a:noFill/>
          </a:ln>
        </p:spPr>
        <p:txBody>
          <a:bodyPr anchorCtr="0" anchor="b" bIns="45700" lIns="91425" spcFirstLastPara="1" rIns="91425" wrap="square" tIns="45700">
            <a:normAutofit/>
          </a:bodyPr>
          <a:lstStyle>
            <a:lvl1pPr lvl="0" algn="l">
              <a:lnSpc>
                <a:spcPct val="110000"/>
              </a:lnSpc>
              <a:spcBef>
                <a:spcPts val="1000"/>
              </a:spcBef>
              <a:spcAft>
                <a:spcPts val="0"/>
              </a:spcAft>
              <a:buClr>
                <a:schemeClr val="dk1"/>
              </a:buClr>
              <a:buSzPts val="2200"/>
              <a:buNone/>
              <a:defRPr i="1" sz="2200"/>
            </a:lvl1pPr>
            <a:lvl2pPr lvl="1" algn="ctr">
              <a:lnSpc>
                <a:spcPct val="110000"/>
              </a:lnSpc>
              <a:spcBef>
                <a:spcPts val="500"/>
              </a:spcBef>
              <a:spcAft>
                <a:spcPts val="0"/>
              </a:spcAft>
              <a:buClr>
                <a:schemeClr val="dk1"/>
              </a:buClr>
              <a:buSzPts val="2000"/>
              <a:buNone/>
              <a:defRPr sz="2000"/>
            </a:lvl2pPr>
            <a:lvl3pPr lvl="2" algn="ctr">
              <a:lnSpc>
                <a:spcPct val="110000"/>
              </a:lnSpc>
              <a:spcBef>
                <a:spcPts val="500"/>
              </a:spcBef>
              <a:spcAft>
                <a:spcPts val="0"/>
              </a:spcAft>
              <a:buClr>
                <a:schemeClr val="dk1"/>
              </a:buClr>
              <a:buSzPts val="1800"/>
              <a:buNone/>
              <a:defRPr sz="1800"/>
            </a:lvl3pPr>
            <a:lvl4pPr lvl="3" algn="ctr">
              <a:lnSpc>
                <a:spcPct val="110000"/>
              </a:lnSpc>
              <a:spcBef>
                <a:spcPts val="500"/>
              </a:spcBef>
              <a:spcAft>
                <a:spcPts val="0"/>
              </a:spcAft>
              <a:buClr>
                <a:schemeClr val="dk1"/>
              </a:buClr>
              <a:buSzPts val="1600"/>
              <a:buNone/>
              <a:defRPr sz="1600"/>
            </a:lvl4pPr>
            <a:lvl5pPr lvl="4" algn="ctr">
              <a:lnSpc>
                <a:spcPct val="11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6" name="Google Shape;36;p16"/>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16"/>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6"/>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9" name="Shape 39"/>
        <p:cNvGrpSpPr/>
        <p:nvPr/>
      </p:nvGrpSpPr>
      <p:grpSpPr>
        <a:xfrm>
          <a:off x="0" y="0"/>
          <a:ext cx="0" cy="0"/>
          <a:chOff x="0" y="0"/>
          <a:chExt cx="0" cy="0"/>
        </a:xfrm>
      </p:grpSpPr>
      <p:sp>
        <p:nvSpPr>
          <p:cNvPr id="40" name="Google Shape;40;p19"/>
          <p:cNvSpPr txBox="1"/>
          <p:nvPr>
            <p:ph type="title"/>
          </p:nvPr>
        </p:nvSpPr>
        <p:spPr>
          <a:xfrm>
            <a:off x="521208" y="978408"/>
            <a:ext cx="5020056" cy="4288536"/>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5400"/>
              <a:buFont typeface="Arial"/>
              <a:buNone/>
              <a:defRPr sz="5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 name="Google Shape;41;p19"/>
          <p:cNvSpPr txBox="1"/>
          <p:nvPr>
            <p:ph idx="1" type="body"/>
          </p:nvPr>
        </p:nvSpPr>
        <p:spPr>
          <a:xfrm>
            <a:off x="521208" y="5266944"/>
            <a:ext cx="5020056" cy="1088136"/>
          </a:xfrm>
          <a:prstGeom prst="rect">
            <a:avLst/>
          </a:prstGeom>
          <a:noFill/>
          <a:ln>
            <a:noFill/>
          </a:ln>
        </p:spPr>
        <p:txBody>
          <a:bodyPr anchorCtr="0" anchor="b" bIns="45700" lIns="91425" spcFirstLastPara="1" rIns="91425" wrap="square" tIns="45700">
            <a:normAutofit/>
          </a:bodyPr>
          <a:lstStyle>
            <a:lvl1pPr indent="-228600" lvl="0" marL="457200" algn="l">
              <a:lnSpc>
                <a:spcPct val="110000"/>
              </a:lnSpc>
              <a:spcBef>
                <a:spcPts val="1000"/>
              </a:spcBef>
              <a:spcAft>
                <a:spcPts val="0"/>
              </a:spcAft>
              <a:buClr>
                <a:srgbClr val="757575"/>
              </a:buClr>
              <a:buSzPts val="2200"/>
              <a:buNone/>
              <a:defRPr i="1" sz="2200">
                <a:solidFill>
                  <a:srgbClr val="757575"/>
                </a:solidFill>
              </a:defRPr>
            </a:lvl1pPr>
            <a:lvl2pPr indent="-228600" lvl="1" marL="914400" algn="l">
              <a:lnSpc>
                <a:spcPct val="110000"/>
              </a:lnSpc>
              <a:spcBef>
                <a:spcPts val="500"/>
              </a:spcBef>
              <a:spcAft>
                <a:spcPts val="0"/>
              </a:spcAft>
              <a:buClr>
                <a:srgbClr val="757575"/>
              </a:buClr>
              <a:buSzPts val="2000"/>
              <a:buNone/>
              <a:defRPr sz="2000">
                <a:solidFill>
                  <a:srgbClr val="757575"/>
                </a:solidFill>
              </a:defRPr>
            </a:lvl2pPr>
            <a:lvl3pPr indent="-228600" lvl="2" marL="1371600" algn="l">
              <a:lnSpc>
                <a:spcPct val="110000"/>
              </a:lnSpc>
              <a:spcBef>
                <a:spcPts val="500"/>
              </a:spcBef>
              <a:spcAft>
                <a:spcPts val="0"/>
              </a:spcAft>
              <a:buClr>
                <a:srgbClr val="757575"/>
              </a:buClr>
              <a:buSzPts val="1800"/>
              <a:buNone/>
              <a:defRPr sz="1800">
                <a:solidFill>
                  <a:srgbClr val="757575"/>
                </a:solidFill>
              </a:defRPr>
            </a:lvl3pPr>
            <a:lvl4pPr indent="-228600" lvl="3" marL="1828800" algn="l">
              <a:lnSpc>
                <a:spcPct val="110000"/>
              </a:lnSpc>
              <a:spcBef>
                <a:spcPts val="500"/>
              </a:spcBef>
              <a:spcAft>
                <a:spcPts val="0"/>
              </a:spcAft>
              <a:buClr>
                <a:srgbClr val="757575"/>
              </a:buClr>
              <a:buSzPts val="1600"/>
              <a:buNone/>
              <a:defRPr sz="1600">
                <a:solidFill>
                  <a:srgbClr val="757575"/>
                </a:solidFill>
              </a:defRPr>
            </a:lvl4pPr>
            <a:lvl5pPr indent="-228600" lvl="4" marL="2286000" algn="l">
              <a:lnSpc>
                <a:spcPct val="11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42" name="Google Shape;42;p19"/>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19"/>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19"/>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45" name="Google Shape;45;p19"/>
          <p:cNvSpPr/>
          <p:nvPr/>
        </p:nvSpPr>
        <p:spPr>
          <a:xfrm>
            <a:off x="517870" y="508090"/>
            <a:ext cx="5021183" cy="149279"/>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6" name="Shape 46"/>
        <p:cNvGrpSpPr/>
        <p:nvPr/>
      </p:nvGrpSpPr>
      <p:grpSpPr>
        <a:xfrm>
          <a:off x="0" y="0"/>
          <a:ext cx="0" cy="0"/>
          <a:chOff x="0" y="0"/>
          <a:chExt cx="0" cy="0"/>
        </a:xfrm>
      </p:grpSpPr>
      <p:sp>
        <p:nvSpPr>
          <p:cNvPr id="47" name="Google Shape;47;p20"/>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8" name="Google Shape;48;p20"/>
          <p:cNvSpPr txBox="1"/>
          <p:nvPr>
            <p:ph idx="1" type="body"/>
          </p:nvPr>
        </p:nvSpPr>
        <p:spPr>
          <a:xfrm>
            <a:off x="521208" y="2578608"/>
            <a:ext cx="5166360" cy="3767328"/>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 name="Google Shape;49;p20"/>
          <p:cNvSpPr txBox="1"/>
          <p:nvPr>
            <p:ph idx="2" type="body"/>
          </p:nvPr>
        </p:nvSpPr>
        <p:spPr>
          <a:xfrm>
            <a:off x="6519672" y="2578608"/>
            <a:ext cx="5166360" cy="3767328"/>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0" name="Google Shape;50;p20"/>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20"/>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0"/>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3" name="Shape 53"/>
        <p:cNvGrpSpPr/>
        <p:nvPr/>
      </p:nvGrpSpPr>
      <p:grpSpPr>
        <a:xfrm>
          <a:off x="0" y="0"/>
          <a:ext cx="0" cy="0"/>
          <a:chOff x="0" y="0"/>
          <a:chExt cx="0" cy="0"/>
        </a:xfrm>
      </p:grpSpPr>
      <p:sp>
        <p:nvSpPr>
          <p:cNvPr id="54" name="Google Shape;54;p21"/>
          <p:cNvSpPr txBox="1"/>
          <p:nvPr>
            <p:ph type="title"/>
          </p:nvPr>
        </p:nvSpPr>
        <p:spPr>
          <a:xfrm>
            <a:off x="521208" y="978408"/>
            <a:ext cx="11164824" cy="1216152"/>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 name="Google Shape;55;p21"/>
          <p:cNvSpPr txBox="1"/>
          <p:nvPr>
            <p:ph idx="1" type="body"/>
          </p:nvPr>
        </p:nvSpPr>
        <p:spPr>
          <a:xfrm>
            <a:off x="521208" y="2340864"/>
            <a:ext cx="5166360" cy="658368"/>
          </a:xfrm>
          <a:prstGeom prst="rect">
            <a:avLst/>
          </a:prstGeom>
          <a:noFill/>
          <a:ln>
            <a:noFill/>
          </a:ln>
        </p:spPr>
        <p:txBody>
          <a:bodyPr anchorCtr="0" anchor="b"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2200"/>
              <a:buNone/>
              <a:defRPr b="0" i="1" sz="2200"/>
            </a:lvl1pPr>
            <a:lvl2pPr indent="-228600" lvl="1" marL="914400" algn="l">
              <a:lnSpc>
                <a:spcPct val="110000"/>
              </a:lnSpc>
              <a:spcBef>
                <a:spcPts val="500"/>
              </a:spcBef>
              <a:spcAft>
                <a:spcPts val="0"/>
              </a:spcAft>
              <a:buClr>
                <a:schemeClr val="dk1"/>
              </a:buClr>
              <a:buSzPts val="2000"/>
              <a:buNone/>
              <a:defRPr b="1" sz="2000"/>
            </a:lvl2pPr>
            <a:lvl3pPr indent="-228600" lvl="2" marL="1371600" algn="l">
              <a:lnSpc>
                <a:spcPct val="110000"/>
              </a:lnSpc>
              <a:spcBef>
                <a:spcPts val="500"/>
              </a:spcBef>
              <a:spcAft>
                <a:spcPts val="0"/>
              </a:spcAft>
              <a:buClr>
                <a:schemeClr val="dk1"/>
              </a:buClr>
              <a:buSzPts val="1800"/>
              <a:buNone/>
              <a:defRPr b="1" sz="1800"/>
            </a:lvl3pPr>
            <a:lvl4pPr indent="-228600" lvl="3" marL="1828800" algn="l">
              <a:lnSpc>
                <a:spcPct val="110000"/>
              </a:lnSpc>
              <a:spcBef>
                <a:spcPts val="500"/>
              </a:spcBef>
              <a:spcAft>
                <a:spcPts val="0"/>
              </a:spcAft>
              <a:buClr>
                <a:schemeClr val="dk1"/>
              </a:buClr>
              <a:buSzPts val="1600"/>
              <a:buNone/>
              <a:defRPr b="1" sz="1600"/>
            </a:lvl4pPr>
            <a:lvl5pPr indent="-228600" lvl="4" marL="2286000" algn="l">
              <a:lnSpc>
                <a:spcPct val="11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6" name="Google Shape;56;p21"/>
          <p:cNvSpPr txBox="1"/>
          <p:nvPr>
            <p:ph idx="2" type="body"/>
          </p:nvPr>
        </p:nvSpPr>
        <p:spPr>
          <a:xfrm>
            <a:off x="521208" y="3035808"/>
            <a:ext cx="5166360" cy="3310128"/>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7" name="Google Shape;57;p21"/>
          <p:cNvSpPr txBox="1"/>
          <p:nvPr>
            <p:ph idx="3" type="body"/>
          </p:nvPr>
        </p:nvSpPr>
        <p:spPr>
          <a:xfrm>
            <a:off x="6519672" y="2340864"/>
            <a:ext cx="5166360" cy="658368"/>
          </a:xfrm>
          <a:prstGeom prst="rect">
            <a:avLst/>
          </a:prstGeom>
          <a:noFill/>
          <a:ln>
            <a:noFill/>
          </a:ln>
        </p:spPr>
        <p:txBody>
          <a:bodyPr anchorCtr="0" anchor="b"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2200"/>
              <a:buNone/>
              <a:defRPr b="0" i="1" sz="2200"/>
            </a:lvl1pPr>
            <a:lvl2pPr indent="-228600" lvl="1" marL="914400" algn="l">
              <a:lnSpc>
                <a:spcPct val="110000"/>
              </a:lnSpc>
              <a:spcBef>
                <a:spcPts val="500"/>
              </a:spcBef>
              <a:spcAft>
                <a:spcPts val="0"/>
              </a:spcAft>
              <a:buClr>
                <a:schemeClr val="dk1"/>
              </a:buClr>
              <a:buSzPts val="2000"/>
              <a:buNone/>
              <a:defRPr b="1" sz="2000"/>
            </a:lvl2pPr>
            <a:lvl3pPr indent="-228600" lvl="2" marL="1371600" algn="l">
              <a:lnSpc>
                <a:spcPct val="110000"/>
              </a:lnSpc>
              <a:spcBef>
                <a:spcPts val="500"/>
              </a:spcBef>
              <a:spcAft>
                <a:spcPts val="0"/>
              </a:spcAft>
              <a:buClr>
                <a:schemeClr val="dk1"/>
              </a:buClr>
              <a:buSzPts val="1800"/>
              <a:buNone/>
              <a:defRPr b="1" sz="1800"/>
            </a:lvl3pPr>
            <a:lvl4pPr indent="-228600" lvl="3" marL="1828800" algn="l">
              <a:lnSpc>
                <a:spcPct val="110000"/>
              </a:lnSpc>
              <a:spcBef>
                <a:spcPts val="500"/>
              </a:spcBef>
              <a:spcAft>
                <a:spcPts val="0"/>
              </a:spcAft>
              <a:buClr>
                <a:schemeClr val="dk1"/>
              </a:buClr>
              <a:buSzPts val="1600"/>
              <a:buNone/>
              <a:defRPr b="1" sz="1600"/>
            </a:lvl4pPr>
            <a:lvl5pPr indent="-228600" lvl="4" marL="2286000" algn="l">
              <a:lnSpc>
                <a:spcPct val="11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8" name="Google Shape;58;p21"/>
          <p:cNvSpPr txBox="1"/>
          <p:nvPr>
            <p:ph idx="4" type="body"/>
          </p:nvPr>
        </p:nvSpPr>
        <p:spPr>
          <a:xfrm>
            <a:off x="6519672" y="3035808"/>
            <a:ext cx="5166360" cy="3310128"/>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9" name="Google Shape;59;p21"/>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1"/>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21"/>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2" name="Shape 62"/>
        <p:cNvGrpSpPr/>
        <p:nvPr/>
      </p:nvGrpSpPr>
      <p:grpSpPr>
        <a:xfrm>
          <a:off x="0" y="0"/>
          <a:ext cx="0" cy="0"/>
          <a:chOff x="0" y="0"/>
          <a:chExt cx="0" cy="0"/>
        </a:xfrm>
      </p:grpSpPr>
      <p:sp>
        <p:nvSpPr>
          <p:cNvPr id="63" name="Google Shape;63;p22"/>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22"/>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2"/>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2"/>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67" name="Shape 67"/>
        <p:cNvGrpSpPr/>
        <p:nvPr/>
      </p:nvGrpSpPr>
      <p:grpSpPr>
        <a:xfrm>
          <a:off x="0" y="0"/>
          <a:ext cx="0" cy="0"/>
          <a:chOff x="0" y="0"/>
          <a:chExt cx="0" cy="0"/>
        </a:xfrm>
      </p:grpSpPr>
      <p:sp>
        <p:nvSpPr>
          <p:cNvPr id="68" name="Google Shape;68;p23"/>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23"/>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23"/>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71" name="Shape 71"/>
        <p:cNvGrpSpPr/>
        <p:nvPr/>
      </p:nvGrpSpPr>
      <p:grpSpPr>
        <a:xfrm>
          <a:off x="0" y="0"/>
          <a:ext cx="0" cy="0"/>
          <a:chOff x="0" y="0"/>
          <a:chExt cx="0" cy="0"/>
        </a:xfrm>
      </p:grpSpPr>
      <p:sp>
        <p:nvSpPr>
          <p:cNvPr id="72" name="Google Shape;72;p24"/>
          <p:cNvSpPr txBox="1"/>
          <p:nvPr>
            <p:ph type="title"/>
          </p:nvPr>
        </p:nvSpPr>
        <p:spPr>
          <a:xfrm>
            <a:off x="521208" y="978408"/>
            <a:ext cx="5020056" cy="2459736"/>
          </a:xfrm>
          <a:prstGeom prst="rect">
            <a:avLst/>
          </a:prstGeom>
          <a:noFill/>
          <a:ln>
            <a:noFill/>
          </a:ln>
        </p:spPr>
        <p:txBody>
          <a:bodyPr anchorCtr="0" anchor="t" bIns="45700" lIns="91425" spcFirstLastPara="1" rIns="91425" wrap="square" tIns="45700">
            <a:noAutofit/>
          </a:bodyPr>
          <a:lstStyle>
            <a:lvl1pPr lvl="0" algn="l">
              <a:lnSpc>
                <a:spcPct val="100000"/>
              </a:lnSpc>
              <a:spcBef>
                <a:spcPts val="0"/>
              </a:spcBef>
              <a:spcAft>
                <a:spcPts val="0"/>
              </a:spcAft>
              <a:buClr>
                <a:schemeClr val="dk1"/>
              </a:buClr>
              <a:buSzPts val="4400"/>
              <a:buFont typeface="Arial"/>
              <a:buNone/>
              <a:defRPr sz="4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24"/>
          <p:cNvSpPr txBox="1"/>
          <p:nvPr>
            <p:ph idx="1" type="body"/>
          </p:nvPr>
        </p:nvSpPr>
        <p:spPr>
          <a:xfrm>
            <a:off x="6519672" y="987424"/>
            <a:ext cx="5166360" cy="5358384"/>
          </a:xfrm>
          <a:prstGeom prst="rect">
            <a:avLst/>
          </a:prstGeom>
          <a:noFill/>
          <a:ln>
            <a:noFill/>
          </a:ln>
        </p:spPr>
        <p:txBody>
          <a:bodyPr anchorCtr="0" anchor="t" bIns="45700" lIns="91425" spcFirstLastPara="1" rIns="91425" wrap="square" tIns="45700">
            <a:normAutofit/>
          </a:bodyPr>
          <a:lstStyle>
            <a:lvl1pPr indent="-355600" lvl="0" marL="457200" algn="l">
              <a:lnSpc>
                <a:spcPct val="110000"/>
              </a:lnSpc>
              <a:spcBef>
                <a:spcPts val="1000"/>
              </a:spcBef>
              <a:spcAft>
                <a:spcPts val="0"/>
              </a:spcAft>
              <a:buClr>
                <a:schemeClr val="dk1"/>
              </a:buClr>
              <a:buSzPts val="2000"/>
              <a:buChar char="•"/>
              <a:defRPr sz="2000"/>
            </a:lvl1pPr>
            <a:lvl2pPr indent="-342900" lvl="1" marL="914400" algn="l">
              <a:lnSpc>
                <a:spcPct val="110000"/>
              </a:lnSpc>
              <a:spcBef>
                <a:spcPts val="500"/>
              </a:spcBef>
              <a:spcAft>
                <a:spcPts val="0"/>
              </a:spcAft>
              <a:buClr>
                <a:schemeClr val="dk1"/>
              </a:buClr>
              <a:buSzPts val="1800"/>
              <a:buChar char="•"/>
              <a:defRPr sz="1800"/>
            </a:lvl2pPr>
            <a:lvl3pPr indent="-330200" lvl="2" marL="1371600" algn="l">
              <a:lnSpc>
                <a:spcPct val="110000"/>
              </a:lnSpc>
              <a:spcBef>
                <a:spcPts val="500"/>
              </a:spcBef>
              <a:spcAft>
                <a:spcPts val="0"/>
              </a:spcAft>
              <a:buClr>
                <a:schemeClr val="dk1"/>
              </a:buClr>
              <a:buSzPts val="1600"/>
              <a:buChar char="•"/>
              <a:defRPr sz="1600"/>
            </a:lvl3pPr>
            <a:lvl4pPr indent="-317500" lvl="3" marL="1828800" algn="l">
              <a:lnSpc>
                <a:spcPct val="110000"/>
              </a:lnSpc>
              <a:spcBef>
                <a:spcPts val="500"/>
              </a:spcBef>
              <a:spcAft>
                <a:spcPts val="0"/>
              </a:spcAft>
              <a:buClr>
                <a:schemeClr val="dk1"/>
              </a:buClr>
              <a:buSzPts val="1400"/>
              <a:buChar char="•"/>
              <a:defRPr sz="1400"/>
            </a:lvl4pPr>
            <a:lvl5pPr indent="-317500" lvl="4" marL="2286000" algn="l">
              <a:lnSpc>
                <a:spcPct val="110000"/>
              </a:lnSpc>
              <a:spcBef>
                <a:spcPts val="500"/>
              </a:spcBef>
              <a:spcAft>
                <a:spcPts val="0"/>
              </a:spcAft>
              <a:buClr>
                <a:schemeClr val="dk1"/>
              </a:buClr>
              <a:buSzPts val="1400"/>
              <a:buChar char="•"/>
              <a:defRPr sz="14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74" name="Google Shape;74;p24"/>
          <p:cNvSpPr txBox="1"/>
          <p:nvPr>
            <p:ph idx="2" type="body"/>
          </p:nvPr>
        </p:nvSpPr>
        <p:spPr>
          <a:xfrm>
            <a:off x="521208" y="3575304"/>
            <a:ext cx="5020056" cy="2770632"/>
          </a:xfrm>
          <a:prstGeom prst="rect">
            <a:avLst/>
          </a:prstGeom>
          <a:noFill/>
          <a:ln>
            <a:noFill/>
          </a:ln>
        </p:spPr>
        <p:txBody>
          <a:bodyPr anchorCtr="0" anchor="t"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2200"/>
              <a:buNone/>
              <a:defRPr i="1" sz="2200"/>
            </a:lvl1pPr>
            <a:lvl2pPr indent="-228600" lvl="1" marL="914400" algn="l">
              <a:lnSpc>
                <a:spcPct val="110000"/>
              </a:lnSpc>
              <a:spcBef>
                <a:spcPts val="500"/>
              </a:spcBef>
              <a:spcAft>
                <a:spcPts val="0"/>
              </a:spcAft>
              <a:buClr>
                <a:schemeClr val="dk1"/>
              </a:buClr>
              <a:buSzPts val="1400"/>
              <a:buNone/>
              <a:defRPr sz="1400"/>
            </a:lvl2pPr>
            <a:lvl3pPr indent="-228600" lvl="2" marL="1371600" algn="l">
              <a:lnSpc>
                <a:spcPct val="110000"/>
              </a:lnSpc>
              <a:spcBef>
                <a:spcPts val="500"/>
              </a:spcBef>
              <a:spcAft>
                <a:spcPts val="0"/>
              </a:spcAft>
              <a:buClr>
                <a:schemeClr val="dk1"/>
              </a:buClr>
              <a:buSzPts val="1200"/>
              <a:buNone/>
              <a:defRPr sz="1200"/>
            </a:lvl3pPr>
            <a:lvl4pPr indent="-228600" lvl="3" marL="1828800" algn="l">
              <a:lnSpc>
                <a:spcPct val="110000"/>
              </a:lnSpc>
              <a:spcBef>
                <a:spcPts val="500"/>
              </a:spcBef>
              <a:spcAft>
                <a:spcPts val="0"/>
              </a:spcAft>
              <a:buClr>
                <a:schemeClr val="dk1"/>
              </a:buClr>
              <a:buSzPts val="1000"/>
              <a:buNone/>
              <a:defRPr sz="1000"/>
            </a:lvl4pPr>
            <a:lvl5pPr indent="-228600" lvl="4" marL="2286000" algn="l">
              <a:lnSpc>
                <a:spcPct val="11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5" name="Google Shape;75;p24"/>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24"/>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4"/>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8" name="Shape 78"/>
        <p:cNvGrpSpPr/>
        <p:nvPr/>
      </p:nvGrpSpPr>
      <p:grpSpPr>
        <a:xfrm>
          <a:off x="0" y="0"/>
          <a:ext cx="0" cy="0"/>
          <a:chOff x="0" y="0"/>
          <a:chExt cx="0" cy="0"/>
        </a:xfrm>
      </p:grpSpPr>
      <p:sp>
        <p:nvSpPr>
          <p:cNvPr id="79" name="Google Shape;79;p25"/>
          <p:cNvSpPr txBox="1"/>
          <p:nvPr>
            <p:ph type="title"/>
          </p:nvPr>
        </p:nvSpPr>
        <p:spPr>
          <a:xfrm>
            <a:off x="521208" y="978408"/>
            <a:ext cx="5020056" cy="2459736"/>
          </a:xfrm>
          <a:prstGeom prst="rect">
            <a:avLst/>
          </a:prstGeom>
          <a:noFill/>
          <a:ln>
            <a:noFill/>
          </a:ln>
        </p:spPr>
        <p:txBody>
          <a:bodyPr anchorCtr="0" anchor="t" bIns="45700" lIns="91425" spcFirstLastPara="1" rIns="91425" wrap="square" tIns="45700">
            <a:noAutofit/>
          </a:bodyPr>
          <a:lstStyle>
            <a:lvl1pPr lvl="0" algn="l">
              <a:lnSpc>
                <a:spcPct val="100000"/>
              </a:lnSpc>
              <a:spcBef>
                <a:spcPts val="0"/>
              </a:spcBef>
              <a:spcAft>
                <a:spcPts val="0"/>
              </a:spcAft>
              <a:buClr>
                <a:schemeClr val="dk1"/>
              </a:buClr>
              <a:buSzPts val="4400"/>
              <a:buFont typeface="Arial"/>
              <a:buNone/>
              <a:defRPr sz="4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25"/>
          <p:cNvSpPr/>
          <p:nvPr>
            <p:ph idx="2" type="pic"/>
          </p:nvPr>
        </p:nvSpPr>
        <p:spPr>
          <a:xfrm>
            <a:off x="6519672" y="987424"/>
            <a:ext cx="5166360" cy="5358384"/>
          </a:xfrm>
          <a:prstGeom prst="rect">
            <a:avLst/>
          </a:prstGeom>
          <a:noFill/>
          <a:ln>
            <a:noFill/>
          </a:ln>
        </p:spPr>
      </p:sp>
      <p:sp>
        <p:nvSpPr>
          <p:cNvPr id="81" name="Google Shape;81;p25"/>
          <p:cNvSpPr txBox="1"/>
          <p:nvPr>
            <p:ph idx="1" type="body"/>
          </p:nvPr>
        </p:nvSpPr>
        <p:spPr>
          <a:xfrm>
            <a:off x="521208" y="3575304"/>
            <a:ext cx="5020056" cy="2770632"/>
          </a:xfrm>
          <a:prstGeom prst="rect">
            <a:avLst/>
          </a:prstGeom>
          <a:noFill/>
          <a:ln>
            <a:noFill/>
          </a:ln>
        </p:spPr>
        <p:txBody>
          <a:bodyPr anchorCtr="0" anchor="t"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2200"/>
              <a:buNone/>
              <a:defRPr i="1" sz="2200"/>
            </a:lvl1pPr>
            <a:lvl2pPr indent="-228600" lvl="1" marL="914400" algn="l">
              <a:lnSpc>
                <a:spcPct val="110000"/>
              </a:lnSpc>
              <a:spcBef>
                <a:spcPts val="500"/>
              </a:spcBef>
              <a:spcAft>
                <a:spcPts val="0"/>
              </a:spcAft>
              <a:buClr>
                <a:schemeClr val="dk1"/>
              </a:buClr>
              <a:buSzPts val="1400"/>
              <a:buNone/>
              <a:defRPr sz="1400"/>
            </a:lvl2pPr>
            <a:lvl3pPr indent="-228600" lvl="2" marL="1371600" algn="l">
              <a:lnSpc>
                <a:spcPct val="110000"/>
              </a:lnSpc>
              <a:spcBef>
                <a:spcPts val="500"/>
              </a:spcBef>
              <a:spcAft>
                <a:spcPts val="0"/>
              </a:spcAft>
              <a:buClr>
                <a:schemeClr val="dk1"/>
              </a:buClr>
              <a:buSzPts val="1200"/>
              <a:buNone/>
              <a:defRPr sz="1200"/>
            </a:lvl3pPr>
            <a:lvl4pPr indent="-228600" lvl="3" marL="1828800" algn="l">
              <a:lnSpc>
                <a:spcPct val="110000"/>
              </a:lnSpc>
              <a:spcBef>
                <a:spcPts val="500"/>
              </a:spcBef>
              <a:spcAft>
                <a:spcPts val="0"/>
              </a:spcAft>
              <a:buClr>
                <a:schemeClr val="dk1"/>
              </a:buClr>
              <a:buSzPts val="1000"/>
              <a:buNone/>
              <a:defRPr sz="1000"/>
            </a:lvl4pPr>
            <a:lvl5pPr indent="-228600" lvl="4" marL="2286000" algn="l">
              <a:lnSpc>
                <a:spcPct val="11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82" name="Google Shape;82;p25"/>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5"/>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25"/>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5" name="Shape 85"/>
        <p:cNvGrpSpPr/>
        <p:nvPr/>
      </p:nvGrpSpPr>
      <p:grpSpPr>
        <a:xfrm>
          <a:off x="0" y="0"/>
          <a:ext cx="0" cy="0"/>
          <a:chOff x="0" y="0"/>
          <a:chExt cx="0" cy="0"/>
        </a:xfrm>
      </p:grpSpPr>
      <p:sp>
        <p:nvSpPr>
          <p:cNvPr id="86" name="Google Shape;86;p26"/>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26"/>
          <p:cNvSpPr txBox="1"/>
          <p:nvPr>
            <p:ph idx="1" type="body"/>
          </p:nvPr>
        </p:nvSpPr>
        <p:spPr>
          <a:xfrm rot="5400000">
            <a:off x="4215384" y="-1115568"/>
            <a:ext cx="3767328" cy="11155680"/>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8" name="Google Shape;88;p26"/>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26"/>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0" name="Google Shape;90;p26"/>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91" name="Shape 91"/>
        <p:cNvGrpSpPr/>
        <p:nvPr/>
      </p:nvGrpSpPr>
      <p:grpSpPr>
        <a:xfrm>
          <a:off x="0" y="0"/>
          <a:ext cx="0" cy="0"/>
          <a:chOff x="0" y="0"/>
          <a:chExt cx="0" cy="0"/>
        </a:xfrm>
      </p:grpSpPr>
      <p:sp>
        <p:nvSpPr>
          <p:cNvPr id="92" name="Google Shape;92;p27"/>
          <p:cNvSpPr txBox="1"/>
          <p:nvPr>
            <p:ph type="title"/>
          </p:nvPr>
        </p:nvSpPr>
        <p:spPr>
          <a:xfrm rot="5400000">
            <a:off x="7251192" y="2386584"/>
            <a:ext cx="5367528" cy="2551176"/>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3" name="Google Shape;93;p27"/>
          <p:cNvSpPr txBox="1"/>
          <p:nvPr>
            <p:ph idx="1" type="body"/>
          </p:nvPr>
        </p:nvSpPr>
        <p:spPr>
          <a:xfrm rot="5400000">
            <a:off x="1842516" y="-342900"/>
            <a:ext cx="5367528" cy="8010144"/>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4" name="Google Shape;94;p27"/>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5" name="Google Shape;95;p27"/>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6" name="Google Shape;96;p27"/>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97" name="Google Shape;97;p27"/>
          <p:cNvSpPr/>
          <p:nvPr/>
        </p:nvSpPr>
        <p:spPr>
          <a:xfrm rot="5400000">
            <a:off x="8936623" y="3585018"/>
            <a:ext cx="5325734" cy="149279"/>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11" Type="http://schemas.openxmlformats.org/officeDocument/2006/relationships/slideLayout" Target="../slideLayouts/slideLayout12.xml"/><Relationship Id="rId10" Type="http://schemas.openxmlformats.org/officeDocument/2006/relationships/slideLayout" Target="../slideLayouts/slideLayout11.xml"/><Relationship Id="rId12" Type="http://schemas.openxmlformats.org/officeDocument/2006/relationships/theme" Target="../theme/theme2.xml"/><Relationship Id="rId9" Type="http://schemas.openxmlformats.org/officeDocument/2006/relationships/slideLayout" Target="../slideLayouts/slideLayout10.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5" name="Shape 5"/>
        <p:cNvGrpSpPr/>
        <p:nvPr/>
      </p:nvGrpSpPr>
      <p:grpSpPr>
        <a:xfrm>
          <a:off x="0" y="0"/>
          <a:ext cx="0" cy="0"/>
          <a:chOff x="0" y="0"/>
          <a:chExt cx="0" cy="0"/>
        </a:xfrm>
      </p:grpSpPr>
      <p:sp>
        <p:nvSpPr>
          <p:cNvPr id="6" name="Google Shape;6;p15"/>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lvl1pPr lvl="0" marR="0" rtl="0" algn="l">
              <a:lnSpc>
                <a:spcPct val="100000"/>
              </a:lnSpc>
              <a:spcBef>
                <a:spcPts val="0"/>
              </a:spcBef>
              <a:spcAft>
                <a:spcPts val="0"/>
              </a:spcAft>
              <a:buClr>
                <a:schemeClr val="lt1"/>
              </a:buClr>
              <a:buSzPts val="4400"/>
              <a:buFont typeface="Arial"/>
              <a:buNone/>
              <a:defRPr b="1" i="0" sz="4400" u="none" cap="none" strike="noStrik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5"/>
          <p:cNvSpPr txBox="1"/>
          <p:nvPr>
            <p:ph idx="1" type="body"/>
          </p:nvPr>
        </p:nvSpPr>
        <p:spPr>
          <a:xfrm>
            <a:off x="521208" y="2578608"/>
            <a:ext cx="11155680" cy="3767328"/>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110000"/>
              </a:lnSpc>
              <a:spcBef>
                <a:spcPts val="1000"/>
              </a:spcBef>
              <a:spcAft>
                <a:spcPts val="0"/>
              </a:spcAft>
              <a:buClr>
                <a:schemeClr val="lt1"/>
              </a:buClr>
              <a:buSzPts val="1800"/>
              <a:buFont typeface="Arial"/>
              <a:buChar char="•"/>
              <a:defRPr b="0" i="0" sz="1800" u="none" cap="none" strike="noStrike">
                <a:solidFill>
                  <a:schemeClr val="lt1"/>
                </a:solidFill>
                <a:latin typeface="Arial"/>
                <a:ea typeface="Arial"/>
                <a:cs typeface="Arial"/>
                <a:sym typeface="Arial"/>
              </a:defRPr>
            </a:lvl1pPr>
            <a:lvl2pPr indent="-330200" lvl="1" marL="914400" marR="0" rtl="0" algn="l">
              <a:lnSpc>
                <a:spcPct val="110000"/>
              </a:lnSpc>
              <a:spcBef>
                <a:spcPts val="500"/>
              </a:spcBef>
              <a:spcAft>
                <a:spcPts val="0"/>
              </a:spcAft>
              <a:buClr>
                <a:schemeClr val="lt1"/>
              </a:buClr>
              <a:buSzPts val="1600"/>
              <a:buFont typeface="Arial"/>
              <a:buChar char="•"/>
              <a:defRPr b="0" i="0" sz="1600" u="none" cap="none" strike="noStrike">
                <a:solidFill>
                  <a:schemeClr val="lt1"/>
                </a:solidFill>
                <a:latin typeface="Arial"/>
                <a:ea typeface="Arial"/>
                <a:cs typeface="Arial"/>
                <a:sym typeface="Arial"/>
              </a:defRPr>
            </a:lvl2pPr>
            <a:lvl3pPr indent="-317500" lvl="2" marL="1371600" marR="0" rtl="0" algn="l">
              <a:lnSpc>
                <a:spcPct val="110000"/>
              </a:lnSpc>
              <a:spcBef>
                <a:spcPts val="500"/>
              </a:spcBef>
              <a:spcAft>
                <a:spcPts val="0"/>
              </a:spcAft>
              <a:buClr>
                <a:schemeClr val="lt1"/>
              </a:buClr>
              <a:buSzPts val="1400"/>
              <a:buFont typeface="Arial"/>
              <a:buChar char="•"/>
              <a:defRPr b="0" i="0" sz="1400" u="none" cap="none" strike="noStrike">
                <a:solidFill>
                  <a:schemeClr val="lt1"/>
                </a:solidFill>
                <a:latin typeface="Arial"/>
                <a:ea typeface="Arial"/>
                <a:cs typeface="Arial"/>
                <a:sym typeface="Arial"/>
              </a:defRPr>
            </a:lvl3pPr>
            <a:lvl4pPr indent="-304800" lvl="3" marL="1828800" marR="0" rtl="0" algn="l">
              <a:lnSpc>
                <a:spcPct val="110000"/>
              </a:lnSpc>
              <a:spcBef>
                <a:spcPts val="500"/>
              </a:spcBef>
              <a:spcAft>
                <a:spcPts val="0"/>
              </a:spcAft>
              <a:buClr>
                <a:schemeClr val="lt1"/>
              </a:buClr>
              <a:buSzPts val="1200"/>
              <a:buFont typeface="Arial"/>
              <a:buChar char="•"/>
              <a:defRPr b="0" i="0" sz="1200" u="none" cap="none" strike="noStrike">
                <a:solidFill>
                  <a:schemeClr val="lt1"/>
                </a:solidFill>
                <a:latin typeface="Arial"/>
                <a:ea typeface="Arial"/>
                <a:cs typeface="Arial"/>
                <a:sym typeface="Arial"/>
              </a:defRPr>
            </a:lvl4pPr>
            <a:lvl5pPr indent="-304800" lvl="4" marL="2286000" marR="0" rtl="0" algn="l">
              <a:lnSpc>
                <a:spcPct val="110000"/>
              </a:lnSpc>
              <a:spcBef>
                <a:spcPts val="500"/>
              </a:spcBef>
              <a:spcAft>
                <a:spcPts val="0"/>
              </a:spcAft>
              <a:buClr>
                <a:schemeClr val="lt1"/>
              </a:buClr>
              <a:buSzPts val="1200"/>
              <a:buFont typeface="Arial"/>
              <a:buChar char="•"/>
              <a:defRPr b="0" i="0" sz="1200" u="none" cap="none" strike="noStrike">
                <a:solidFill>
                  <a:schemeClr val="lt1"/>
                </a:solidFill>
                <a:latin typeface="Arial"/>
                <a:ea typeface="Arial"/>
                <a:cs typeface="Arial"/>
                <a:sym typeface="Arial"/>
              </a:defRPr>
            </a:lvl5pPr>
            <a:lvl6pPr indent="-342900" lvl="5" marL="27432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Arial"/>
                <a:ea typeface="Arial"/>
                <a:cs typeface="Arial"/>
                <a:sym typeface="Arial"/>
              </a:defRPr>
            </a:lvl6pPr>
            <a:lvl7pPr indent="-342900" lvl="6" marL="32004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Arial"/>
                <a:ea typeface="Arial"/>
                <a:cs typeface="Arial"/>
                <a:sym typeface="Arial"/>
              </a:defRPr>
            </a:lvl7pPr>
            <a:lvl8pPr indent="-342900" lvl="7" marL="36576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Arial"/>
                <a:ea typeface="Arial"/>
                <a:cs typeface="Arial"/>
                <a:sym typeface="Arial"/>
              </a:defRPr>
            </a:lvl8pPr>
            <a:lvl9pPr indent="-342900" lvl="8" marL="41148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Arial"/>
                <a:ea typeface="Arial"/>
                <a:cs typeface="Arial"/>
                <a:sym typeface="Arial"/>
              </a:defRPr>
            </a:lvl9pPr>
          </a:lstStyle>
          <a:p/>
        </p:txBody>
      </p:sp>
      <p:sp>
        <p:nvSpPr>
          <p:cNvPr id="8" name="Google Shape;8;p15"/>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lt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lt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lt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lt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lt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lt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lt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lt1"/>
                </a:solidFill>
                <a:latin typeface="Arial"/>
                <a:ea typeface="Arial"/>
                <a:cs typeface="Arial"/>
                <a:sym typeface="Arial"/>
              </a:defRPr>
            </a:lvl9pPr>
          </a:lstStyle>
          <a:p/>
        </p:txBody>
      </p:sp>
      <p:sp>
        <p:nvSpPr>
          <p:cNvPr id="9" name="Google Shape;9;p15"/>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lt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lt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lt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lt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lt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lt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lt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lt1"/>
                </a:solidFill>
                <a:latin typeface="Arial"/>
                <a:ea typeface="Arial"/>
                <a:cs typeface="Arial"/>
                <a:sym typeface="Arial"/>
              </a:defRPr>
            </a:lvl9pPr>
          </a:lstStyle>
          <a:p/>
        </p:txBody>
      </p:sp>
      <p:sp>
        <p:nvSpPr>
          <p:cNvPr id="10" name="Google Shape;10;p15"/>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900" u="none" cap="none" strike="noStrike">
                <a:solidFill>
                  <a:schemeClr val="lt1"/>
                </a:solidFill>
                <a:latin typeface="Arial"/>
                <a:ea typeface="Arial"/>
                <a:cs typeface="Arial"/>
                <a:sym typeface="Arial"/>
              </a:defRPr>
            </a:lvl1pPr>
            <a:lvl2pPr indent="0" lvl="1" marL="0" marR="0" rtl="0" algn="r">
              <a:spcBef>
                <a:spcPts val="0"/>
              </a:spcBef>
              <a:buNone/>
              <a:defRPr b="0" i="0" sz="900" u="none" cap="none" strike="noStrike">
                <a:solidFill>
                  <a:schemeClr val="lt1"/>
                </a:solidFill>
                <a:latin typeface="Arial"/>
                <a:ea typeface="Arial"/>
                <a:cs typeface="Arial"/>
                <a:sym typeface="Arial"/>
              </a:defRPr>
            </a:lvl2pPr>
            <a:lvl3pPr indent="0" lvl="2" marL="0" marR="0" rtl="0" algn="r">
              <a:spcBef>
                <a:spcPts val="0"/>
              </a:spcBef>
              <a:buNone/>
              <a:defRPr b="0" i="0" sz="900" u="none" cap="none" strike="noStrike">
                <a:solidFill>
                  <a:schemeClr val="lt1"/>
                </a:solidFill>
                <a:latin typeface="Arial"/>
                <a:ea typeface="Arial"/>
                <a:cs typeface="Arial"/>
                <a:sym typeface="Arial"/>
              </a:defRPr>
            </a:lvl3pPr>
            <a:lvl4pPr indent="0" lvl="3" marL="0" marR="0" rtl="0" algn="r">
              <a:spcBef>
                <a:spcPts val="0"/>
              </a:spcBef>
              <a:buNone/>
              <a:defRPr b="0" i="0" sz="900" u="none" cap="none" strike="noStrike">
                <a:solidFill>
                  <a:schemeClr val="lt1"/>
                </a:solidFill>
                <a:latin typeface="Arial"/>
                <a:ea typeface="Arial"/>
                <a:cs typeface="Arial"/>
                <a:sym typeface="Arial"/>
              </a:defRPr>
            </a:lvl4pPr>
            <a:lvl5pPr indent="0" lvl="4" marL="0" marR="0" rtl="0" algn="r">
              <a:spcBef>
                <a:spcPts val="0"/>
              </a:spcBef>
              <a:buNone/>
              <a:defRPr b="0" i="0" sz="900" u="none" cap="none" strike="noStrike">
                <a:solidFill>
                  <a:schemeClr val="lt1"/>
                </a:solidFill>
                <a:latin typeface="Arial"/>
                <a:ea typeface="Arial"/>
                <a:cs typeface="Arial"/>
                <a:sym typeface="Arial"/>
              </a:defRPr>
            </a:lvl5pPr>
            <a:lvl6pPr indent="0" lvl="5" marL="0" marR="0" rtl="0" algn="r">
              <a:spcBef>
                <a:spcPts val="0"/>
              </a:spcBef>
              <a:buNone/>
              <a:defRPr b="0" i="0" sz="900" u="none" cap="none" strike="noStrike">
                <a:solidFill>
                  <a:schemeClr val="lt1"/>
                </a:solidFill>
                <a:latin typeface="Arial"/>
                <a:ea typeface="Arial"/>
                <a:cs typeface="Arial"/>
                <a:sym typeface="Arial"/>
              </a:defRPr>
            </a:lvl6pPr>
            <a:lvl7pPr indent="0" lvl="6" marL="0" marR="0" rtl="0" algn="r">
              <a:spcBef>
                <a:spcPts val="0"/>
              </a:spcBef>
              <a:buNone/>
              <a:defRPr b="0" i="0" sz="900" u="none" cap="none" strike="noStrike">
                <a:solidFill>
                  <a:schemeClr val="lt1"/>
                </a:solidFill>
                <a:latin typeface="Arial"/>
                <a:ea typeface="Arial"/>
                <a:cs typeface="Arial"/>
                <a:sym typeface="Arial"/>
              </a:defRPr>
            </a:lvl7pPr>
            <a:lvl8pPr indent="0" lvl="7" marL="0" marR="0" rtl="0" algn="r">
              <a:spcBef>
                <a:spcPts val="0"/>
              </a:spcBef>
              <a:buNone/>
              <a:defRPr b="0" i="0" sz="900" u="none" cap="none" strike="noStrike">
                <a:solidFill>
                  <a:schemeClr val="lt1"/>
                </a:solidFill>
                <a:latin typeface="Arial"/>
                <a:ea typeface="Arial"/>
                <a:cs typeface="Arial"/>
                <a:sym typeface="Arial"/>
              </a:defRPr>
            </a:lvl8pPr>
            <a:lvl9pPr indent="0" lvl="8" marL="0" marR="0" rtl="0" algn="r">
              <a:spcBef>
                <a:spcPts val="0"/>
              </a:spcBef>
              <a:buNone/>
              <a:defRPr b="0" i="0" sz="9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1" name="Google Shape;11;p15"/>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 name="Shape 19"/>
        <p:cNvGrpSpPr/>
        <p:nvPr/>
      </p:nvGrpSpPr>
      <p:grpSpPr>
        <a:xfrm>
          <a:off x="0" y="0"/>
          <a:ext cx="0" cy="0"/>
          <a:chOff x="0" y="0"/>
          <a:chExt cx="0" cy="0"/>
        </a:xfrm>
      </p:grpSpPr>
      <p:sp>
        <p:nvSpPr>
          <p:cNvPr id="20" name="Google Shape;20;p14"/>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lvl1pPr lvl="0" marR="0" rtl="0" algn="l">
              <a:lnSpc>
                <a:spcPct val="100000"/>
              </a:lnSpc>
              <a:spcBef>
                <a:spcPts val="0"/>
              </a:spcBef>
              <a:spcAft>
                <a:spcPts val="0"/>
              </a:spcAft>
              <a:buClr>
                <a:schemeClr val="dk1"/>
              </a:buClr>
              <a:buSzPts val="4400"/>
              <a:buFont typeface="Arial"/>
              <a:buNone/>
              <a:defRPr b="1" i="0" sz="4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1" name="Google Shape;21;p14"/>
          <p:cNvSpPr txBox="1"/>
          <p:nvPr>
            <p:ph idx="1" type="body"/>
          </p:nvPr>
        </p:nvSpPr>
        <p:spPr>
          <a:xfrm>
            <a:off x="521208" y="2578608"/>
            <a:ext cx="11155680" cy="3767328"/>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110000"/>
              </a:lnSpc>
              <a:spcBef>
                <a:spcPts val="10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1pPr>
            <a:lvl2pPr indent="-330200" lvl="1" marL="914400" marR="0" rtl="0" algn="l">
              <a:lnSpc>
                <a:spcPct val="11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2pPr>
            <a:lvl3pPr indent="-317500" lvl="2" marL="1371600" marR="0" rtl="0" algn="l">
              <a:lnSpc>
                <a:spcPct val="11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3pPr>
            <a:lvl4pPr indent="-304800" lvl="3" marL="1828800" marR="0" rtl="0" algn="l">
              <a:lnSpc>
                <a:spcPct val="110000"/>
              </a:lnSpc>
              <a:spcBef>
                <a:spcPts val="500"/>
              </a:spcBef>
              <a:spcAft>
                <a:spcPts val="0"/>
              </a:spcAft>
              <a:buClr>
                <a:schemeClr val="dk1"/>
              </a:buClr>
              <a:buSzPts val="1200"/>
              <a:buFont typeface="Arial"/>
              <a:buChar char="•"/>
              <a:defRPr b="0" i="0" sz="1200" u="none" cap="none" strike="noStrike">
                <a:solidFill>
                  <a:schemeClr val="dk1"/>
                </a:solidFill>
                <a:latin typeface="Arial"/>
                <a:ea typeface="Arial"/>
                <a:cs typeface="Arial"/>
                <a:sym typeface="Arial"/>
              </a:defRPr>
            </a:lvl4pPr>
            <a:lvl5pPr indent="-304800" lvl="4" marL="2286000" marR="0" rtl="0" algn="l">
              <a:lnSpc>
                <a:spcPct val="110000"/>
              </a:lnSpc>
              <a:spcBef>
                <a:spcPts val="500"/>
              </a:spcBef>
              <a:spcAft>
                <a:spcPts val="0"/>
              </a:spcAft>
              <a:buClr>
                <a:schemeClr val="dk1"/>
              </a:buClr>
              <a:buSzPts val="1200"/>
              <a:buFont typeface="Arial"/>
              <a:buChar char="•"/>
              <a:defRPr b="0" i="0" sz="12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14"/>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23" name="Google Shape;23;p14"/>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24" name="Google Shape;24;p14"/>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900" u="none" cap="none" strike="noStrike">
                <a:solidFill>
                  <a:schemeClr val="dk1"/>
                </a:solidFill>
                <a:latin typeface="Arial"/>
                <a:ea typeface="Arial"/>
                <a:cs typeface="Arial"/>
                <a:sym typeface="Arial"/>
              </a:defRPr>
            </a:lvl1pPr>
            <a:lvl2pPr indent="0" lvl="1" marL="0" marR="0" rtl="0" algn="r">
              <a:spcBef>
                <a:spcPts val="0"/>
              </a:spcBef>
              <a:buNone/>
              <a:defRPr b="0" i="0" sz="900" u="none" cap="none" strike="noStrike">
                <a:solidFill>
                  <a:schemeClr val="dk1"/>
                </a:solidFill>
                <a:latin typeface="Arial"/>
                <a:ea typeface="Arial"/>
                <a:cs typeface="Arial"/>
                <a:sym typeface="Arial"/>
              </a:defRPr>
            </a:lvl2pPr>
            <a:lvl3pPr indent="0" lvl="2" marL="0" marR="0" rtl="0" algn="r">
              <a:spcBef>
                <a:spcPts val="0"/>
              </a:spcBef>
              <a:buNone/>
              <a:defRPr b="0" i="0" sz="900" u="none" cap="none" strike="noStrike">
                <a:solidFill>
                  <a:schemeClr val="dk1"/>
                </a:solidFill>
                <a:latin typeface="Arial"/>
                <a:ea typeface="Arial"/>
                <a:cs typeface="Arial"/>
                <a:sym typeface="Arial"/>
              </a:defRPr>
            </a:lvl3pPr>
            <a:lvl4pPr indent="0" lvl="3" marL="0" marR="0" rtl="0" algn="r">
              <a:spcBef>
                <a:spcPts val="0"/>
              </a:spcBef>
              <a:buNone/>
              <a:defRPr b="0" i="0" sz="900" u="none" cap="none" strike="noStrike">
                <a:solidFill>
                  <a:schemeClr val="dk1"/>
                </a:solidFill>
                <a:latin typeface="Arial"/>
                <a:ea typeface="Arial"/>
                <a:cs typeface="Arial"/>
                <a:sym typeface="Arial"/>
              </a:defRPr>
            </a:lvl4pPr>
            <a:lvl5pPr indent="0" lvl="4" marL="0" marR="0" rtl="0" algn="r">
              <a:spcBef>
                <a:spcPts val="0"/>
              </a:spcBef>
              <a:buNone/>
              <a:defRPr b="0" i="0" sz="900" u="none" cap="none" strike="noStrike">
                <a:solidFill>
                  <a:schemeClr val="dk1"/>
                </a:solidFill>
                <a:latin typeface="Arial"/>
                <a:ea typeface="Arial"/>
                <a:cs typeface="Arial"/>
                <a:sym typeface="Arial"/>
              </a:defRPr>
            </a:lvl5pPr>
            <a:lvl6pPr indent="0" lvl="5" marL="0" marR="0" rtl="0" algn="r">
              <a:spcBef>
                <a:spcPts val="0"/>
              </a:spcBef>
              <a:buNone/>
              <a:defRPr b="0" i="0" sz="900" u="none" cap="none" strike="noStrike">
                <a:solidFill>
                  <a:schemeClr val="dk1"/>
                </a:solidFill>
                <a:latin typeface="Arial"/>
                <a:ea typeface="Arial"/>
                <a:cs typeface="Arial"/>
                <a:sym typeface="Arial"/>
              </a:defRPr>
            </a:lvl6pPr>
            <a:lvl7pPr indent="0" lvl="6" marL="0" marR="0" rtl="0" algn="r">
              <a:spcBef>
                <a:spcPts val="0"/>
              </a:spcBef>
              <a:buNone/>
              <a:defRPr b="0" i="0" sz="900" u="none" cap="none" strike="noStrike">
                <a:solidFill>
                  <a:schemeClr val="dk1"/>
                </a:solidFill>
                <a:latin typeface="Arial"/>
                <a:ea typeface="Arial"/>
                <a:cs typeface="Arial"/>
                <a:sym typeface="Arial"/>
              </a:defRPr>
            </a:lvl7pPr>
            <a:lvl8pPr indent="0" lvl="7" marL="0" marR="0" rtl="0" algn="r">
              <a:spcBef>
                <a:spcPts val="0"/>
              </a:spcBef>
              <a:buNone/>
              <a:defRPr b="0" i="0" sz="900" u="none" cap="none" strike="noStrike">
                <a:solidFill>
                  <a:schemeClr val="dk1"/>
                </a:solidFill>
                <a:latin typeface="Arial"/>
                <a:ea typeface="Arial"/>
                <a:cs typeface="Arial"/>
                <a:sym typeface="Arial"/>
              </a:defRPr>
            </a:lvl8pPr>
            <a:lvl9pPr indent="0" lvl="8" marL="0" marR="0" rtl="0" algn="r">
              <a:spcBef>
                <a:spcPts val="0"/>
              </a:spcBef>
              <a:buNone/>
              <a:defRPr b="0" i="0" sz="9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25" name="Google Shape;25;p14"/>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gif"/><Relationship Id="rId4" Type="http://schemas.openxmlformats.org/officeDocument/2006/relationships/image" Target="../media/image13.gif"/><Relationship Id="rId5" Type="http://schemas.openxmlformats.org/officeDocument/2006/relationships/image" Target="../media/image9.gif"/><Relationship Id="rId6"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01" name="Shape 101"/>
        <p:cNvGrpSpPr/>
        <p:nvPr/>
      </p:nvGrpSpPr>
      <p:grpSpPr>
        <a:xfrm>
          <a:off x="0" y="0"/>
          <a:ext cx="0" cy="0"/>
          <a:chOff x="0" y="0"/>
          <a:chExt cx="0" cy="0"/>
        </a:xfrm>
      </p:grpSpPr>
      <p:sp>
        <p:nvSpPr>
          <p:cNvPr id="102" name="Google Shape;102;p1"/>
          <p:cNvSpPr/>
          <p:nvPr/>
        </p:nvSpPr>
        <p:spPr>
          <a:xfrm>
            <a:off x="0" y="0"/>
            <a:ext cx="12192000" cy="68580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800"/>
              <a:buFont typeface="Arial"/>
              <a:buNone/>
            </a:pPr>
            <a:r>
              <a:t/>
            </a:r>
            <a:endParaRPr b="0" i="0" sz="1800" u="none" cap="none" strike="noStrike">
              <a:solidFill>
                <a:srgbClr val="FFFFFF"/>
              </a:solidFill>
              <a:latin typeface="Arial"/>
              <a:ea typeface="Arial"/>
              <a:cs typeface="Arial"/>
              <a:sym typeface="Arial"/>
            </a:endParaRPr>
          </a:p>
        </p:txBody>
      </p:sp>
      <p:pic>
        <p:nvPicPr>
          <p:cNvPr descr="A close up of triangles&#10;&#10;Description automatically generated" id="103" name="Google Shape;103;p1"/>
          <p:cNvPicPr preferRelativeResize="0"/>
          <p:nvPr/>
        </p:nvPicPr>
        <p:blipFill rotWithShape="1">
          <a:blip r:embed="rId3">
            <a:alphaModFix/>
          </a:blip>
          <a:srcRect b="0" l="0" r="0" t="15730"/>
          <a:stretch/>
        </p:blipFill>
        <p:spPr>
          <a:xfrm>
            <a:off x="20" y="10"/>
            <a:ext cx="12191980" cy="6857990"/>
          </a:xfrm>
          <a:prstGeom prst="rect">
            <a:avLst/>
          </a:prstGeom>
          <a:noFill/>
          <a:ln>
            <a:noFill/>
          </a:ln>
        </p:spPr>
      </p:pic>
      <p:sp>
        <p:nvSpPr>
          <p:cNvPr id="104" name="Google Shape;104;p1"/>
          <p:cNvSpPr/>
          <p:nvPr/>
        </p:nvSpPr>
        <p:spPr>
          <a:xfrm>
            <a:off x="0" y="5577840"/>
            <a:ext cx="12191999" cy="1280160"/>
          </a:xfrm>
          <a:prstGeom prst="rect">
            <a:avLst/>
          </a:prstGeom>
          <a:solidFill>
            <a:schemeClr val="dk1">
              <a:alpha val="27843"/>
            </a:scheme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800"/>
              <a:buFont typeface="Arial"/>
              <a:buNone/>
            </a:pPr>
            <a:r>
              <a:t/>
            </a:r>
            <a:endParaRPr b="0" i="0" sz="1800" u="none" cap="none" strike="noStrike">
              <a:solidFill>
                <a:srgbClr val="FFFFFF"/>
              </a:solidFill>
              <a:latin typeface="Arial"/>
              <a:ea typeface="Arial"/>
              <a:cs typeface="Arial"/>
              <a:sym typeface="Arial"/>
            </a:endParaRPr>
          </a:p>
        </p:txBody>
      </p:sp>
      <p:sp>
        <p:nvSpPr>
          <p:cNvPr id="105" name="Google Shape;105;p1"/>
          <p:cNvSpPr txBox="1"/>
          <p:nvPr>
            <p:ph type="ctrTitle"/>
          </p:nvPr>
        </p:nvSpPr>
        <p:spPr>
          <a:xfrm>
            <a:off x="320039" y="5731580"/>
            <a:ext cx="8196431" cy="96012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2800"/>
              <a:buFont typeface="Arial"/>
              <a:buNone/>
            </a:pPr>
            <a:r>
              <a:rPr lang="en-US" sz="2800"/>
              <a:t>Detecting and Exploiting Emergent Security Behaviors in Cyber-Physical System Architectures</a:t>
            </a:r>
            <a:endParaRPr/>
          </a:p>
        </p:txBody>
      </p:sp>
      <p:sp>
        <p:nvSpPr>
          <p:cNvPr id="106" name="Google Shape;106;p1"/>
          <p:cNvSpPr txBox="1"/>
          <p:nvPr>
            <p:ph idx="1" type="subTitle"/>
          </p:nvPr>
        </p:nvSpPr>
        <p:spPr>
          <a:xfrm>
            <a:off x="8604503" y="5731580"/>
            <a:ext cx="3392781" cy="96012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chemeClr val="lt1"/>
              </a:buClr>
              <a:buSzPts val="2000"/>
              <a:buNone/>
            </a:pPr>
            <a:r>
              <a:rPr lang="en-US" sz="2000"/>
              <a:t>A Weird Machines Approach</a:t>
            </a:r>
            <a:endParaRPr/>
          </a:p>
          <a:p>
            <a:pPr indent="0" lvl="0" marL="0" rtl="0" algn="r">
              <a:lnSpc>
                <a:spcPct val="100000"/>
              </a:lnSpc>
              <a:spcBef>
                <a:spcPts val="1000"/>
              </a:spcBef>
              <a:spcAft>
                <a:spcPts val="0"/>
              </a:spcAft>
              <a:buClr>
                <a:schemeClr val="lt1"/>
              </a:buClr>
              <a:buSzPts val="2000"/>
              <a:buNone/>
            </a:pPr>
            <a:r>
              <a:rPr lang="en-US" sz="2000"/>
              <a:t>Jada Cumberland, Brianne Dunn, Samuel Jackson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g3b0d07ae252_1_1"/>
          <p:cNvSpPr txBox="1"/>
          <p:nvPr>
            <p:ph type="title"/>
          </p:nvPr>
        </p:nvSpPr>
        <p:spPr>
          <a:xfrm>
            <a:off x="521208" y="978408"/>
            <a:ext cx="11155800" cy="1463100"/>
          </a:xfrm>
          <a:prstGeom prst="rect">
            <a:avLst/>
          </a:prstGeom>
        </p:spPr>
        <p:txBody>
          <a:bodyPr anchorCtr="0" anchor="t" bIns="45700" lIns="91425" spcFirstLastPara="1" rIns="91425" wrap="square" tIns="45700">
            <a:normAutofit/>
          </a:bodyPr>
          <a:lstStyle/>
          <a:p>
            <a:pPr indent="0" lvl="0" marL="0" rtl="0" algn="l">
              <a:spcBef>
                <a:spcPts val="0"/>
              </a:spcBef>
              <a:spcAft>
                <a:spcPts val="0"/>
              </a:spcAft>
              <a:buNone/>
            </a:pPr>
            <a:r>
              <a:rPr lang="en-US"/>
              <a:t>Turing Machines</a:t>
            </a:r>
            <a:endParaRPr/>
          </a:p>
        </p:txBody>
      </p:sp>
      <p:pic>
        <p:nvPicPr>
          <p:cNvPr id="112" name="Google Shape;112;g3b0d07ae252_1_1"/>
          <p:cNvPicPr preferRelativeResize="0"/>
          <p:nvPr/>
        </p:nvPicPr>
        <p:blipFill>
          <a:blip r:embed="rId3">
            <a:alphaModFix/>
          </a:blip>
          <a:stretch>
            <a:fillRect/>
          </a:stretch>
        </p:blipFill>
        <p:spPr>
          <a:xfrm>
            <a:off x="807726" y="2035050"/>
            <a:ext cx="4712226" cy="4608000"/>
          </a:xfrm>
          <a:prstGeom prst="rect">
            <a:avLst/>
          </a:prstGeom>
          <a:noFill/>
          <a:ln>
            <a:noFill/>
          </a:ln>
        </p:spPr>
      </p:pic>
      <p:pic>
        <p:nvPicPr>
          <p:cNvPr id="113" name="Google Shape;113;g3b0d07ae252_1_1"/>
          <p:cNvPicPr preferRelativeResize="0"/>
          <p:nvPr/>
        </p:nvPicPr>
        <p:blipFill>
          <a:blip r:embed="rId4">
            <a:alphaModFix/>
          </a:blip>
          <a:stretch>
            <a:fillRect/>
          </a:stretch>
        </p:blipFill>
        <p:spPr>
          <a:xfrm>
            <a:off x="6602676" y="1716423"/>
            <a:ext cx="4791080" cy="492662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7" name="Shape 117"/>
        <p:cNvGrpSpPr/>
        <p:nvPr/>
      </p:nvGrpSpPr>
      <p:grpSpPr>
        <a:xfrm>
          <a:off x="0" y="0"/>
          <a:ext cx="0" cy="0"/>
          <a:chOff x="0" y="0"/>
          <a:chExt cx="0" cy="0"/>
        </a:xfrm>
      </p:grpSpPr>
      <p:sp>
        <p:nvSpPr>
          <p:cNvPr id="118" name="Google Shape;118;p2"/>
          <p:cNvSpPr/>
          <p:nvPr/>
        </p:nvSpPr>
        <p:spPr>
          <a:xfrm>
            <a:off x="0" y="0"/>
            <a:ext cx="12188952" cy="685799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19" name="Google Shape;119;p2"/>
          <p:cNvSpPr txBox="1"/>
          <p:nvPr>
            <p:ph type="title"/>
          </p:nvPr>
        </p:nvSpPr>
        <p:spPr>
          <a:xfrm>
            <a:off x="521208" y="978408"/>
            <a:ext cx="6300216" cy="132588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Arial"/>
              <a:buNone/>
            </a:pPr>
            <a:r>
              <a:rPr lang="en-US"/>
              <a:t>What is a weird machine?</a:t>
            </a:r>
            <a:endParaRPr/>
          </a:p>
        </p:txBody>
      </p:sp>
      <p:sp>
        <p:nvSpPr>
          <p:cNvPr id="120" name="Google Shape;120;p2"/>
          <p:cNvSpPr/>
          <p:nvPr/>
        </p:nvSpPr>
        <p:spPr>
          <a:xfrm>
            <a:off x="517868" y="508090"/>
            <a:ext cx="6281928" cy="149279"/>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21" name="Google Shape;121;p2"/>
          <p:cNvSpPr/>
          <p:nvPr/>
        </p:nvSpPr>
        <p:spPr>
          <a:xfrm>
            <a:off x="7513612" y="611650"/>
            <a:ext cx="4160520" cy="45719"/>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800"/>
              <a:buFont typeface="Arial"/>
              <a:buNone/>
            </a:pPr>
            <a:r>
              <a:t/>
            </a:r>
            <a:endParaRPr b="0" i="0" sz="1800" u="none" cap="none" strike="noStrike">
              <a:solidFill>
                <a:srgbClr val="FFFFFF"/>
              </a:solidFill>
              <a:latin typeface="Arial"/>
              <a:ea typeface="Arial"/>
              <a:cs typeface="Arial"/>
              <a:sym typeface="Arial"/>
            </a:endParaRPr>
          </a:p>
        </p:txBody>
      </p:sp>
      <p:sp>
        <p:nvSpPr>
          <p:cNvPr id="122" name="Google Shape;122;p2"/>
          <p:cNvSpPr txBox="1"/>
          <p:nvPr>
            <p:ph idx="1" type="body"/>
          </p:nvPr>
        </p:nvSpPr>
        <p:spPr>
          <a:xfrm>
            <a:off x="7507224" y="1088136"/>
            <a:ext cx="4160520" cy="5257800"/>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1800"/>
              <a:buChar char="•"/>
            </a:pPr>
            <a:r>
              <a:rPr lang="en-US"/>
              <a:t>A computational artifact where code execution can happen outside the original specification of the program due to unexpected input</a:t>
            </a:r>
            <a:endParaRPr/>
          </a:p>
        </p:txBody>
      </p:sp>
      <p:pic>
        <p:nvPicPr>
          <p:cNvPr id="123" name="Google Shape;123;p2"/>
          <p:cNvPicPr preferRelativeResize="0"/>
          <p:nvPr/>
        </p:nvPicPr>
        <p:blipFill rotWithShape="1">
          <a:blip r:embed="rId3">
            <a:alphaModFix/>
          </a:blip>
          <a:srcRect b="0" l="0" r="0" t="10976"/>
          <a:stretch/>
        </p:blipFill>
        <p:spPr>
          <a:xfrm>
            <a:off x="2067550" y="2625326"/>
            <a:ext cx="8053875" cy="4239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3"/>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Weird Machine Reading List</a:t>
            </a:r>
            <a:endParaRPr/>
          </a:p>
        </p:txBody>
      </p:sp>
      <p:sp>
        <p:nvSpPr>
          <p:cNvPr id="129" name="Google Shape;129;p3"/>
          <p:cNvSpPr txBox="1"/>
          <p:nvPr>
            <p:ph idx="1" type="body"/>
          </p:nvPr>
        </p:nvSpPr>
        <p:spPr>
          <a:xfrm>
            <a:off x="521208" y="2578608"/>
            <a:ext cx="11155680" cy="3767328"/>
          </a:xfrm>
          <a:prstGeom prst="rect">
            <a:avLst/>
          </a:prstGeom>
          <a:noFill/>
          <a:ln>
            <a:noFill/>
          </a:ln>
        </p:spPr>
        <p:txBody>
          <a:bodyPr anchorCtr="0" anchor="t" bIns="45700" lIns="91425" spcFirstLastPara="1" rIns="91425" wrap="square" tIns="45700">
            <a:normAutofit/>
          </a:bodyPr>
          <a:lstStyle/>
          <a:p>
            <a:pPr indent="-228600" lvl="0" marL="228600" rtl="0" algn="l">
              <a:spcBef>
                <a:spcPts val="0"/>
              </a:spcBef>
              <a:spcAft>
                <a:spcPts val="0"/>
              </a:spcAft>
              <a:buSzPts val="1800"/>
              <a:buChar char="•"/>
            </a:pPr>
            <a:r>
              <a:rPr lang="en-US"/>
              <a:t>Dullien, T. Weird Machines, Exploitability, and Provable Unexploitability</a:t>
            </a:r>
            <a:endParaRPr/>
          </a:p>
          <a:p>
            <a:pPr indent="-228600" lvl="0" marL="228600" rtl="0" algn="l">
              <a:spcBef>
                <a:spcPts val="0"/>
              </a:spcBef>
              <a:spcAft>
                <a:spcPts val="0"/>
              </a:spcAft>
              <a:buSzPts val="1800"/>
              <a:buChar char="•"/>
            </a:pPr>
            <a:r>
              <a:rPr lang="en-US"/>
              <a:t>Bratus, et al. Exploit Programming: From Buffer Overflows to “Weird Machines” and Theory of Computation</a:t>
            </a:r>
            <a:endParaRPr/>
          </a:p>
          <a:p>
            <a:pPr indent="-228600" lvl="0" marL="228600" rtl="0" algn="l">
              <a:spcBef>
                <a:spcPts val="0"/>
              </a:spcBef>
              <a:spcAft>
                <a:spcPts val="0"/>
              </a:spcAft>
              <a:buSzPts val="1800"/>
              <a:buChar char="•"/>
            </a:pPr>
            <a:r>
              <a:rPr lang="en-US"/>
              <a:t>Bratus, et al. Hacking &amp; Computer Science</a:t>
            </a:r>
            <a:endParaRPr/>
          </a:p>
          <a:p>
            <a:pPr indent="-228600" lvl="0" marL="228600" rtl="0" algn="l">
              <a:spcBef>
                <a:spcPts val="0"/>
              </a:spcBef>
              <a:spcAft>
                <a:spcPts val="0"/>
              </a:spcAft>
              <a:buSzPts val="1800"/>
              <a:buChar char="•"/>
            </a:pPr>
            <a:r>
              <a:rPr lang="en-US"/>
              <a:t>Pavlovic, Seidel. Security Science (SecSci), Basic Concepts and Mathematical Foundations</a:t>
            </a:r>
            <a:endParaRPr/>
          </a:p>
          <a:p>
            <a:pPr indent="-228600" lvl="0" marL="228600" rtl="0" algn="l">
              <a:spcBef>
                <a:spcPts val="0"/>
              </a:spcBef>
              <a:spcAft>
                <a:spcPts val="0"/>
              </a:spcAft>
              <a:buSzPts val="1800"/>
              <a:buChar char="•"/>
            </a:pPr>
            <a:r>
              <a:rPr lang="en-US"/>
              <a:t>Dullien, T. Programming the Weird Machine</a:t>
            </a:r>
            <a:endParaRPr/>
          </a:p>
          <a:p>
            <a:pPr indent="-228600" lvl="0" marL="228600" rtl="0" algn="l">
              <a:spcBef>
                <a:spcPts val="0"/>
              </a:spcBef>
              <a:spcAft>
                <a:spcPts val="0"/>
              </a:spcAft>
              <a:buSzPts val="1800"/>
              <a:buChar char="•"/>
            </a:pPr>
            <a:r>
              <a:rPr lang="en-US"/>
              <a:t>Riley, Karen, et al. Crema</a:t>
            </a:r>
            <a:endParaRPr/>
          </a:p>
          <a:p>
            <a:pPr indent="-228600" lvl="0" marL="228600" rtl="0" algn="l">
              <a:spcBef>
                <a:spcPts val="0"/>
              </a:spcBef>
              <a:spcAft>
                <a:spcPts val="0"/>
              </a:spcAft>
              <a:buSzPts val="1800"/>
              <a:buChar char="•"/>
            </a:pPr>
            <a:r>
              <a:rPr lang="en-US"/>
              <a:t>Benjamin, Thomas S., et al. Computing with Time: Microarchitectural Weird Machines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3" name="Shape 133"/>
        <p:cNvGrpSpPr/>
        <p:nvPr/>
      </p:nvGrpSpPr>
      <p:grpSpPr>
        <a:xfrm>
          <a:off x="0" y="0"/>
          <a:ext cx="0" cy="0"/>
          <a:chOff x="0" y="0"/>
          <a:chExt cx="0" cy="0"/>
        </a:xfrm>
      </p:grpSpPr>
      <p:sp>
        <p:nvSpPr>
          <p:cNvPr id="134" name="Google Shape;134;p4"/>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35" name="Google Shape;135;p4"/>
          <p:cNvSpPr/>
          <p:nvPr/>
        </p:nvSpPr>
        <p:spPr>
          <a:xfrm>
            <a:off x="517870" y="6209925"/>
            <a:ext cx="11155680" cy="45719"/>
          </a:xfrm>
          <a:custGeom>
            <a:rect b="b" l="l" r="r" t="t"/>
            <a:pathLst>
              <a:path extrusionOk="0" h="45719" w="8715708">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36" name="Google Shape;136;p4"/>
          <p:cNvSpPr/>
          <p:nvPr/>
        </p:nvSpPr>
        <p:spPr>
          <a:xfrm>
            <a:off x="0" y="0"/>
            <a:ext cx="12192000" cy="68580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37" name="Google Shape;137;p4"/>
          <p:cNvSpPr txBox="1"/>
          <p:nvPr>
            <p:ph type="title"/>
          </p:nvPr>
        </p:nvSpPr>
        <p:spPr>
          <a:xfrm>
            <a:off x="521208" y="978408"/>
            <a:ext cx="3397649" cy="3303764"/>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Arial"/>
              <a:buNone/>
            </a:pPr>
            <a:r>
              <a:rPr lang="en-US"/>
              <a:t>Weird Machine Timeline</a:t>
            </a:r>
            <a:endParaRPr/>
          </a:p>
        </p:txBody>
      </p:sp>
      <p:sp>
        <p:nvSpPr>
          <p:cNvPr id="138" name="Google Shape;138;p4"/>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pic>
        <p:nvPicPr>
          <p:cNvPr id="139" name="Google Shape;139;p4"/>
          <p:cNvPicPr preferRelativeResize="0"/>
          <p:nvPr/>
        </p:nvPicPr>
        <p:blipFill>
          <a:blip r:embed="rId3">
            <a:alphaModFix/>
          </a:blip>
          <a:stretch>
            <a:fillRect/>
          </a:stretch>
        </p:blipFill>
        <p:spPr>
          <a:xfrm>
            <a:off x="3692050" y="835100"/>
            <a:ext cx="7366374" cy="568665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5"/>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Thinking about previous experiences and weird machines</a:t>
            </a:r>
            <a:endParaRPr/>
          </a:p>
        </p:txBody>
      </p:sp>
      <p:sp>
        <p:nvSpPr>
          <p:cNvPr id="145" name="Google Shape;145;p5"/>
          <p:cNvSpPr txBox="1"/>
          <p:nvPr>
            <p:ph idx="1" type="body"/>
          </p:nvPr>
        </p:nvSpPr>
        <p:spPr>
          <a:xfrm>
            <a:off x="521208" y="2578608"/>
            <a:ext cx="11155680" cy="3767328"/>
          </a:xfrm>
          <a:prstGeom prst="rect">
            <a:avLst/>
          </a:prstGeom>
          <a:noFill/>
          <a:ln>
            <a:noFill/>
          </a:ln>
        </p:spPr>
        <p:txBody>
          <a:bodyPr anchorCtr="0" anchor="t" bIns="45700" lIns="91425" spcFirstLastPara="1" rIns="91425" wrap="square" tIns="45700">
            <a:normAutofit/>
          </a:bodyPr>
          <a:lstStyle/>
          <a:p>
            <a:pPr indent="-228600" lvl="0" marL="228600" rtl="0" algn="l">
              <a:spcBef>
                <a:spcPts val="0"/>
              </a:spcBef>
              <a:spcAft>
                <a:spcPts val="0"/>
              </a:spcAft>
              <a:buSzPts val="1800"/>
              <a:buChar char="•"/>
            </a:pPr>
            <a:r>
              <a:rPr lang="en-US"/>
              <a:t>Arista EOS (Extensible Operating System) Logging as a Weird Machine</a:t>
            </a:r>
            <a:endParaRPr/>
          </a:p>
          <a:p>
            <a:pPr indent="-228600" lvl="1" marL="685800" rtl="0" algn="l">
              <a:spcBef>
                <a:spcPts val="0"/>
              </a:spcBef>
              <a:spcAft>
                <a:spcPts val="0"/>
              </a:spcAft>
              <a:buSzPts val="1800"/>
              <a:buChar char="•"/>
            </a:pPr>
            <a:r>
              <a:rPr b="1" lang="en-US"/>
              <a:t>Intended Machine:</a:t>
            </a:r>
            <a:endParaRPr b="1"/>
          </a:p>
          <a:p>
            <a:pPr indent="-247650" lvl="2" marL="1143000" rtl="0" algn="l">
              <a:lnSpc>
                <a:spcPct val="100000"/>
              </a:lnSpc>
              <a:spcBef>
                <a:spcPts val="0"/>
              </a:spcBef>
              <a:spcAft>
                <a:spcPts val="0"/>
              </a:spcAft>
              <a:buSzPts val="2100"/>
              <a:buChar char="•"/>
            </a:pPr>
            <a:r>
              <a:rPr lang="en-US"/>
              <a:t>Local logging and remote logging are independent</a:t>
            </a:r>
            <a:endParaRPr/>
          </a:p>
          <a:p>
            <a:pPr indent="-228600" lvl="2" marL="1143000" rtl="0" algn="l">
              <a:lnSpc>
                <a:spcPct val="100000"/>
              </a:lnSpc>
              <a:spcBef>
                <a:spcPts val="0"/>
              </a:spcBef>
              <a:spcAft>
                <a:spcPts val="0"/>
              </a:spcAft>
              <a:buSzPts val="1800"/>
              <a:buChar char="•"/>
            </a:pPr>
            <a:r>
              <a:rPr lang="en-US"/>
              <a:t>Local logs persist even if remote forwarding fails</a:t>
            </a:r>
            <a:endParaRPr/>
          </a:p>
          <a:p>
            <a:pPr indent="-203200" lvl="1" marL="685800" rtl="0" algn="l">
              <a:lnSpc>
                <a:spcPct val="100000"/>
              </a:lnSpc>
              <a:spcBef>
                <a:spcPts val="0"/>
              </a:spcBef>
              <a:spcAft>
                <a:spcPts val="0"/>
              </a:spcAft>
              <a:buSzPts val="1400"/>
              <a:buChar char="•"/>
            </a:pPr>
            <a:r>
              <a:rPr b="1" lang="en-US" sz="1400"/>
              <a:t>Weird Machine:</a:t>
            </a:r>
            <a:endParaRPr b="1" sz="1400"/>
          </a:p>
          <a:p>
            <a:pPr indent="-203200" lvl="2" marL="1143000" rtl="0" algn="l">
              <a:lnSpc>
                <a:spcPct val="100000"/>
              </a:lnSpc>
              <a:spcBef>
                <a:spcPts val="0"/>
              </a:spcBef>
              <a:spcAft>
                <a:spcPts val="0"/>
              </a:spcAft>
              <a:buSzPts val="1400"/>
              <a:buChar char="•"/>
            </a:pPr>
            <a:r>
              <a:rPr lang="en-US"/>
              <a:t>An emergent control path where the TCP reachability of a remote syslog server controls whether local device logging executes.</a:t>
            </a:r>
            <a:endParaRPr/>
          </a:p>
          <a:p>
            <a:pPr indent="-228600" lvl="0" marL="228600" rtl="0" algn="l">
              <a:lnSpc>
                <a:spcPct val="100000"/>
              </a:lnSpc>
              <a:spcBef>
                <a:spcPts val="0"/>
              </a:spcBef>
              <a:spcAft>
                <a:spcPts val="0"/>
              </a:spcAft>
              <a:buSzPts val="1800"/>
              <a:buChar char="•"/>
            </a:pPr>
            <a:r>
              <a:rPr lang="en-US"/>
              <a:t>Robolink Zumi Programmable Cars</a:t>
            </a:r>
            <a:endParaRPr/>
          </a:p>
          <a:p>
            <a:pPr indent="-228600" lvl="1" marL="685800" rtl="0" algn="l">
              <a:lnSpc>
                <a:spcPct val="100000"/>
              </a:lnSpc>
              <a:spcBef>
                <a:spcPts val="0"/>
              </a:spcBef>
              <a:spcAft>
                <a:spcPts val="0"/>
              </a:spcAft>
              <a:buSzPts val="1800"/>
              <a:buChar char="•"/>
            </a:pPr>
            <a:r>
              <a:rPr b="1" lang="en-US"/>
              <a:t>Intended Machine:</a:t>
            </a:r>
            <a:endParaRPr b="1"/>
          </a:p>
          <a:p>
            <a:pPr indent="-228600" lvl="2" marL="1143000" rtl="0" algn="l">
              <a:lnSpc>
                <a:spcPct val="100000"/>
              </a:lnSpc>
              <a:spcBef>
                <a:spcPts val="0"/>
              </a:spcBef>
              <a:spcAft>
                <a:spcPts val="0"/>
              </a:spcAft>
              <a:buSzPts val="1800"/>
              <a:buChar char="•"/>
            </a:pPr>
            <a:r>
              <a:rPr lang="en-US"/>
              <a:t>Car executes code as entered, then stops</a:t>
            </a:r>
            <a:endParaRPr/>
          </a:p>
          <a:p>
            <a:pPr indent="-228600" lvl="1" marL="685800" rtl="0" algn="l">
              <a:lnSpc>
                <a:spcPct val="100000"/>
              </a:lnSpc>
              <a:spcBef>
                <a:spcPts val="0"/>
              </a:spcBef>
              <a:spcAft>
                <a:spcPts val="0"/>
              </a:spcAft>
              <a:buSzPts val="1800"/>
              <a:buChar char="•"/>
            </a:pPr>
            <a:r>
              <a:rPr b="1" lang="en-US"/>
              <a:t>Weird Machine:</a:t>
            </a:r>
            <a:endParaRPr b="1"/>
          </a:p>
          <a:p>
            <a:pPr indent="-228600" lvl="2" marL="1143000" rtl="0" algn="l">
              <a:lnSpc>
                <a:spcPct val="100000"/>
              </a:lnSpc>
              <a:spcBef>
                <a:spcPts val="0"/>
              </a:spcBef>
              <a:spcAft>
                <a:spcPts val="0"/>
              </a:spcAft>
              <a:buSzPts val="1800"/>
              <a:buChar char="•"/>
            </a:pPr>
            <a:r>
              <a:rPr lang="en-US"/>
              <a:t>Car catches on specific parts of code and loops</a:t>
            </a:r>
            <a:endParaRPr/>
          </a:p>
          <a:p>
            <a:pPr indent="-228600" lvl="2" marL="1143000" rtl="0" algn="l">
              <a:lnSpc>
                <a:spcPct val="100000"/>
              </a:lnSpc>
              <a:spcBef>
                <a:spcPts val="0"/>
              </a:spcBef>
              <a:spcAft>
                <a:spcPts val="0"/>
              </a:spcAft>
              <a:buSzPts val="1800"/>
              <a:buChar char="•"/>
            </a:pPr>
            <a:r>
              <a:rPr lang="en-US"/>
              <a:t>Sensor data as input to unintended state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g3b0d07ae252_2_0"/>
          <p:cNvSpPr txBox="1"/>
          <p:nvPr>
            <p:ph type="title"/>
          </p:nvPr>
        </p:nvSpPr>
        <p:spPr>
          <a:xfrm>
            <a:off x="521208" y="978408"/>
            <a:ext cx="11155800" cy="14631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Thinking about previous experiences and weird machines (cont.)</a:t>
            </a:r>
            <a:endParaRPr/>
          </a:p>
        </p:txBody>
      </p:sp>
      <p:sp>
        <p:nvSpPr>
          <p:cNvPr id="151" name="Google Shape;151;g3b0d07ae252_2_0"/>
          <p:cNvSpPr txBox="1"/>
          <p:nvPr>
            <p:ph idx="1" type="body"/>
          </p:nvPr>
        </p:nvSpPr>
        <p:spPr>
          <a:xfrm>
            <a:off x="521208" y="2578608"/>
            <a:ext cx="11155800" cy="3767400"/>
          </a:xfrm>
          <a:prstGeom prst="rect">
            <a:avLst/>
          </a:prstGeom>
          <a:noFill/>
          <a:ln>
            <a:noFill/>
          </a:ln>
        </p:spPr>
        <p:txBody>
          <a:bodyPr anchorCtr="0" anchor="t" bIns="45700" lIns="91425" spcFirstLastPara="1" rIns="91425" wrap="square" tIns="45700">
            <a:normAutofit/>
          </a:bodyPr>
          <a:lstStyle/>
          <a:p>
            <a:pPr indent="-228600" lvl="0" marL="228600" rtl="0" algn="l">
              <a:spcBef>
                <a:spcPts val="0"/>
              </a:spcBef>
              <a:spcAft>
                <a:spcPts val="0"/>
              </a:spcAft>
              <a:buSzPts val="1800"/>
              <a:buChar char="•"/>
            </a:pPr>
            <a:r>
              <a:rPr lang="en-US"/>
              <a:t>Swapping Movesets in Tekken 8 </a:t>
            </a:r>
            <a:endParaRPr b="1" sz="1300"/>
          </a:p>
          <a:p>
            <a:pPr indent="-215900" lvl="2" marL="1143000" rtl="0" algn="l">
              <a:spcBef>
                <a:spcPts val="0"/>
              </a:spcBef>
              <a:spcAft>
                <a:spcPts val="0"/>
              </a:spcAft>
              <a:buSzPts val="1600"/>
              <a:buChar char="•"/>
            </a:pPr>
            <a:r>
              <a:rPr lang="en-US" sz="1200"/>
              <a:t>Users were able to find a bug which allowed male characters to use an unintended slap move on female characters</a:t>
            </a:r>
            <a:endParaRPr sz="1200"/>
          </a:p>
          <a:p>
            <a:pPr indent="-215900" lvl="2" marL="1143000" rtl="0" algn="l">
              <a:spcBef>
                <a:spcPts val="0"/>
              </a:spcBef>
              <a:spcAft>
                <a:spcPts val="0"/>
              </a:spcAft>
              <a:buSzPts val="1600"/>
              <a:buChar char="•"/>
            </a:pPr>
            <a:r>
              <a:rPr lang="en-US" sz="1200"/>
              <a:t>Found through conditionals that incorporated stance changes, specific timing, and a reaction from the opposing character. </a:t>
            </a:r>
            <a:endParaRPr sz="1200"/>
          </a:p>
          <a:p>
            <a:pPr indent="-190500" lvl="2" marL="1143000" rtl="0" algn="l">
              <a:spcBef>
                <a:spcPts val="0"/>
              </a:spcBef>
              <a:spcAft>
                <a:spcPts val="0"/>
              </a:spcAft>
              <a:buSzPts val="1200"/>
              <a:buChar char="•"/>
            </a:pPr>
            <a:r>
              <a:rPr lang="en-US" sz="1200"/>
              <a:t>This allowed for even deeper exploitation, allowing for discoverable data. </a:t>
            </a:r>
            <a:endParaRPr sz="1200"/>
          </a:p>
          <a:p>
            <a:pPr indent="-215900" lvl="1" marL="685800" rtl="0" algn="l">
              <a:spcBef>
                <a:spcPts val="0"/>
              </a:spcBef>
              <a:spcAft>
                <a:spcPts val="0"/>
              </a:spcAft>
              <a:buSzPts val="1600"/>
              <a:buChar char="•"/>
            </a:pPr>
            <a:r>
              <a:rPr b="1" lang="en-US" sz="1400"/>
              <a:t>Intended Machine</a:t>
            </a:r>
            <a:endParaRPr b="1" sz="1400"/>
          </a:p>
          <a:p>
            <a:pPr indent="-190500" lvl="2" marL="1143000" rtl="0" algn="l">
              <a:spcBef>
                <a:spcPts val="0"/>
              </a:spcBef>
              <a:spcAft>
                <a:spcPts val="0"/>
              </a:spcAft>
              <a:buSzPts val="1200"/>
              <a:buChar char="•"/>
            </a:pPr>
            <a:r>
              <a:rPr lang="en-US" sz="1200"/>
              <a:t>A fighting game with rigid movesets, some moves being gender locked to certain characters. </a:t>
            </a:r>
            <a:endParaRPr sz="1200"/>
          </a:p>
          <a:p>
            <a:pPr indent="-317500" lvl="0" marL="914400" rtl="0" algn="l">
              <a:spcBef>
                <a:spcPts val="0"/>
              </a:spcBef>
              <a:spcAft>
                <a:spcPts val="0"/>
              </a:spcAft>
              <a:buSzPts val="1400"/>
              <a:buChar char="•"/>
            </a:pPr>
            <a:r>
              <a:rPr b="1" lang="en-US" sz="1400"/>
              <a:t>Weird machine</a:t>
            </a:r>
            <a:endParaRPr b="1" sz="1400"/>
          </a:p>
          <a:p>
            <a:pPr indent="-304800" lvl="1" marL="1371600" rtl="0" algn="l">
              <a:spcBef>
                <a:spcPts val="0"/>
              </a:spcBef>
              <a:spcAft>
                <a:spcPts val="0"/>
              </a:spcAft>
              <a:buSzPts val="1200"/>
              <a:buChar char="•"/>
            </a:pPr>
            <a:r>
              <a:rPr lang="en-US" sz="1200"/>
              <a:t>Everyone was able to respond to slap prompt, movesets became variables that allowed users to find new data. </a:t>
            </a:r>
            <a:endParaRPr b="1"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g3a71945877e_0_0"/>
          <p:cNvSpPr txBox="1"/>
          <p:nvPr>
            <p:ph type="title"/>
          </p:nvPr>
        </p:nvSpPr>
        <p:spPr>
          <a:xfrm>
            <a:off x="521208" y="978408"/>
            <a:ext cx="11155800" cy="1463100"/>
          </a:xfrm>
          <a:prstGeom prst="rect">
            <a:avLst/>
          </a:prstGeom>
        </p:spPr>
        <p:txBody>
          <a:bodyPr anchorCtr="0" anchor="t" bIns="45700" lIns="91425" spcFirstLastPara="1" rIns="91425" wrap="square" tIns="45700">
            <a:normAutofit/>
          </a:bodyPr>
          <a:lstStyle/>
          <a:p>
            <a:pPr indent="0" lvl="0" marL="0" rtl="0" algn="l">
              <a:spcBef>
                <a:spcPts val="0"/>
              </a:spcBef>
              <a:spcAft>
                <a:spcPts val="0"/>
              </a:spcAft>
              <a:buNone/>
            </a:pPr>
            <a:r>
              <a:rPr lang="en-US"/>
              <a:t>Weird</a:t>
            </a:r>
            <a:r>
              <a:rPr lang="en-US"/>
              <a:t> Machine Gadgets</a:t>
            </a:r>
            <a:endParaRPr/>
          </a:p>
        </p:txBody>
      </p:sp>
      <p:sp>
        <p:nvSpPr>
          <p:cNvPr id="157" name="Google Shape;157;g3a71945877e_0_0"/>
          <p:cNvSpPr txBox="1"/>
          <p:nvPr>
            <p:ph idx="1" type="body"/>
          </p:nvPr>
        </p:nvSpPr>
        <p:spPr>
          <a:xfrm>
            <a:off x="521205" y="2578600"/>
            <a:ext cx="3937800" cy="37674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b="1" lang="en-US" sz="2400"/>
              <a:t>What is a gadget?</a:t>
            </a:r>
            <a:br>
              <a:rPr lang="en-US"/>
            </a:br>
            <a:r>
              <a:rPr lang="en-US"/>
              <a:t>Set of architectural artifacts that can be composed to construct a program</a:t>
            </a:r>
            <a:endParaRPr/>
          </a:p>
          <a:p>
            <a:pPr indent="0" lvl="0" marL="0" rtl="0" algn="l">
              <a:spcBef>
                <a:spcPts val="1000"/>
              </a:spcBef>
              <a:spcAft>
                <a:spcPts val="0"/>
              </a:spcAft>
              <a:buNone/>
            </a:pPr>
            <a:r>
              <a:t/>
            </a:r>
            <a:endParaRPr/>
          </a:p>
          <a:p>
            <a:pPr indent="0" lvl="0" marL="0" rtl="0" algn="l">
              <a:spcBef>
                <a:spcPts val="1000"/>
              </a:spcBef>
              <a:spcAft>
                <a:spcPts val="0"/>
              </a:spcAft>
              <a:buNone/>
            </a:pPr>
            <a:r>
              <a:rPr lang="en-US"/>
              <a:t>Architectural artifacts can be:</a:t>
            </a:r>
            <a:endParaRPr/>
          </a:p>
          <a:p>
            <a:pPr indent="-361950" lvl="0" marL="457200" rtl="0" algn="l">
              <a:spcBef>
                <a:spcPts val="1000"/>
              </a:spcBef>
              <a:spcAft>
                <a:spcPts val="0"/>
              </a:spcAft>
              <a:buSzPts val="2100"/>
              <a:buChar char="●"/>
            </a:pPr>
            <a:r>
              <a:rPr lang="en-US" sz="2100"/>
              <a:t>Software</a:t>
            </a:r>
            <a:endParaRPr sz="2100"/>
          </a:p>
          <a:p>
            <a:pPr indent="-361950" lvl="0" marL="457200" rtl="0" algn="l">
              <a:spcBef>
                <a:spcPts val="0"/>
              </a:spcBef>
              <a:spcAft>
                <a:spcPts val="0"/>
              </a:spcAft>
              <a:buSzPts val="2100"/>
              <a:buChar char="●"/>
            </a:pPr>
            <a:r>
              <a:rPr lang="en-US" sz="2100"/>
              <a:t>Protocols</a:t>
            </a:r>
            <a:endParaRPr sz="2100"/>
          </a:p>
          <a:p>
            <a:pPr indent="-361950" lvl="0" marL="457200" rtl="0" algn="l">
              <a:spcBef>
                <a:spcPts val="0"/>
              </a:spcBef>
              <a:spcAft>
                <a:spcPts val="0"/>
              </a:spcAft>
              <a:buSzPts val="2100"/>
              <a:buChar char="●"/>
            </a:pPr>
            <a:r>
              <a:rPr lang="en-US" sz="2100"/>
              <a:t>Physical components</a:t>
            </a:r>
            <a:endParaRPr sz="2100"/>
          </a:p>
          <a:p>
            <a:pPr indent="0" lvl="0" marL="0" rtl="0" algn="l">
              <a:spcBef>
                <a:spcPts val="1000"/>
              </a:spcBef>
              <a:spcAft>
                <a:spcPts val="0"/>
              </a:spcAft>
              <a:buNone/>
            </a:pPr>
            <a:r>
              <a:t/>
            </a:r>
            <a:endParaRPr/>
          </a:p>
        </p:txBody>
      </p:sp>
      <p:sp>
        <p:nvSpPr>
          <p:cNvPr id="158" name="Google Shape;158;g3a71945877e_0_0"/>
          <p:cNvSpPr txBox="1"/>
          <p:nvPr/>
        </p:nvSpPr>
        <p:spPr>
          <a:xfrm>
            <a:off x="5041600" y="2441500"/>
            <a:ext cx="6379500" cy="350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b="1" lang="en-US" sz="1800" u="sng">
                <a:solidFill>
                  <a:schemeClr val="dk1"/>
                </a:solidFill>
              </a:rPr>
              <a:t>Example:</a:t>
            </a:r>
            <a:r>
              <a:rPr lang="en-US" sz="1800">
                <a:solidFill>
                  <a:schemeClr val="dk1"/>
                </a:solidFill>
              </a:rPr>
              <a:t> </a:t>
            </a:r>
            <a:r>
              <a:rPr lang="en-US" sz="1800">
                <a:solidFill>
                  <a:schemeClr val="dk1"/>
                </a:solidFill>
              </a:rPr>
              <a:t>Video Game </a:t>
            </a:r>
            <a:r>
              <a:rPr lang="en-US" sz="1800">
                <a:solidFill>
                  <a:schemeClr val="dk1"/>
                </a:solidFill>
              </a:rPr>
              <a:t>Save File Corruption</a:t>
            </a:r>
            <a:endParaRPr sz="1800">
              <a:solidFill>
                <a:schemeClr val="dk1"/>
              </a:solidFill>
            </a:endParaRPr>
          </a:p>
          <a:p>
            <a:pPr indent="0" lvl="0" marL="0" rtl="0" algn="l">
              <a:spcBef>
                <a:spcPts val="0"/>
              </a:spcBef>
              <a:spcAft>
                <a:spcPts val="0"/>
              </a:spcAft>
              <a:buClr>
                <a:schemeClr val="dk1"/>
              </a:buClr>
              <a:buSzPts val="1100"/>
              <a:buFont typeface="Arial"/>
              <a:buNone/>
            </a:pPr>
            <a:r>
              <a:t/>
            </a:r>
            <a:endParaRPr sz="1800">
              <a:solidFill>
                <a:schemeClr val="dk1"/>
              </a:solidFill>
            </a:endParaRPr>
          </a:p>
          <a:p>
            <a:pPr indent="0" lvl="0" marL="0" rtl="0" algn="l">
              <a:spcBef>
                <a:spcPts val="0"/>
              </a:spcBef>
              <a:spcAft>
                <a:spcPts val="0"/>
              </a:spcAft>
              <a:buClr>
                <a:schemeClr val="dk1"/>
              </a:buClr>
              <a:buSzPts val="1100"/>
              <a:buFont typeface="Arial"/>
              <a:buNone/>
            </a:pPr>
            <a:r>
              <a:rPr b="1" lang="en-US" sz="1800" u="sng">
                <a:solidFill>
                  <a:schemeClr val="dk1"/>
                </a:solidFill>
              </a:rPr>
              <a:t>Gadgets</a:t>
            </a:r>
            <a:r>
              <a:rPr b="1" lang="en-US" sz="1800">
                <a:solidFill>
                  <a:schemeClr val="dk1"/>
                </a:solidFill>
              </a:rPr>
              <a:t>: </a:t>
            </a:r>
            <a:r>
              <a:rPr lang="en-US" sz="1800">
                <a:solidFill>
                  <a:schemeClr val="dk1"/>
                </a:solidFill>
              </a:rPr>
              <a:t>Save file format, game state parser, memory layout</a:t>
            </a:r>
            <a:endParaRPr sz="1800">
              <a:solidFill>
                <a:schemeClr val="dk1"/>
              </a:solidFill>
            </a:endParaRPr>
          </a:p>
          <a:p>
            <a:pPr indent="0" lvl="0" marL="0" rtl="0" algn="l">
              <a:spcBef>
                <a:spcPts val="0"/>
              </a:spcBef>
              <a:spcAft>
                <a:spcPts val="0"/>
              </a:spcAft>
              <a:buClr>
                <a:schemeClr val="dk1"/>
              </a:buClr>
              <a:buSzPts val="1100"/>
              <a:buFont typeface="Arial"/>
              <a:buNone/>
            </a:pPr>
            <a:r>
              <a:t/>
            </a:r>
            <a:endParaRPr sz="1800">
              <a:solidFill>
                <a:schemeClr val="dk1"/>
              </a:solidFill>
            </a:endParaRPr>
          </a:p>
          <a:p>
            <a:pPr indent="0" lvl="0" marL="0" rtl="0" algn="l">
              <a:spcBef>
                <a:spcPts val="0"/>
              </a:spcBef>
              <a:spcAft>
                <a:spcPts val="0"/>
              </a:spcAft>
              <a:buClr>
                <a:schemeClr val="dk1"/>
              </a:buClr>
              <a:buSzPts val="1100"/>
              <a:buFont typeface="Arial"/>
              <a:buNone/>
            </a:pPr>
            <a:r>
              <a:rPr b="1" lang="en-US" sz="1800" u="sng">
                <a:solidFill>
                  <a:schemeClr val="dk1"/>
                </a:solidFill>
              </a:rPr>
              <a:t>Composition: </a:t>
            </a:r>
            <a:r>
              <a:rPr lang="en-US" sz="1800">
                <a:solidFill>
                  <a:schemeClr val="dk1"/>
                </a:solidFill>
              </a:rPr>
              <a:t>Carefully corrupt specific bytes in the Final Fantasy VII save file to gain extra items</a:t>
            </a:r>
            <a:endParaRPr sz="1800">
              <a:solidFill>
                <a:schemeClr val="dk1"/>
              </a:solidFill>
            </a:endParaRPr>
          </a:p>
          <a:p>
            <a:pPr indent="0" lvl="0" marL="0" rtl="0" algn="l">
              <a:spcBef>
                <a:spcPts val="0"/>
              </a:spcBef>
              <a:spcAft>
                <a:spcPts val="0"/>
              </a:spcAft>
              <a:buClr>
                <a:schemeClr val="dk1"/>
              </a:buClr>
              <a:buSzPts val="1100"/>
              <a:buFont typeface="Arial"/>
              <a:buNone/>
            </a:pPr>
            <a:r>
              <a:t/>
            </a:r>
            <a:endParaRPr sz="1800">
              <a:solidFill>
                <a:schemeClr val="dk1"/>
              </a:solidFill>
            </a:endParaRPr>
          </a:p>
          <a:p>
            <a:pPr indent="0" lvl="0" marL="0" rtl="0" algn="l">
              <a:spcBef>
                <a:spcPts val="0"/>
              </a:spcBef>
              <a:spcAft>
                <a:spcPts val="0"/>
              </a:spcAft>
              <a:buClr>
                <a:schemeClr val="dk1"/>
              </a:buClr>
              <a:buSzPts val="1100"/>
              <a:buFont typeface="Arial"/>
              <a:buNone/>
            </a:pPr>
            <a:r>
              <a:rPr i="1" lang="en-US" sz="1800" u="sng">
                <a:solidFill>
                  <a:schemeClr val="dk1"/>
                </a:solidFill>
              </a:rPr>
              <a:t>The Final Fantasy VII save file is just data, but when the parser crashes on malformed input, it becomes a lever for control.</a:t>
            </a:r>
            <a:endParaRPr i="1" sz="1800" u="sng">
              <a:solidFill>
                <a:schemeClr val="dk1"/>
              </a:solidFill>
            </a:endParaRPr>
          </a:p>
          <a:p>
            <a:pPr indent="0" lvl="0" marL="0" rtl="0" algn="l">
              <a:spcBef>
                <a:spcPts val="0"/>
              </a:spcBef>
              <a:spcAft>
                <a:spcPts val="0"/>
              </a:spcAft>
              <a:buNone/>
            </a:pPr>
            <a:r>
              <a:t/>
            </a:r>
            <a:endParaRPr sz="1800">
              <a:solidFill>
                <a:schemeClr val="dk1"/>
              </a:solidFill>
            </a:endParaRPr>
          </a:p>
        </p:txBody>
      </p:sp>
      <p:pic>
        <p:nvPicPr>
          <p:cNvPr id="159" name="Google Shape;159;g3a71945877e_0_0"/>
          <p:cNvPicPr preferRelativeResize="0"/>
          <p:nvPr/>
        </p:nvPicPr>
        <p:blipFill>
          <a:blip r:embed="rId3">
            <a:alphaModFix/>
          </a:blip>
          <a:stretch>
            <a:fillRect/>
          </a:stretch>
        </p:blipFill>
        <p:spPr>
          <a:xfrm>
            <a:off x="9981325" y="85825"/>
            <a:ext cx="2276451" cy="30352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63" name="Shape 163"/>
        <p:cNvGrpSpPr/>
        <p:nvPr/>
      </p:nvGrpSpPr>
      <p:grpSpPr>
        <a:xfrm>
          <a:off x="0" y="0"/>
          <a:ext cx="0" cy="0"/>
          <a:chOff x="0" y="0"/>
          <a:chExt cx="0" cy="0"/>
        </a:xfrm>
      </p:grpSpPr>
      <p:sp>
        <p:nvSpPr>
          <p:cNvPr id="164" name="Google Shape;164;p6"/>
          <p:cNvSpPr/>
          <p:nvPr/>
        </p:nvSpPr>
        <p:spPr>
          <a:xfrm>
            <a:off x="0" y="0"/>
            <a:ext cx="12188952" cy="685799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800"/>
              <a:buFont typeface="Arial"/>
              <a:buNone/>
            </a:pPr>
            <a:r>
              <a:t/>
            </a:r>
            <a:endParaRPr b="0" i="0" sz="1800" u="none" cap="none" strike="noStrike">
              <a:solidFill>
                <a:srgbClr val="FFFFFF"/>
              </a:solidFill>
              <a:latin typeface="Arial"/>
              <a:ea typeface="Arial"/>
              <a:cs typeface="Arial"/>
              <a:sym typeface="Arial"/>
            </a:endParaRPr>
          </a:p>
        </p:txBody>
      </p:sp>
      <p:sp>
        <p:nvSpPr>
          <p:cNvPr id="165" name="Google Shape;165;p6"/>
          <p:cNvSpPr txBox="1"/>
          <p:nvPr>
            <p:ph type="title"/>
          </p:nvPr>
        </p:nvSpPr>
        <p:spPr>
          <a:xfrm>
            <a:off x="521208" y="978408"/>
            <a:ext cx="3200400" cy="2432304"/>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dk1"/>
              </a:buClr>
              <a:buSzPts val="3700"/>
              <a:buFont typeface="Arial"/>
              <a:buNone/>
            </a:pPr>
            <a:r>
              <a:rPr b="1" lang="en-US" sz="3700">
                <a:solidFill>
                  <a:schemeClr val="dk1"/>
                </a:solidFill>
                <a:latin typeface="Arial"/>
                <a:ea typeface="Arial"/>
                <a:cs typeface="Arial"/>
                <a:sym typeface="Arial"/>
              </a:rPr>
              <a:t>Architectural Weird Machines</a:t>
            </a:r>
            <a:endParaRPr/>
          </a:p>
        </p:txBody>
      </p:sp>
      <p:sp>
        <p:nvSpPr>
          <p:cNvPr id="166" name="Google Shape;166;p6"/>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800"/>
              <a:buFont typeface="Arial"/>
              <a:buNone/>
            </a:pPr>
            <a:r>
              <a:t/>
            </a:r>
            <a:endParaRPr b="0" i="0" sz="1800" u="none" cap="none" strike="noStrike">
              <a:solidFill>
                <a:srgbClr val="FFFFFF"/>
              </a:solidFill>
              <a:latin typeface="Arial"/>
              <a:ea typeface="Arial"/>
              <a:cs typeface="Arial"/>
              <a:sym typeface="Arial"/>
            </a:endParaRPr>
          </a:p>
        </p:txBody>
      </p:sp>
      <p:sp>
        <p:nvSpPr>
          <p:cNvPr id="167" name="Google Shape;167;p6"/>
          <p:cNvSpPr txBox="1"/>
          <p:nvPr/>
        </p:nvSpPr>
        <p:spPr>
          <a:xfrm>
            <a:off x="521208" y="3538728"/>
            <a:ext cx="3200400" cy="2816352"/>
          </a:xfrm>
          <a:prstGeom prst="rect">
            <a:avLst/>
          </a:prstGeom>
          <a:noFill/>
          <a:ln>
            <a:noFill/>
          </a:ln>
        </p:spPr>
        <p:txBody>
          <a:bodyPr anchorCtr="0" anchor="t" bIns="45700" lIns="91425" spcFirstLastPara="1" rIns="91425" wrap="square" tIns="45700">
            <a:normAutofit/>
          </a:bodyPr>
          <a:lstStyle/>
          <a:p>
            <a:pPr indent="0" lvl="0" marL="0" marR="0" rtl="0" algn="l">
              <a:lnSpc>
                <a:spcPct val="110000"/>
              </a:lnSpc>
              <a:spcBef>
                <a:spcPts val="0"/>
              </a:spcBef>
              <a:spcAft>
                <a:spcPts val="0"/>
              </a:spcAft>
              <a:buClr>
                <a:schemeClr val="dk1"/>
              </a:buClr>
              <a:buSzPts val="1800"/>
              <a:buFont typeface="Arial"/>
              <a:buChar char="•"/>
            </a:pPr>
            <a:r>
              <a:rPr b="0" i="0" lang="en-US" sz="1800" u="none" cap="none" strike="noStrike">
                <a:solidFill>
                  <a:schemeClr val="dk1"/>
                </a:solidFill>
                <a:latin typeface="Arial"/>
                <a:ea typeface="Arial"/>
                <a:cs typeface="Arial"/>
                <a:sym typeface="Arial"/>
              </a:rPr>
              <a:t>Unlike traditional weird machines which use code-level gadgets, architectural gadgets exploit the interactions across system boundaries, communication channels, and operational constraints.</a:t>
            </a:r>
            <a:endParaRPr/>
          </a:p>
        </p:txBody>
      </p:sp>
      <p:pic>
        <p:nvPicPr>
          <p:cNvPr id="168" name="Google Shape;168;p6"/>
          <p:cNvPicPr preferRelativeResize="0"/>
          <p:nvPr>
            <p:ph idx="1" type="body"/>
          </p:nvPr>
        </p:nvPicPr>
        <p:blipFill rotWithShape="1">
          <a:blip r:embed="rId3">
            <a:alphaModFix/>
          </a:blip>
          <a:srcRect b="-2" l="6437" r="-2" t="0"/>
          <a:stretch/>
        </p:blipFill>
        <p:spPr>
          <a:xfrm>
            <a:off x="4136609" y="970929"/>
            <a:ext cx="7534183" cy="537507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7"/>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Our Wind Energy Testbed</a:t>
            </a:r>
            <a:endParaRPr/>
          </a:p>
        </p:txBody>
      </p:sp>
      <p:pic>
        <p:nvPicPr>
          <p:cNvPr id="174" name="Google Shape;174;p7"/>
          <p:cNvPicPr preferRelativeResize="0"/>
          <p:nvPr/>
        </p:nvPicPr>
        <p:blipFill>
          <a:blip r:embed="rId3">
            <a:alphaModFix/>
          </a:blip>
          <a:stretch>
            <a:fillRect/>
          </a:stretch>
        </p:blipFill>
        <p:spPr>
          <a:xfrm>
            <a:off x="100325" y="1708400"/>
            <a:ext cx="12192000" cy="5024438"/>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g3b0d07ae252_9_2"/>
          <p:cNvSpPr txBox="1"/>
          <p:nvPr>
            <p:ph type="title"/>
          </p:nvPr>
        </p:nvSpPr>
        <p:spPr>
          <a:xfrm>
            <a:off x="521208" y="978408"/>
            <a:ext cx="11155800" cy="14631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Wind Energy Testbed Weird Gadgets: Modbus</a:t>
            </a:r>
            <a:endParaRPr/>
          </a:p>
        </p:txBody>
      </p:sp>
      <p:sp>
        <p:nvSpPr>
          <p:cNvPr id="180" name="Google Shape;180;g3b0d07ae252_9_2"/>
          <p:cNvSpPr txBox="1"/>
          <p:nvPr>
            <p:ph idx="1" type="body"/>
          </p:nvPr>
        </p:nvSpPr>
        <p:spPr>
          <a:xfrm>
            <a:off x="521200" y="2441450"/>
            <a:ext cx="6803400" cy="4177500"/>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1800"/>
              <a:buChar char="•"/>
            </a:pPr>
            <a:r>
              <a:rPr lang="en-US"/>
              <a:t>The testbed uses 16 function code (FC01-FC16) that operate like opcodes in a computer’s instruction set. The most significant ones include:</a:t>
            </a:r>
            <a:endParaRPr/>
          </a:p>
          <a:p>
            <a:pPr indent="0" lvl="0" marL="228600" rtl="0" algn="l">
              <a:lnSpc>
                <a:spcPct val="110000"/>
              </a:lnSpc>
              <a:spcBef>
                <a:spcPts val="0"/>
              </a:spcBef>
              <a:spcAft>
                <a:spcPts val="0"/>
              </a:spcAft>
              <a:buNone/>
            </a:pPr>
            <a:r>
              <a:t/>
            </a:r>
            <a:endParaRPr/>
          </a:p>
          <a:p>
            <a:pPr indent="-228600" lvl="0" marL="228600" rtl="0" algn="l">
              <a:lnSpc>
                <a:spcPct val="200000"/>
              </a:lnSpc>
              <a:spcBef>
                <a:spcPts val="0"/>
              </a:spcBef>
              <a:spcAft>
                <a:spcPts val="0"/>
              </a:spcAft>
              <a:buSzPts val="1800"/>
              <a:buChar char="•"/>
            </a:pPr>
            <a:r>
              <a:rPr lang="en-US"/>
              <a:t>FC01 (Read Coils): Boolean read operations</a:t>
            </a:r>
            <a:endParaRPr/>
          </a:p>
          <a:p>
            <a:pPr indent="-228600" lvl="0" marL="228600" rtl="0" algn="l">
              <a:lnSpc>
                <a:spcPct val="200000"/>
              </a:lnSpc>
              <a:spcBef>
                <a:spcPts val="0"/>
              </a:spcBef>
              <a:spcAft>
                <a:spcPts val="0"/>
              </a:spcAft>
              <a:buSzPts val="1800"/>
              <a:buChar char="•"/>
            </a:pPr>
            <a:r>
              <a:rPr lang="en-US"/>
              <a:t>FC03 (Read Holding Registers): Memory read operations</a:t>
            </a:r>
            <a:endParaRPr/>
          </a:p>
          <a:p>
            <a:pPr indent="-228600" lvl="0" marL="228600" rtl="0" algn="l">
              <a:lnSpc>
                <a:spcPct val="200000"/>
              </a:lnSpc>
              <a:spcBef>
                <a:spcPts val="0"/>
              </a:spcBef>
              <a:spcAft>
                <a:spcPts val="0"/>
              </a:spcAft>
              <a:buSzPts val="1800"/>
              <a:buChar char="•"/>
            </a:pPr>
            <a:r>
              <a:rPr lang="en-US"/>
              <a:t>FC05 (Write </a:t>
            </a:r>
            <a:r>
              <a:rPr lang="en-US"/>
              <a:t>Single</a:t>
            </a:r>
            <a:r>
              <a:rPr lang="en-US"/>
              <a:t> Coil): Boolean write operations</a:t>
            </a:r>
            <a:endParaRPr/>
          </a:p>
          <a:p>
            <a:pPr indent="-228600" lvl="0" marL="228600" rtl="0" algn="l">
              <a:lnSpc>
                <a:spcPct val="200000"/>
              </a:lnSpc>
              <a:spcBef>
                <a:spcPts val="0"/>
              </a:spcBef>
              <a:spcAft>
                <a:spcPts val="0"/>
              </a:spcAft>
              <a:buSzPts val="1800"/>
              <a:buChar char="•"/>
            </a:pPr>
            <a:r>
              <a:rPr lang="en-US"/>
              <a:t>FC06 (Write Single Register): Memory write operations</a:t>
            </a:r>
            <a:endParaRPr/>
          </a:p>
        </p:txBody>
      </p:sp>
      <p:pic>
        <p:nvPicPr>
          <p:cNvPr id="181" name="Google Shape;181;g3b0d07ae252_9_2"/>
          <p:cNvPicPr preferRelativeResize="0"/>
          <p:nvPr/>
        </p:nvPicPr>
        <p:blipFill>
          <a:blip r:embed="rId3">
            <a:alphaModFix/>
          </a:blip>
          <a:stretch>
            <a:fillRect/>
          </a:stretch>
        </p:blipFill>
        <p:spPr>
          <a:xfrm>
            <a:off x="7879250" y="2474358"/>
            <a:ext cx="4111692" cy="411169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g3b0d07ae252_5_0"/>
          <p:cNvSpPr txBox="1"/>
          <p:nvPr>
            <p:ph type="title"/>
          </p:nvPr>
        </p:nvSpPr>
        <p:spPr>
          <a:xfrm>
            <a:off x="521208" y="978408"/>
            <a:ext cx="11155800" cy="14631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Wind Energy Testbed Weird Gadgets</a:t>
            </a:r>
            <a:endParaRPr/>
          </a:p>
        </p:txBody>
      </p:sp>
      <p:sp>
        <p:nvSpPr>
          <p:cNvPr id="187" name="Google Shape;187;g3b0d07ae252_5_0"/>
          <p:cNvSpPr txBox="1"/>
          <p:nvPr>
            <p:ph idx="1" type="body"/>
          </p:nvPr>
        </p:nvSpPr>
        <p:spPr>
          <a:xfrm>
            <a:off x="521200" y="2441450"/>
            <a:ext cx="7020000" cy="4177500"/>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1800"/>
              <a:buChar char="•"/>
            </a:pPr>
            <a:r>
              <a:rPr lang="en-US"/>
              <a:t>Core Idea: Using the Modbus Protocol “opcodes” we can create </a:t>
            </a:r>
            <a:r>
              <a:rPr lang="en-US"/>
              <a:t>computational</a:t>
            </a:r>
            <a:r>
              <a:rPr lang="en-US"/>
              <a:t> behavior through composition.</a:t>
            </a:r>
            <a:endParaRPr/>
          </a:p>
          <a:p>
            <a:pPr indent="-228600" lvl="0" marL="228600" rtl="0" algn="l">
              <a:lnSpc>
                <a:spcPct val="150000"/>
              </a:lnSpc>
              <a:spcBef>
                <a:spcPts val="0"/>
              </a:spcBef>
              <a:spcAft>
                <a:spcPts val="0"/>
              </a:spcAft>
              <a:buSzPts val="1800"/>
              <a:buChar char="•"/>
            </a:pPr>
            <a:r>
              <a:rPr lang="en-US"/>
              <a:t>Gadget Stack (3 layers):</a:t>
            </a:r>
            <a:endParaRPr/>
          </a:p>
          <a:p>
            <a:pPr indent="-342900" lvl="1" marL="914400" rtl="0" algn="l">
              <a:lnSpc>
                <a:spcPct val="150000"/>
              </a:lnSpc>
              <a:spcBef>
                <a:spcPts val="0"/>
              </a:spcBef>
              <a:spcAft>
                <a:spcPts val="0"/>
              </a:spcAft>
              <a:buSzPts val="1800"/>
              <a:buChar char="•"/>
            </a:pPr>
            <a:r>
              <a:rPr b="1" lang="en-US"/>
              <a:t>PPG (Protocol Processing Gadgets)</a:t>
            </a:r>
            <a:endParaRPr b="1"/>
          </a:p>
          <a:p>
            <a:pPr indent="-342900" lvl="2" marL="1371600" rtl="0" algn="l">
              <a:lnSpc>
                <a:spcPct val="150000"/>
              </a:lnSpc>
              <a:spcBef>
                <a:spcPts val="0"/>
              </a:spcBef>
              <a:spcAft>
                <a:spcPts val="0"/>
              </a:spcAft>
              <a:buSzPts val="1800"/>
              <a:buChar char="•"/>
            </a:pPr>
            <a:r>
              <a:rPr lang="en-US"/>
              <a:t>Provide register/coil read+write and increment/decrement primitives</a:t>
            </a:r>
            <a:endParaRPr/>
          </a:p>
          <a:p>
            <a:pPr indent="-342900" lvl="1" marL="914400" rtl="0" algn="l">
              <a:lnSpc>
                <a:spcPct val="150000"/>
              </a:lnSpc>
              <a:spcBef>
                <a:spcPts val="0"/>
              </a:spcBef>
              <a:spcAft>
                <a:spcPts val="0"/>
              </a:spcAft>
              <a:buSzPts val="1800"/>
              <a:buChar char="•"/>
            </a:pPr>
            <a:r>
              <a:rPr b="1" lang="en-US"/>
              <a:t>CLG (Conditional Logic Gadget)</a:t>
            </a:r>
            <a:endParaRPr b="1"/>
          </a:p>
          <a:p>
            <a:pPr indent="-342900" lvl="2" marL="1371600" rtl="0" algn="l">
              <a:lnSpc>
                <a:spcPct val="150000"/>
              </a:lnSpc>
              <a:spcBef>
                <a:spcPts val="0"/>
              </a:spcBef>
              <a:spcAft>
                <a:spcPts val="0"/>
              </a:spcAft>
              <a:buSzPts val="1800"/>
              <a:buChar char="•"/>
            </a:pPr>
            <a:r>
              <a:rPr lang="en-US"/>
              <a:t>CLGs provide emergent control-flow-like behavior using only protocol interactions such as while-loops, if-statements, and do-while loop</a:t>
            </a:r>
            <a:endParaRPr/>
          </a:p>
          <a:p>
            <a:pPr indent="-342900" lvl="1" marL="914400" rtl="0" algn="l">
              <a:lnSpc>
                <a:spcPct val="150000"/>
              </a:lnSpc>
              <a:spcBef>
                <a:spcPts val="0"/>
              </a:spcBef>
              <a:spcAft>
                <a:spcPts val="0"/>
              </a:spcAft>
              <a:buSzPts val="1800"/>
              <a:buChar char="•"/>
            </a:pPr>
            <a:r>
              <a:rPr b="1" lang="en-US"/>
              <a:t>Composite Gadgets</a:t>
            </a:r>
            <a:endParaRPr b="1"/>
          </a:p>
          <a:p>
            <a:pPr indent="-342900" lvl="2" marL="1371600" rtl="0" algn="l">
              <a:lnSpc>
                <a:spcPct val="150000"/>
              </a:lnSpc>
              <a:spcBef>
                <a:spcPts val="0"/>
              </a:spcBef>
              <a:spcAft>
                <a:spcPts val="0"/>
              </a:spcAft>
              <a:buSzPts val="1800"/>
              <a:buChar char="•"/>
            </a:pPr>
            <a:r>
              <a:rPr lang="en-US"/>
              <a:t>Higher-level logic like a State Machine or a Conditional Executor</a:t>
            </a:r>
            <a:endParaRPr/>
          </a:p>
        </p:txBody>
      </p:sp>
      <p:pic>
        <p:nvPicPr>
          <p:cNvPr id="188" name="Google Shape;188;g3b0d07ae252_5_0"/>
          <p:cNvPicPr preferRelativeResize="0"/>
          <p:nvPr/>
        </p:nvPicPr>
        <p:blipFill>
          <a:blip r:embed="rId3">
            <a:alphaModFix/>
          </a:blip>
          <a:stretch>
            <a:fillRect/>
          </a:stretch>
        </p:blipFill>
        <p:spPr>
          <a:xfrm>
            <a:off x="7810776" y="2441450"/>
            <a:ext cx="4136400" cy="39569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9"/>
          <p:cNvSpPr txBox="1"/>
          <p:nvPr/>
        </p:nvSpPr>
        <p:spPr>
          <a:xfrm>
            <a:off x="518108" y="630883"/>
            <a:ext cx="11155800" cy="14631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None/>
            </a:pPr>
            <a:r>
              <a:rPr b="1" lang="en-US" sz="4400">
                <a:solidFill>
                  <a:srgbClr val="000000"/>
                </a:solidFill>
              </a:rPr>
              <a:t>Building weird machines can be hard when you have a software mindset</a:t>
            </a:r>
            <a:endParaRPr b="1" sz="4400">
              <a:solidFill>
                <a:srgbClr val="000000"/>
              </a:solidFill>
            </a:endParaRPr>
          </a:p>
        </p:txBody>
      </p:sp>
      <p:sp>
        <p:nvSpPr>
          <p:cNvPr id="194" name="Google Shape;194;p9"/>
          <p:cNvSpPr txBox="1"/>
          <p:nvPr/>
        </p:nvSpPr>
        <p:spPr>
          <a:xfrm>
            <a:off x="232225" y="2093975"/>
            <a:ext cx="3670500" cy="1749000"/>
          </a:xfrm>
          <a:prstGeom prst="rect">
            <a:avLst/>
          </a:prstGeom>
          <a:noFill/>
          <a:ln>
            <a:noFill/>
          </a:ln>
        </p:spPr>
        <p:txBody>
          <a:bodyPr anchorCtr="0" anchor="t" bIns="45700" lIns="91425" spcFirstLastPara="1" rIns="91425" wrap="square" tIns="45700">
            <a:normAutofit/>
          </a:bodyPr>
          <a:lstStyle/>
          <a:p>
            <a:pPr indent="0" lvl="0" marL="0" rtl="0" algn="l">
              <a:lnSpc>
                <a:spcPct val="110000"/>
              </a:lnSpc>
              <a:spcBef>
                <a:spcPts val="0"/>
              </a:spcBef>
              <a:spcAft>
                <a:spcPts val="0"/>
              </a:spcAft>
              <a:buNone/>
            </a:pPr>
            <a:r>
              <a:rPr b="1" lang="en-US" sz="1800">
                <a:solidFill>
                  <a:srgbClr val="000000"/>
                </a:solidFill>
              </a:rPr>
              <a:t>Software mindset assumes:</a:t>
            </a:r>
            <a:endParaRPr b="1" sz="1800">
              <a:solidFill>
                <a:srgbClr val="000000"/>
              </a:solidFill>
            </a:endParaRPr>
          </a:p>
          <a:p>
            <a:pPr indent="-336550" lvl="1" marL="914400" rtl="0" algn="l">
              <a:lnSpc>
                <a:spcPct val="110000"/>
              </a:lnSpc>
              <a:spcBef>
                <a:spcPts val="0"/>
              </a:spcBef>
              <a:spcAft>
                <a:spcPts val="0"/>
              </a:spcAft>
              <a:buClr>
                <a:srgbClr val="000000"/>
              </a:buClr>
              <a:buSzPts val="1700"/>
              <a:buChar char="•"/>
            </a:pPr>
            <a:r>
              <a:rPr lang="en-US" sz="1500">
                <a:solidFill>
                  <a:srgbClr val="000000"/>
                </a:solidFill>
              </a:rPr>
              <a:t>Clear APIs</a:t>
            </a:r>
            <a:endParaRPr sz="1500">
              <a:solidFill>
                <a:srgbClr val="000000"/>
              </a:solidFill>
            </a:endParaRPr>
          </a:p>
          <a:p>
            <a:pPr indent="-336550" lvl="1" marL="914400" rtl="0" algn="l">
              <a:lnSpc>
                <a:spcPct val="110000"/>
              </a:lnSpc>
              <a:spcBef>
                <a:spcPts val="0"/>
              </a:spcBef>
              <a:spcAft>
                <a:spcPts val="0"/>
              </a:spcAft>
              <a:buClr>
                <a:srgbClr val="000000"/>
              </a:buClr>
              <a:buSzPts val="1700"/>
              <a:buChar char="•"/>
            </a:pPr>
            <a:r>
              <a:rPr lang="en-US" sz="1500">
                <a:solidFill>
                  <a:srgbClr val="000000"/>
                </a:solidFill>
              </a:rPr>
              <a:t>Deterministic behavior</a:t>
            </a:r>
            <a:endParaRPr sz="1500">
              <a:solidFill>
                <a:srgbClr val="000000"/>
              </a:solidFill>
            </a:endParaRPr>
          </a:p>
          <a:p>
            <a:pPr indent="-336550" lvl="1" marL="914400" rtl="0" algn="l">
              <a:lnSpc>
                <a:spcPct val="110000"/>
              </a:lnSpc>
              <a:spcBef>
                <a:spcPts val="0"/>
              </a:spcBef>
              <a:spcAft>
                <a:spcPts val="0"/>
              </a:spcAft>
              <a:buClr>
                <a:srgbClr val="000000"/>
              </a:buClr>
              <a:buSzPts val="1700"/>
              <a:buChar char="•"/>
            </a:pPr>
            <a:r>
              <a:rPr lang="en-US" sz="1500">
                <a:solidFill>
                  <a:srgbClr val="000000"/>
                </a:solidFill>
              </a:rPr>
              <a:t>Separation between control and execution</a:t>
            </a:r>
            <a:endParaRPr sz="1500">
              <a:solidFill>
                <a:srgbClr val="000000"/>
              </a:solidFill>
            </a:endParaRPr>
          </a:p>
        </p:txBody>
      </p:sp>
      <p:sp>
        <p:nvSpPr>
          <p:cNvPr id="195" name="Google Shape;195;p9"/>
          <p:cNvSpPr txBox="1"/>
          <p:nvPr/>
        </p:nvSpPr>
        <p:spPr>
          <a:xfrm>
            <a:off x="4494847" y="6240243"/>
            <a:ext cx="7864500" cy="643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1000"/>
              </a:spcBef>
              <a:spcAft>
                <a:spcPts val="0"/>
              </a:spcAft>
              <a:buNone/>
            </a:pPr>
            <a:r>
              <a:rPr lang="en-US" sz="1800">
                <a:solidFill>
                  <a:srgbClr val="000000"/>
                </a:solidFill>
              </a:rPr>
              <a:t>GitHub Repository: https://github.com/rossgore/weird_machine_gadgets</a:t>
            </a:r>
            <a:endParaRPr sz="1800">
              <a:solidFill>
                <a:srgbClr val="000000"/>
              </a:solidFill>
            </a:endParaRPr>
          </a:p>
        </p:txBody>
      </p:sp>
      <p:sp>
        <p:nvSpPr>
          <p:cNvPr id="196" name="Google Shape;196;p9"/>
          <p:cNvSpPr txBox="1"/>
          <p:nvPr/>
        </p:nvSpPr>
        <p:spPr>
          <a:xfrm>
            <a:off x="3902725" y="2093975"/>
            <a:ext cx="4271700" cy="1749000"/>
          </a:xfrm>
          <a:prstGeom prst="rect">
            <a:avLst/>
          </a:prstGeom>
          <a:noFill/>
          <a:ln>
            <a:noFill/>
          </a:ln>
        </p:spPr>
        <p:txBody>
          <a:bodyPr anchorCtr="0" anchor="t" bIns="45700" lIns="91425" spcFirstLastPara="1" rIns="91425" wrap="square" tIns="45700">
            <a:normAutofit lnSpcReduction="20000"/>
          </a:bodyPr>
          <a:lstStyle/>
          <a:p>
            <a:pPr indent="0" lvl="0" marL="0" rtl="0" algn="l">
              <a:lnSpc>
                <a:spcPct val="110000"/>
              </a:lnSpc>
              <a:spcBef>
                <a:spcPts val="0"/>
              </a:spcBef>
              <a:spcAft>
                <a:spcPts val="0"/>
              </a:spcAft>
              <a:buNone/>
            </a:pPr>
            <a:r>
              <a:rPr b="1" lang="en-US" sz="1800">
                <a:solidFill>
                  <a:srgbClr val="000000"/>
                </a:solidFill>
              </a:rPr>
              <a:t>Cyber-physical reality breaks those assumptions:</a:t>
            </a:r>
            <a:endParaRPr b="1" sz="1800">
              <a:solidFill>
                <a:srgbClr val="000000"/>
              </a:solidFill>
            </a:endParaRPr>
          </a:p>
          <a:p>
            <a:pPr indent="-336550" lvl="1" marL="914400" rtl="0" algn="l">
              <a:lnSpc>
                <a:spcPct val="110000"/>
              </a:lnSpc>
              <a:spcBef>
                <a:spcPts val="0"/>
              </a:spcBef>
              <a:spcAft>
                <a:spcPts val="0"/>
              </a:spcAft>
              <a:buClr>
                <a:srgbClr val="000000"/>
              </a:buClr>
              <a:buSzPts val="1700"/>
              <a:buChar char="•"/>
            </a:pPr>
            <a:r>
              <a:rPr lang="en-US" sz="1500">
                <a:solidFill>
                  <a:srgbClr val="000000"/>
                </a:solidFill>
              </a:rPr>
              <a:t>Software decisions directly affect physical state</a:t>
            </a:r>
            <a:endParaRPr sz="1500">
              <a:solidFill>
                <a:srgbClr val="000000"/>
              </a:solidFill>
            </a:endParaRPr>
          </a:p>
          <a:p>
            <a:pPr indent="-336550" lvl="1" marL="914400" rtl="0" algn="l">
              <a:lnSpc>
                <a:spcPct val="110000"/>
              </a:lnSpc>
              <a:spcBef>
                <a:spcPts val="0"/>
              </a:spcBef>
              <a:spcAft>
                <a:spcPts val="0"/>
              </a:spcAft>
              <a:buClr>
                <a:srgbClr val="000000"/>
              </a:buClr>
              <a:buSzPts val="1700"/>
              <a:buChar char="•"/>
            </a:pPr>
            <a:r>
              <a:rPr lang="en-US" sz="1500">
                <a:solidFill>
                  <a:srgbClr val="000000"/>
                </a:solidFill>
              </a:rPr>
              <a:t>Hardware timing, sensors, and actuators introduce tangible side effects</a:t>
            </a:r>
            <a:endParaRPr sz="1500">
              <a:solidFill>
                <a:srgbClr val="000000"/>
              </a:solidFill>
            </a:endParaRPr>
          </a:p>
        </p:txBody>
      </p:sp>
      <p:sp>
        <p:nvSpPr>
          <p:cNvPr id="197" name="Google Shape;197;p9"/>
          <p:cNvSpPr txBox="1"/>
          <p:nvPr/>
        </p:nvSpPr>
        <p:spPr>
          <a:xfrm>
            <a:off x="8237400" y="2124425"/>
            <a:ext cx="3436500" cy="1688100"/>
          </a:xfrm>
          <a:prstGeom prst="rect">
            <a:avLst/>
          </a:prstGeom>
          <a:noFill/>
          <a:ln>
            <a:noFill/>
          </a:ln>
        </p:spPr>
        <p:txBody>
          <a:bodyPr anchorCtr="0" anchor="t" bIns="45700" lIns="91425" spcFirstLastPara="1" rIns="91425" wrap="square" tIns="45700">
            <a:normAutofit/>
          </a:bodyPr>
          <a:lstStyle/>
          <a:p>
            <a:pPr indent="0" lvl="0" marL="0" rtl="0" algn="l">
              <a:lnSpc>
                <a:spcPct val="110000"/>
              </a:lnSpc>
              <a:spcBef>
                <a:spcPts val="1000"/>
              </a:spcBef>
              <a:spcAft>
                <a:spcPts val="0"/>
              </a:spcAft>
              <a:buNone/>
            </a:pPr>
            <a:r>
              <a:rPr b="1" lang="en-US" sz="1800">
                <a:solidFill>
                  <a:srgbClr val="000000"/>
                </a:solidFill>
              </a:rPr>
              <a:t>Weird machines Emerge:</a:t>
            </a:r>
            <a:endParaRPr b="1" sz="1800">
              <a:solidFill>
                <a:srgbClr val="000000"/>
              </a:solidFill>
            </a:endParaRPr>
          </a:p>
          <a:p>
            <a:pPr indent="-323850" lvl="0" marL="457200" rtl="0" algn="l">
              <a:lnSpc>
                <a:spcPct val="110000"/>
              </a:lnSpc>
              <a:spcBef>
                <a:spcPts val="1000"/>
              </a:spcBef>
              <a:spcAft>
                <a:spcPts val="0"/>
              </a:spcAft>
              <a:buClr>
                <a:srgbClr val="000000"/>
              </a:buClr>
              <a:buSzPts val="1500"/>
              <a:buChar char="•"/>
            </a:pPr>
            <a:r>
              <a:rPr lang="en-US" sz="1500">
                <a:solidFill>
                  <a:srgbClr val="000000"/>
                </a:solidFill>
              </a:rPr>
              <a:t>From composition, side effects, and misused assumptions</a:t>
            </a:r>
            <a:endParaRPr sz="1500">
              <a:solidFill>
                <a:srgbClr val="000000"/>
              </a:solidFill>
            </a:endParaRPr>
          </a:p>
        </p:txBody>
      </p:sp>
      <p:sp>
        <p:nvSpPr>
          <p:cNvPr id="198" name="Google Shape;198;p9"/>
          <p:cNvSpPr txBox="1"/>
          <p:nvPr/>
        </p:nvSpPr>
        <p:spPr>
          <a:xfrm>
            <a:off x="0" y="3842975"/>
            <a:ext cx="9218100" cy="2365800"/>
          </a:xfrm>
          <a:prstGeom prst="rect">
            <a:avLst/>
          </a:prstGeom>
          <a:noFill/>
          <a:ln>
            <a:noFill/>
          </a:ln>
        </p:spPr>
        <p:txBody>
          <a:bodyPr anchorCtr="0" anchor="t" bIns="45700" lIns="91425" spcFirstLastPara="1" rIns="91425" wrap="square" tIns="45700">
            <a:normAutofit/>
          </a:bodyPr>
          <a:lstStyle/>
          <a:p>
            <a:pPr indent="0" lvl="0" marL="0" rtl="0" algn="l">
              <a:lnSpc>
                <a:spcPct val="110000"/>
              </a:lnSpc>
              <a:spcBef>
                <a:spcPts val="1000"/>
              </a:spcBef>
              <a:spcAft>
                <a:spcPts val="0"/>
              </a:spcAft>
              <a:buNone/>
            </a:pPr>
            <a:r>
              <a:rPr b="1" lang="en-US" sz="1800">
                <a:solidFill>
                  <a:srgbClr val="000000"/>
                </a:solidFill>
              </a:rPr>
              <a:t>Python gadget libraries helped bridge this gap by:</a:t>
            </a:r>
            <a:endParaRPr b="1" sz="1800">
              <a:solidFill>
                <a:srgbClr val="000000"/>
              </a:solidFill>
            </a:endParaRPr>
          </a:p>
          <a:p>
            <a:pPr indent="-323850" lvl="1" marL="914400" rtl="0" algn="l">
              <a:lnSpc>
                <a:spcPct val="110000"/>
              </a:lnSpc>
              <a:spcBef>
                <a:spcPts val="1000"/>
              </a:spcBef>
              <a:spcAft>
                <a:spcPts val="0"/>
              </a:spcAft>
              <a:buClr>
                <a:srgbClr val="000000"/>
              </a:buClr>
              <a:buSzPts val="1500"/>
              <a:buChar char="•"/>
            </a:pPr>
            <a:r>
              <a:rPr lang="en-US" sz="1500">
                <a:solidFill>
                  <a:srgbClr val="000000"/>
                </a:solidFill>
              </a:rPr>
              <a:t>Abstracting low-level hardware and protocol details</a:t>
            </a:r>
            <a:endParaRPr sz="1500">
              <a:solidFill>
                <a:srgbClr val="000000"/>
              </a:solidFill>
            </a:endParaRPr>
          </a:p>
          <a:p>
            <a:pPr indent="-323850" lvl="1" marL="914400" rtl="0" algn="l">
              <a:lnSpc>
                <a:spcPct val="110000"/>
              </a:lnSpc>
              <a:spcBef>
                <a:spcPts val="1000"/>
              </a:spcBef>
              <a:spcAft>
                <a:spcPts val="0"/>
              </a:spcAft>
              <a:buClr>
                <a:srgbClr val="000000"/>
              </a:buClr>
              <a:buSzPts val="1500"/>
              <a:buChar char="•"/>
            </a:pPr>
            <a:r>
              <a:rPr lang="en-US" sz="1500">
                <a:solidFill>
                  <a:srgbClr val="000000"/>
                </a:solidFill>
              </a:rPr>
              <a:t>Exposing simpler, composable primitives</a:t>
            </a:r>
            <a:endParaRPr sz="1500">
              <a:solidFill>
                <a:srgbClr val="000000"/>
              </a:solidFill>
            </a:endParaRPr>
          </a:p>
          <a:p>
            <a:pPr indent="-323850" lvl="1" marL="914400" rtl="0" algn="l">
              <a:lnSpc>
                <a:spcPct val="110000"/>
              </a:lnSpc>
              <a:spcBef>
                <a:spcPts val="1000"/>
              </a:spcBef>
              <a:spcAft>
                <a:spcPts val="0"/>
              </a:spcAft>
              <a:buClr>
                <a:srgbClr val="000000"/>
              </a:buClr>
              <a:buSzPts val="1500"/>
              <a:buChar char="•"/>
            </a:pPr>
            <a:r>
              <a:rPr lang="en-US" sz="1500">
                <a:solidFill>
                  <a:srgbClr val="000000"/>
                </a:solidFill>
              </a:rPr>
              <a:t>Enabling rapid experimentation with unintended behaviors</a:t>
            </a:r>
            <a:endParaRPr sz="1500">
              <a:solidFill>
                <a:srgbClr val="000000"/>
              </a:solidFill>
            </a:endParaRPr>
          </a:p>
          <a:p>
            <a:pPr indent="-323850" lvl="0" marL="457200" rtl="0" algn="l">
              <a:lnSpc>
                <a:spcPct val="110000"/>
              </a:lnSpc>
              <a:spcBef>
                <a:spcPts val="1000"/>
              </a:spcBef>
              <a:spcAft>
                <a:spcPts val="0"/>
              </a:spcAft>
              <a:buClr>
                <a:srgbClr val="000000"/>
              </a:buClr>
              <a:buSzPts val="1500"/>
              <a:buChar char="•"/>
            </a:pPr>
            <a:r>
              <a:rPr lang="en-US" sz="1500">
                <a:solidFill>
                  <a:srgbClr val="000000"/>
                </a:solidFill>
              </a:rPr>
              <a:t>Result: easier exploration of emergent control and computation</a:t>
            </a:r>
            <a:endParaRPr sz="1500">
              <a:solidFill>
                <a:srgbClr val="000000"/>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10"/>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Wind Energy Testbed Weird Machines</a:t>
            </a:r>
            <a:endParaRPr/>
          </a:p>
        </p:txBody>
      </p:sp>
      <p:sp>
        <p:nvSpPr>
          <p:cNvPr id="204" name="Google Shape;204;p10"/>
          <p:cNvSpPr txBox="1"/>
          <p:nvPr>
            <p:ph idx="1" type="body"/>
          </p:nvPr>
        </p:nvSpPr>
        <p:spPr>
          <a:xfrm>
            <a:off x="452353" y="2532750"/>
            <a:ext cx="7115700" cy="3767400"/>
          </a:xfrm>
          <a:prstGeom prst="rect">
            <a:avLst/>
          </a:prstGeom>
          <a:noFill/>
          <a:ln>
            <a:noFill/>
          </a:ln>
        </p:spPr>
        <p:txBody>
          <a:bodyPr anchorCtr="0" anchor="t" bIns="45700" lIns="91425" spcFirstLastPara="1" rIns="91425" wrap="square" tIns="45700">
            <a:normAutofit/>
          </a:bodyPr>
          <a:lstStyle/>
          <a:p>
            <a:pPr indent="-228600" lvl="0" marL="228600" rtl="0" algn="l">
              <a:spcBef>
                <a:spcPts val="0"/>
              </a:spcBef>
              <a:spcAft>
                <a:spcPts val="0"/>
              </a:spcAft>
              <a:buSzPts val="1800"/>
              <a:buChar char="•"/>
            </a:pPr>
            <a:r>
              <a:rPr lang="en-US"/>
              <a:t>Here are the </a:t>
            </a:r>
            <a:r>
              <a:rPr lang="en-US"/>
              <a:t>Weird Machines we composed using our manufactured </a:t>
            </a:r>
            <a:r>
              <a:rPr i="1" lang="en-US"/>
              <a:t>Weird Gadgets:</a:t>
            </a:r>
            <a:endParaRPr i="1"/>
          </a:p>
          <a:p>
            <a:pPr indent="0" lvl="0" marL="228600" rtl="0" algn="l">
              <a:spcBef>
                <a:spcPts val="0"/>
              </a:spcBef>
              <a:spcAft>
                <a:spcPts val="0"/>
              </a:spcAft>
              <a:buNone/>
            </a:pPr>
            <a:r>
              <a:t/>
            </a:r>
            <a:endParaRPr i="1"/>
          </a:p>
          <a:p>
            <a:pPr indent="-228600" lvl="0" marL="228600" rtl="0" algn="l">
              <a:spcBef>
                <a:spcPts val="0"/>
              </a:spcBef>
              <a:spcAft>
                <a:spcPts val="0"/>
              </a:spcAft>
              <a:buSzPts val="1800"/>
              <a:buChar char="•"/>
            </a:pPr>
            <a:r>
              <a:rPr lang="en-US"/>
              <a:t>Binary Semaphore Weird Machine</a:t>
            </a:r>
            <a:endParaRPr/>
          </a:p>
          <a:p>
            <a:pPr indent="-228600" lvl="1" marL="685800" rtl="0" algn="l">
              <a:spcBef>
                <a:spcPts val="0"/>
              </a:spcBef>
              <a:spcAft>
                <a:spcPts val="0"/>
              </a:spcAft>
              <a:buSzPts val="1800"/>
              <a:buChar char="•"/>
            </a:pPr>
            <a:r>
              <a:rPr lang="en-US"/>
              <a:t>Emergent synchronization primitive built from protocol &amp; control gadgets</a:t>
            </a:r>
            <a:endParaRPr/>
          </a:p>
          <a:p>
            <a:pPr indent="-228600" lvl="1" marL="685800" rtl="0" algn="l">
              <a:spcBef>
                <a:spcPts val="0"/>
              </a:spcBef>
              <a:spcAft>
                <a:spcPts val="0"/>
              </a:spcAft>
              <a:buSzPts val="1800"/>
              <a:buChar char="•"/>
            </a:pPr>
            <a:r>
              <a:rPr lang="en-US"/>
              <a:t>Enforces mutual exclusion over a shared resource</a:t>
            </a:r>
            <a:endParaRPr/>
          </a:p>
        </p:txBody>
      </p:sp>
      <p:pic>
        <p:nvPicPr>
          <p:cNvPr id="205" name="Google Shape;205;p10"/>
          <p:cNvPicPr preferRelativeResize="0"/>
          <p:nvPr/>
        </p:nvPicPr>
        <p:blipFill>
          <a:blip r:embed="rId3">
            <a:alphaModFix/>
          </a:blip>
          <a:stretch>
            <a:fillRect/>
          </a:stretch>
        </p:blipFill>
        <p:spPr>
          <a:xfrm>
            <a:off x="7185088" y="4596488"/>
            <a:ext cx="4676775" cy="18192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g3b0d07ae252_3_0"/>
          <p:cNvSpPr txBox="1"/>
          <p:nvPr>
            <p:ph type="title"/>
          </p:nvPr>
        </p:nvSpPr>
        <p:spPr>
          <a:xfrm>
            <a:off x="452358" y="1069658"/>
            <a:ext cx="11155800" cy="14631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Wind Energy Testbed Weird Machines (cont.)</a:t>
            </a:r>
            <a:endParaRPr/>
          </a:p>
        </p:txBody>
      </p:sp>
      <p:sp>
        <p:nvSpPr>
          <p:cNvPr id="211" name="Google Shape;211;g3b0d07ae252_3_0"/>
          <p:cNvSpPr txBox="1"/>
          <p:nvPr>
            <p:ph idx="1" type="body"/>
          </p:nvPr>
        </p:nvSpPr>
        <p:spPr>
          <a:xfrm>
            <a:off x="452358" y="2532758"/>
            <a:ext cx="11155800" cy="37674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None/>
            </a:pPr>
            <a:r>
              <a:rPr lang="en-US"/>
              <a:t>Weird Machines composed using our manufactured </a:t>
            </a:r>
            <a:r>
              <a:rPr i="1" lang="en-US"/>
              <a:t>Weird Gadgets </a:t>
            </a:r>
            <a:endParaRPr/>
          </a:p>
          <a:p>
            <a:pPr indent="-228600" lvl="0" marL="228600" rtl="0" algn="l">
              <a:spcBef>
                <a:spcPts val="0"/>
              </a:spcBef>
              <a:spcAft>
                <a:spcPts val="0"/>
              </a:spcAft>
              <a:buSzPts val="1800"/>
              <a:buChar char="•"/>
            </a:pPr>
            <a:r>
              <a:rPr lang="en-US"/>
              <a:t>Code Signaling Weird Machine</a:t>
            </a:r>
            <a:endParaRPr/>
          </a:p>
          <a:p>
            <a:pPr indent="-228600" lvl="1" marL="685800" rtl="0" algn="l">
              <a:spcBef>
                <a:spcPts val="0"/>
              </a:spcBef>
              <a:spcAft>
                <a:spcPts val="0"/>
              </a:spcAft>
              <a:buSzPts val="1800"/>
              <a:buChar char="•"/>
            </a:pPr>
            <a:r>
              <a:rPr lang="en-US"/>
              <a:t>Utilized modbus coils and registries </a:t>
            </a:r>
            <a:endParaRPr/>
          </a:p>
          <a:p>
            <a:pPr indent="-228600" lvl="1" marL="685800" rtl="0" algn="l">
              <a:spcBef>
                <a:spcPts val="0"/>
              </a:spcBef>
              <a:spcAft>
                <a:spcPts val="0"/>
              </a:spcAft>
              <a:buSzPts val="1800"/>
              <a:buChar char="•"/>
            </a:pPr>
            <a:r>
              <a:rPr lang="en-US"/>
              <a:t>Machine stored conditional flags to coils to signal whether machine was vulnerable</a:t>
            </a:r>
            <a:endParaRPr/>
          </a:p>
          <a:p>
            <a:pPr indent="-228600" lvl="1" marL="685800" rtl="0" algn="l">
              <a:spcBef>
                <a:spcPts val="0"/>
              </a:spcBef>
              <a:spcAft>
                <a:spcPts val="0"/>
              </a:spcAft>
              <a:buSzPts val="1800"/>
              <a:buChar char="•"/>
            </a:pPr>
            <a:r>
              <a:rPr lang="en-US"/>
              <a:t>Sent code words from registry,</a:t>
            </a:r>
            <a:endParaRPr/>
          </a:p>
          <a:p>
            <a:pPr indent="-228600" lvl="1" marL="685800" rtl="0" algn="l">
              <a:spcBef>
                <a:spcPts val="0"/>
              </a:spcBef>
              <a:spcAft>
                <a:spcPts val="0"/>
              </a:spcAft>
              <a:buSzPts val="1800"/>
              <a:buChar char="•"/>
            </a:pPr>
            <a:r>
              <a:rPr lang="en-US"/>
              <a:t>After countdown value would modify coil to display vulnerability</a:t>
            </a:r>
            <a:endParaRPr/>
          </a:p>
          <a:p>
            <a:pPr indent="-228600" lvl="1" marL="685800" rtl="0" algn="l">
              <a:spcBef>
                <a:spcPts val="0"/>
              </a:spcBef>
              <a:spcAft>
                <a:spcPts val="0"/>
              </a:spcAft>
              <a:buSzPts val="1800"/>
              <a:buChar char="•"/>
            </a:pPr>
            <a:r>
              <a:rPr b="1" lang="en-US"/>
              <a:t>Implications</a:t>
            </a:r>
            <a:endParaRPr b="1"/>
          </a:p>
          <a:p>
            <a:pPr indent="-228600" lvl="2" marL="1143000" rtl="0" algn="l">
              <a:spcBef>
                <a:spcPts val="0"/>
              </a:spcBef>
              <a:spcAft>
                <a:spcPts val="0"/>
              </a:spcAft>
              <a:buSzPts val="1800"/>
              <a:buChar char="•"/>
            </a:pPr>
            <a:r>
              <a:rPr lang="en-US"/>
              <a:t>Allows monitoring of outside </a:t>
            </a:r>
            <a:r>
              <a:rPr lang="en-US"/>
              <a:t>factors</a:t>
            </a:r>
            <a:r>
              <a:rPr lang="en-US"/>
              <a:t> to determine vulnerable state</a:t>
            </a:r>
            <a:endParaRPr/>
          </a:p>
          <a:p>
            <a:pPr indent="0" lvl="0" marL="0" rtl="0" algn="l">
              <a:spcBef>
                <a:spcPts val="0"/>
              </a:spcBef>
              <a:spcAft>
                <a:spcPts val="0"/>
              </a:spcAft>
              <a:buNone/>
            </a:pPr>
            <a:r>
              <a:rPr lang="en-US"/>
              <a:t> </a:t>
            </a:r>
            <a:endParaRPr/>
          </a:p>
        </p:txBody>
      </p:sp>
      <p:pic>
        <p:nvPicPr>
          <p:cNvPr id="212" name="Google Shape;212;g3b0d07ae252_3_0"/>
          <p:cNvPicPr preferRelativeResize="0"/>
          <p:nvPr/>
        </p:nvPicPr>
        <p:blipFill>
          <a:blip r:embed="rId3">
            <a:alphaModFix/>
          </a:blip>
          <a:stretch>
            <a:fillRect/>
          </a:stretch>
        </p:blipFill>
        <p:spPr>
          <a:xfrm>
            <a:off x="8748439" y="2127275"/>
            <a:ext cx="3443560" cy="37674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g3b0d07ae252_2_20"/>
          <p:cNvSpPr txBox="1"/>
          <p:nvPr>
            <p:ph type="title"/>
          </p:nvPr>
        </p:nvSpPr>
        <p:spPr>
          <a:xfrm>
            <a:off x="521208" y="978408"/>
            <a:ext cx="11155800" cy="14631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Wind Energy Testbed Weird Machines (cont.)</a:t>
            </a:r>
            <a:endParaRPr/>
          </a:p>
        </p:txBody>
      </p:sp>
      <p:sp>
        <p:nvSpPr>
          <p:cNvPr id="218" name="Google Shape;218;g3b0d07ae252_2_20"/>
          <p:cNvSpPr txBox="1"/>
          <p:nvPr>
            <p:ph idx="1" type="body"/>
          </p:nvPr>
        </p:nvSpPr>
        <p:spPr>
          <a:xfrm>
            <a:off x="452358" y="2532758"/>
            <a:ext cx="11155800" cy="3767400"/>
          </a:xfrm>
          <a:prstGeom prst="rect">
            <a:avLst/>
          </a:prstGeom>
          <a:noFill/>
          <a:ln>
            <a:noFill/>
          </a:ln>
        </p:spPr>
        <p:txBody>
          <a:bodyPr anchorCtr="0" anchor="t" bIns="45700" lIns="91425" spcFirstLastPara="1" rIns="91425" wrap="square" tIns="45700">
            <a:normAutofit/>
          </a:bodyPr>
          <a:lstStyle/>
          <a:p>
            <a:pPr indent="-228600" lvl="0" marL="228600" rtl="0" algn="l">
              <a:spcBef>
                <a:spcPts val="0"/>
              </a:spcBef>
              <a:spcAft>
                <a:spcPts val="0"/>
              </a:spcAft>
              <a:buSzPts val="1800"/>
              <a:buChar char="•"/>
            </a:pPr>
            <a:r>
              <a:rPr lang="en-US"/>
              <a:t>Remote </a:t>
            </a:r>
            <a:r>
              <a:rPr lang="en-US"/>
              <a:t>Mailbox</a:t>
            </a:r>
            <a:endParaRPr/>
          </a:p>
          <a:p>
            <a:pPr indent="-228600" lvl="1" marL="685800" rtl="0" algn="l">
              <a:spcBef>
                <a:spcPts val="0"/>
              </a:spcBef>
              <a:spcAft>
                <a:spcPts val="0"/>
              </a:spcAft>
              <a:buSzPts val="1800"/>
              <a:buChar char="•"/>
            </a:pPr>
            <a:r>
              <a:rPr lang="en-US"/>
              <a:t>Segmented: Send a message one character at a time in server registries</a:t>
            </a:r>
            <a:endParaRPr/>
          </a:p>
          <a:p>
            <a:pPr indent="-228600" lvl="1" marL="685800" rtl="0" algn="l">
              <a:spcBef>
                <a:spcPts val="0"/>
              </a:spcBef>
              <a:spcAft>
                <a:spcPts val="0"/>
              </a:spcAft>
              <a:buSzPts val="1800"/>
              <a:buChar char="•"/>
            </a:pPr>
            <a:r>
              <a:rPr lang="en-US"/>
              <a:t>Unsegmented: Save and retrieve messages in server </a:t>
            </a:r>
            <a:r>
              <a:rPr lang="en-US"/>
              <a:t>registries</a:t>
            </a:r>
            <a:endParaRPr/>
          </a:p>
          <a:p>
            <a:pPr indent="-228600" lvl="1" marL="685800" rtl="0" algn="l">
              <a:spcBef>
                <a:spcPts val="0"/>
              </a:spcBef>
              <a:spcAft>
                <a:spcPts val="0"/>
              </a:spcAft>
              <a:buSzPts val="1800"/>
              <a:buChar char="•"/>
            </a:pPr>
            <a:r>
              <a:rPr lang="en-US"/>
              <a:t>Utilizes: Conditionals, loops, read/write to registers/foils</a:t>
            </a:r>
            <a:endParaRPr/>
          </a:p>
        </p:txBody>
      </p:sp>
      <p:pic>
        <p:nvPicPr>
          <p:cNvPr id="219" name="Google Shape;219;g3b0d07ae252_2_20"/>
          <p:cNvPicPr preferRelativeResize="0"/>
          <p:nvPr/>
        </p:nvPicPr>
        <p:blipFill>
          <a:blip r:embed="rId3">
            <a:alphaModFix/>
          </a:blip>
          <a:stretch>
            <a:fillRect/>
          </a:stretch>
        </p:blipFill>
        <p:spPr>
          <a:xfrm>
            <a:off x="3683400" y="4126225"/>
            <a:ext cx="4693700" cy="21739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g3b0d07ae252_2_10"/>
          <p:cNvSpPr txBox="1"/>
          <p:nvPr>
            <p:ph idx="1" type="body"/>
          </p:nvPr>
        </p:nvSpPr>
        <p:spPr>
          <a:xfrm>
            <a:off x="521208" y="2371543"/>
            <a:ext cx="11155800" cy="3767400"/>
          </a:xfrm>
          <a:prstGeom prst="rect">
            <a:avLst/>
          </a:prstGeom>
        </p:spPr>
        <p:txBody>
          <a:bodyPr anchorCtr="0" anchor="t" bIns="45700" lIns="91425" spcFirstLastPara="1" rIns="91425" wrap="square" tIns="45700">
            <a:normAutofit/>
          </a:bodyPr>
          <a:lstStyle/>
          <a:p>
            <a:pPr indent="-342900" lvl="0" marL="457200" rtl="0" algn="l">
              <a:spcBef>
                <a:spcPts val="1000"/>
              </a:spcBef>
              <a:spcAft>
                <a:spcPts val="0"/>
              </a:spcAft>
              <a:buSzPts val="1800"/>
              <a:buChar char="•"/>
            </a:pPr>
            <a:r>
              <a:rPr lang="en-US"/>
              <a:t>Programming Language with full </a:t>
            </a:r>
            <a:r>
              <a:rPr lang="en-US"/>
              <a:t>capabilities</a:t>
            </a:r>
            <a:r>
              <a:rPr lang="en-US"/>
              <a:t> of a Turing Machine:</a:t>
            </a:r>
            <a:endParaRPr/>
          </a:p>
          <a:p>
            <a:pPr indent="-342900" lvl="1" marL="914400" rtl="0" algn="l">
              <a:spcBef>
                <a:spcPts val="0"/>
              </a:spcBef>
              <a:spcAft>
                <a:spcPts val="0"/>
              </a:spcAft>
              <a:buSzPts val="1800"/>
              <a:buChar char="•"/>
            </a:pPr>
            <a:r>
              <a:rPr lang="en-US"/>
              <a:t>Sequence: Read/write to arbitrary memory</a:t>
            </a:r>
            <a:endParaRPr/>
          </a:p>
          <a:p>
            <a:pPr indent="-342900" lvl="1" marL="914400" rtl="0" algn="l">
              <a:spcBef>
                <a:spcPts val="0"/>
              </a:spcBef>
              <a:spcAft>
                <a:spcPts val="0"/>
              </a:spcAft>
              <a:buSzPts val="1800"/>
              <a:buChar char="•"/>
            </a:pPr>
            <a:r>
              <a:rPr lang="en-US"/>
              <a:t>Selection: Make conditional decisions</a:t>
            </a:r>
            <a:endParaRPr/>
          </a:p>
          <a:p>
            <a:pPr indent="-342900" lvl="1" marL="914400" rtl="0" algn="l">
              <a:spcBef>
                <a:spcPts val="0"/>
              </a:spcBef>
              <a:spcAft>
                <a:spcPts val="0"/>
              </a:spcAft>
              <a:buSzPts val="1800"/>
              <a:buChar char="•"/>
            </a:pPr>
            <a:r>
              <a:rPr lang="en-US"/>
              <a:t>Iteration</a:t>
            </a:r>
            <a:r>
              <a:rPr lang="en-US"/>
              <a:t>: Move/jump through memory, loops</a:t>
            </a:r>
            <a:endParaRPr/>
          </a:p>
        </p:txBody>
      </p:sp>
      <p:sp>
        <p:nvSpPr>
          <p:cNvPr id="225" name="Google Shape;225;g3b0d07ae252_2_10"/>
          <p:cNvSpPr txBox="1"/>
          <p:nvPr>
            <p:ph type="title"/>
          </p:nvPr>
        </p:nvSpPr>
        <p:spPr>
          <a:xfrm>
            <a:off x="521208" y="978408"/>
            <a:ext cx="11155800" cy="1463100"/>
          </a:xfrm>
          <a:prstGeom prst="rect">
            <a:avLst/>
          </a:prstGeom>
        </p:spPr>
        <p:txBody>
          <a:bodyPr anchorCtr="0" anchor="t" bIns="45700" lIns="91425" spcFirstLastPara="1" rIns="91425" wrap="square" tIns="45700">
            <a:normAutofit/>
          </a:bodyPr>
          <a:lstStyle/>
          <a:p>
            <a:pPr indent="0" lvl="0" marL="0" rtl="0" algn="l">
              <a:spcBef>
                <a:spcPts val="0"/>
              </a:spcBef>
              <a:spcAft>
                <a:spcPts val="0"/>
              </a:spcAft>
              <a:buNone/>
            </a:pPr>
            <a:r>
              <a:rPr lang="en-US"/>
              <a:t>What is Turing Completeness?</a:t>
            </a:r>
            <a:endParaRPr/>
          </a:p>
        </p:txBody>
      </p:sp>
      <p:pic>
        <p:nvPicPr>
          <p:cNvPr descr="a blue and yellow python logo is shown on a white background (Provided by Tenor)" id="226" name="Google Shape;226;g3b0d07ae252_2_10"/>
          <p:cNvPicPr preferRelativeResize="0"/>
          <p:nvPr/>
        </p:nvPicPr>
        <p:blipFill rotWithShape="1">
          <a:blip r:embed="rId3">
            <a:alphaModFix/>
          </a:blip>
          <a:srcRect b="0" l="26809" r="0" t="0"/>
          <a:stretch/>
        </p:blipFill>
        <p:spPr>
          <a:xfrm>
            <a:off x="632000" y="4340097"/>
            <a:ext cx="2369200" cy="2314000"/>
          </a:xfrm>
          <a:prstGeom prst="rect">
            <a:avLst/>
          </a:prstGeom>
          <a:noFill/>
          <a:ln>
            <a:noFill/>
          </a:ln>
        </p:spPr>
      </p:pic>
      <p:pic>
        <p:nvPicPr>
          <p:cNvPr descr="a blue hexagon with the letter c on it (Provided by Tenor)" id="227" name="Google Shape;227;g3b0d07ae252_2_10"/>
          <p:cNvPicPr preferRelativeResize="0"/>
          <p:nvPr/>
        </p:nvPicPr>
        <p:blipFill>
          <a:blip r:embed="rId4">
            <a:alphaModFix/>
          </a:blip>
          <a:stretch>
            <a:fillRect/>
          </a:stretch>
        </p:blipFill>
        <p:spPr>
          <a:xfrm>
            <a:off x="3277300" y="4247810"/>
            <a:ext cx="2498576" cy="2498576"/>
          </a:xfrm>
          <a:prstGeom prst="rect">
            <a:avLst/>
          </a:prstGeom>
          <a:noFill/>
          <a:ln>
            <a:noFill/>
          </a:ln>
        </p:spPr>
      </p:pic>
      <p:pic>
        <p:nvPicPr>
          <p:cNvPr descr="a logo for java with a cup of coffee and smoke (Provided by Tenor)" id="228" name="Google Shape;228;g3b0d07ae252_2_10"/>
          <p:cNvPicPr preferRelativeResize="0"/>
          <p:nvPr/>
        </p:nvPicPr>
        <p:blipFill>
          <a:blip r:embed="rId5">
            <a:alphaModFix/>
          </a:blip>
          <a:stretch>
            <a:fillRect/>
          </a:stretch>
        </p:blipFill>
        <p:spPr>
          <a:xfrm>
            <a:off x="6300006" y="3383385"/>
            <a:ext cx="1836819" cy="3363000"/>
          </a:xfrm>
          <a:prstGeom prst="rect">
            <a:avLst/>
          </a:prstGeom>
          <a:noFill/>
          <a:ln>
            <a:noFill/>
          </a:ln>
        </p:spPr>
      </p:pic>
      <p:pic>
        <p:nvPicPr>
          <p:cNvPr descr="File:JavaScript-logo.png - Wikimedia Commons" id="229" name="Google Shape;229;g3b0d07ae252_2_10"/>
          <p:cNvPicPr preferRelativeResize="0"/>
          <p:nvPr/>
        </p:nvPicPr>
        <p:blipFill>
          <a:blip r:embed="rId6">
            <a:alphaModFix/>
          </a:blip>
          <a:stretch>
            <a:fillRect/>
          </a:stretch>
        </p:blipFill>
        <p:spPr>
          <a:xfrm>
            <a:off x="9014225" y="4084512"/>
            <a:ext cx="2498576" cy="2498597"/>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11"/>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Are the Wind Energy Testbed Gadgets Turing Complete?</a:t>
            </a:r>
            <a:endParaRPr/>
          </a:p>
        </p:txBody>
      </p:sp>
      <p:sp>
        <p:nvSpPr>
          <p:cNvPr id="235" name="Google Shape;235;p11"/>
          <p:cNvSpPr txBox="1"/>
          <p:nvPr>
            <p:ph idx="1" type="body"/>
          </p:nvPr>
        </p:nvSpPr>
        <p:spPr>
          <a:xfrm>
            <a:off x="521200" y="2578602"/>
            <a:ext cx="11155800" cy="2659500"/>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1000"/>
              </a:spcBef>
              <a:spcAft>
                <a:spcPts val="0"/>
              </a:spcAft>
              <a:buClr>
                <a:schemeClr val="dk1"/>
              </a:buClr>
              <a:buSzPts val="1800"/>
              <a:buChar char="•"/>
            </a:pPr>
            <a:r>
              <a:rPr lang="en-US"/>
              <a:t>Yes, they satisfy the necessary qualities of Turing Completeness</a:t>
            </a:r>
            <a:endParaRPr/>
          </a:p>
          <a:p>
            <a:pPr indent="-228600" lvl="1" marL="685800" rtl="0" algn="l">
              <a:lnSpc>
                <a:spcPct val="110000"/>
              </a:lnSpc>
              <a:spcBef>
                <a:spcPts val="1000"/>
              </a:spcBef>
              <a:spcAft>
                <a:spcPts val="0"/>
              </a:spcAft>
              <a:buClr>
                <a:schemeClr val="dk1"/>
              </a:buClr>
              <a:buSzPts val="1800"/>
              <a:buChar char="•"/>
            </a:pPr>
            <a:r>
              <a:rPr lang="en-US"/>
              <a:t>Sequence: Capability of reading/writing to registers and foils with “get” and “set”</a:t>
            </a:r>
            <a:endParaRPr/>
          </a:p>
          <a:p>
            <a:pPr indent="-228600" lvl="1" marL="685800" rtl="0" algn="l">
              <a:lnSpc>
                <a:spcPct val="110000"/>
              </a:lnSpc>
              <a:spcBef>
                <a:spcPts val="1000"/>
              </a:spcBef>
              <a:spcAft>
                <a:spcPts val="0"/>
              </a:spcAft>
              <a:buClr>
                <a:schemeClr val="dk1"/>
              </a:buClr>
              <a:buSzPts val="1800"/>
              <a:buChar char="•"/>
            </a:pPr>
            <a:r>
              <a:rPr lang="en-US"/>
              <a:t>Selection: Conditional writes simulate if-then-else</a:t>
            </a:r>
            <a:endParaRPr/>
          </a:p>
          <a:p>
            <a:pPr indent="-228600" lvl="1" marL="685800" rtl="0" algn="l">
              <a:lnSpc>
                <a:spcPct val="110000"/>
              </a:lnSpc>
              <a:spcBef>
                <a:spcPts val="1000"/>
              </a:spcBef>
              <a:spcAft>
                <a:spcPts val="0"/>
              </a:spcAft>
              <a:buClr>
                <a:schemeClr val="dk1"/>
              </a:buClr>
              <a:buSzPts val="1800"/>
              <a:buChar char="•"/>
            </a:pPr>
            <a:r>
              <a:rPr lang="en-US"/>
              <a:t>Iteration: Wait or repeat until condition is satisfied with ControlGadget</a:t>
            </a:r>
            <a:endParaRPr/>
          </a:p>
          <a:p>
            <a:pPr indent="-228600" lvl="0" marL="228600" rtl="0" algn="l">
              <a:lnSpc>
                <a:spcPct val="110000"/>
              </a:lnSpc>
              <a:spcBef>
                <a:spcPts val="1000"/>
              </a:spcBef>
              <a:spcAft>
                <a:spcPts val="0"/>
              </a:spcAft>
              <a:buClr>
                <a:schemeClr val="dk1"/>
              </a:buClr>
              <a:buSzPts val="1800"/>
              <a:buChar char="•"/>
            </a:pPr>
            <a:r>
              <a:rPr lang="en-US"/>
              <a:t>Weird Machines =&gt; Turing Complete =&gt; Solve any “decidable problem”</a:t>
            </a:r>
            <a:endParaRPr/>
          </a:p>
        </p:txBody>
      </p:sp>
      <p:sp>
        <p:nvSpPr>
          <p:cNvPr id="236" name="Google Shape;236;p11"/>
          <p:cNvSpPr txBox="1"/>
          <p:nvPr/>
        </p:nvSpPr>
        <p:spPr>
          <a:xfrm>
            <a:off x="2868525" y="5945925"/>
            <a:ext cx="9323400" cy="812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i="1" lang="en-US" sz="1500">
                <a:solidFill>
                  <a:schemeClr val="dk1"/>
                </a:solidFill>
              </a:rPr>
              <a:t>This work argues Turing completeness by </a:t>
            </a:r>
            <a:r>
              <a:rPr i="1" lang="en-US" sz="1500">
                <a:solidFill>
                  <a:schemeClr val="dk1"/>
                </a:solidFill>
              </a:rPr>
              <a:t>construction</a:t>
            </a:r>
            <a:r>
              <a:rPr i="1" lang="en-US" sz="1500">
                <a:solidFill>
                  <a:schemeClr val="dk1"/>
                </a:solidFill>
              </a:rPr>
              <a:t> and analogy; a formal proof is out of scope</a:t>
            </a:r>
            <a:endParaRPr i="1" sz="1500">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12"/>
          <p:cNvSpPr txBox="1"/>
          <p:nvPr>
            <p:ph idx="1" type="body"/>
          </p:nvPr>
        </p:nvSpPr>
        <p:spPr>
          <a:xfrm>
            <a:off x="521208" y="2578608"/>
            <a:ext cx="11155800" cy="3767400"/>
          </a:xfrm>
          <a:prstGeom prst="rect">
            <a:avLst/>
          </a:prstGeom>
          <a:noFill/>
          <a:ln>
            <a:noFill/>
          </a:ln>
        </p:spPr>
        <p:txBody>
          <a:bodyPr anchorCtr="0" anchor="t" bIns="45700" lIns="91425" spcFirstLastPara="1" rIns="91425" wrap="square" tIns="45700">
            <a:normAutofit fontScale="47500" lnSpcReduction="20000"/>
          </a:bodyPr>
          <a:lstStyle/>
          <a:p>
            <a:pPr indent="-208432" lvl="0" marL="228600" rtl="0" algn="l">
              <a:lnSpc>
                <a:spcPct val="150000"/>
              </a:lnSpc>
              <a:spcBef>
                <a:spcPts val="1000"/>
              </a:spcBef>
              <a:spcAft>
                <a:spcPts val="0"/>
              </a:spcAft>
              <a:buSzPct val="100000"/>
              <a:buChar char="•"/>
            </a:pPr>
            <a:r>
              <a:rPr b="1" lang="en-US" sz="3120"/>
              <a:t>White Paper &amp; Research </a:t>
            </a:r>
            <a:r>
              <a:rPr b="1" lang="en-US" sz="3120"/>
              <a:t>Artifacts</a:t>
            </a:r>
            <a:endParaRPr b="1" sz="3120"/>
          </a:p>
          <a:p>
            <a:pPr indent="-208432" lvl="1" marL="685800" rtl="0" algn="l">
              <a:lnSpc>
                <a:spcPct val="150000"/>
              </a:lnSpc>
              <a:spcBef>
                <a:spcPts val="1000"/>
              </a:spcBef>
              <a:spcAft>
                <a:spcPts val="0"/>
              </a:spcAft>
              <a:buSzPct val="100000"/>
              <a:buChar char="•"/>
            </a:pPr>
            <a:r>
              <a:rPr lang="en-US" sz="3120"/>
              <a:t>Document our findings, </a:t>
            </a:r>
            <a:r>
              <a:rPr lang="en-US" sz="3120"/>
              <a:t>methodology</a:t>
            </a:r>
            <a:r>
              <a:rPr lang="en-US" sz="3120"/>
              <a:t>, and lessons learned in a formal white paper. </a:t>
            </a:r>
            <a:r>
              <a:rPr lang="en-US" sz="3120"/>
              <a:t>Publication and public release will occur only after sponsor review and approval.</a:t>
            </a:r>
            <a:endParaRPr sz="3120"/>
          </a:p>
          <a:p>
            <a:pPr indent="-208432" lvl="0" marL="228600" rtl="0" algn="l">
              <a:lnSpc>
                <a:spcPct val="150000"/>
              </a:lnSpc>
              <a:spcBef>
                <a:spcPts val="1000"/>
              </a:spcBef>
              <a:spcAft>
                <a:spcPts val="0"/>
              </a:spcAft>
              <a:buSzPct val="100000"/>
              <a:buChar char="•"/>
            </a:pPr>
            <a:r>
              <a:rPr b="1" lang="en-US" sz="3120"/>
              <a:t>Research Workflow &amp; Tooling Experience</a:t>
            </a:r>
            <a:endParaRPr b="1" sz="3120"/>
          </a:p>
          <a:p>
            <a:pPr indent="-208432" lvl="1" marL="685800" rtl="0" algn="l">
              <a:lnSpc>
                <a:spcPct val="150000"/>
              </a:lnSpc>
              <a:spcBef>
                <a:spcPts val="1000"/>
              </a:spcBef>
              <a:spcAft>
                <a:spcPts val="0"/>
              </a:spcAft>
              <a:buSzPct val="100000"/>
              <a:buChar char="•"/>
            </a:pPr>
            <a:r>
              <a:rPr lang="en-US" sz="3120"/>
              <a:t>This research project provides hands-on practice in technical writing, version control, and reproducible research workflows utilizing tools such as Overleaf, Git, and LaTeX.</a:t>
            </a:r>
            <a:endParaRPr sz="3120"/>
          </a:p>
          <a:p>
            <a:pPr indent="-208432" lvl="0" marL="228600" rtl="0" algn="l">
              <a:lnSpc>
                <a:spcPct val="150000"/>
              </a:lnSpc>
              <a:spcBef>
                <a:spcPts val="1000"/>
              </a:spcBef>
              <a:spcAft>
                <a:spcPts val="0"/>
              </a:spcAft>
              <a:buSzPct val="100000"/>
              <a:buChar char="•"/>
            </a:pPr>
            <a:r>
              <a:rPr b="1" lang="en-US" sz="3120"/>
              <a:t>Scaling Weird-Machine Discovery with LLMs</a:t>
            </a:r>
            <a:endParaRPr b="1" sz="3120"/>
          </a:p>
          <a:p>
            <a:pPr indent="-208432" lvl="1" marL="685800" rtl="0" algn="l">
              <a:lnSpc>
                <a:spcPct val="150000"/>
              </a:lnSpc>
              <a:spcBef>
                <a:spcPts val="1000"/>
              </a:spcBef>
              <a:spcAft>
                <a:spcPts val="0"/>
              </a:spcAft>
              <a:buSzPct val="100000"/>
              <a:buChar char="•"/>
            </a:pPr>
            <a:r>
              <a:rPr lang="en-US" sz="3120"/>
              <a:t>Explore a large-language-model consortium approach to assist in identifying potential weird gadgets within complex system architectures such as our Wind Energy Testbed.</a:t>
            </a:r>
            <a:endParaRPr sz="3120"/>
          </a:p>
          <a:p>
            <a:pPr indent="-114300" lvl="0" marL="228600" rtl="0" algn="l">
              <a:lnSpc>
                <a:spcPct val="110000"/>
              </a:lnSpc>
              <a:spcBef>
                <a:spcPts val="1000"/>
              </a:spcBef>
              <a:spcAft>
                <a:spcPts val="0"/>
              </a:spcAft>
              <a:buClr>
                <a:schemeClr val="dk1"/>
              </a:buClr>
              <a:buSzPct val="100000"/>
              <a:buNone/>
            </a:pPr>
            <a:r>
              <a:t/>
            </a:r>
            <a:endParaRPr/>
          </a:p>
        </p:txBody>
      </p:sp>
      <p:sp>
        <p:nvSpPr>
          <p:cNvPr id="242" name="Google Shape;242;p12"/>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What is coming next?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46" name="Shape 246"/>
        <p:cNvGrpSpPr/>
        <p:nvPr/>
      </p:nvGrpSpPr>
      <p:grpSpPr>
        <a:xfrm>
          <a:off x="0" y="0"/>
          <a:ext cx="0" cy="0"/>
          <a:chOff x="0" y="0"/>
          <a:chExt cx="0" cy="0"/>
        </a:xfrm>
      </p:grpSpPr>
      <p:sp>
        <p:nvSpPr>
          <p:cNvPr id="247" name="Google Shape;247;p13"/>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48" name="Google Shape;248;p13"/>
          <p:cNvSpPr/>
          <p:nvPr/>
        </p:nvSpPr>
        <p:spPr>
          <a:xfrm>
            <a:off x="517870" y="6209925"/>
            <a:ext cx="11155680" cy="45719"/>
          </a:xfrm>
          <a:custGeom>
            <a:rect b="b" l="l" r="r" t="t"/>
            <a:pathLst>
              <a:path extrusionOk="0" h="45719" w="8715708">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49" name="Google Shape;249;p13"/>
          <p:cNvSpPr/>
          <p:nvPr/>
        </p:nvSpPr>
        <p:spPr>
          <a:xfrm>
            <a:off x="0" y="0"/>
            <a:ext cx="12192000" cy="68580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50" name="Google Shape;250;p13"/>
          <p:cNvSpPr txBox="1"/>
          <p:nvPr>
            <p:ph type="title"/>
          </p:nvPr>
        </p:nvSpPr>
        <p:spPr>
          <a:xfrm>
            <a:off x="521208" y="978408"/>
            <a:ext cx="3397649" cy="3303764"/>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3400"/>
              <a:buFont typeface="Arial"/>
              <a:buNone/>
            </a:pPr>
            <a:r>
              <a:rPr lang="en-US" sz="3400"/>
              <a:t>LLM Consortium For Identifying Weird Gadgets from System Documentation</a:t>
            </a:r>
            <a:endParaRPr/>
          </a:p>
        </p:txBody>
      </p:sp>
      <p:sp>
        <p:nvSpPr>
          <p:cNvPr id="251" name="Google Shape;251;p13"/>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pic>
        <p:nvPicPr>
          <p:cNvPr id="252" name="Google Shape;252;p13"/>
          <p:cNvPicPr preferRelativeResize="0"/>
          <p:nvPr/>
        </p:nvPicPr>
        <p:blipFill rotWithShape="1">
          <a:blip r:embed="rId3">
            <a:alphaModFix/>
          </a:blip>
          <a:srcRect b="0" l="0" r="0" t="0"/>
          <a:stretch/>
        </p:blipFill>
        <p:spPr>
          <a:xfrm>
            <a:off x="5002501" y="965741"/>
            <a:ext cx="6159870" cy="5728678"/>
          </a:xfrm>
          <a:prstGeom prst="rect">
            <a:avLst/>
          </a:prstGeom>
          <a:noFill/>
          <a:ln>
            <a:noFill/>
          </a:ln>
        </p:spPr>
      </p:pic>
      <p:sp>
        <p:nvSpPr>
          <p:cNvPr id="253" name="Google Shape;253;p13"/>
          <p:cNvSpPr txBox="1"/>
          <p:nvPr/>
        </p:nvSpPr>
        <p:spPr>
          <a:xfrm>
            <a:off x="335626" y="4024422"/>
            <a:ext cx="3768811" cy="2585323"/>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u="none" cap="none" strike="noStrike">
                <a:solidFill>
                  <a:schemeClr val="dk1"/>
                </a:solidFill>
                <a:latin typeface="Arial"/>
                <a:ea typeface="Arial"/>
                <a:cs typeface="Arial"/>
                <a:sym typeface="Arial"/>
              </a:rPr>
              <a:t>Multiple fine-tuned llms independently generate responses, creating redundancy and reducing bias / hallucination</a:t>
            </a:r>
            <a:endParaRPr/>
          </a:p>
          <a:p>
            <a:pPr indent="0" lvl="0" marL="0" marR="0" rtl="0" algn="l">
              <a:spcBef>
                <a:spcPts val="0"/>
              </a:spcBef>
              <a:spcAft>
                <a:spcPts val="0"/>
              </a:spcAft>
              <a:buNone/>
            </a:pPr>
            <a:r>
              <a:t/>
            </a:r>
            <a:endParaRPr sz="1800">
              <a:solidFill>
                <a:schemeClr val="dk1"/>
              </a:solidFill>
              <a:latin typeface="Arial"/>
              <a:ea typeface="Arial"/>
              <a:cs typeface="Arial"/>
              <a:sym typeface="Arial"/>
            </a:endParaRPr>
          </a:p>
          <a:p>
            <a:pPr indent="0" lvl="0" marL="0" marR="0" rtl="0" algn="l">
              <a:spcBef>
                <a:spcPts val="0"/>
              </a:spcBef>
              <a:spcAft>
                <a:spcPts val="0"/>
              </a:spcAft>
              <a:buNone/>
            </a:pPr>
            <a:r>
              <a:rPr lang="en-US" sz="1800">
                <a:solidFill>
                  <a:schemeClr val="dk1"/>
                </a:solidFill>
                <a:latin typeface="Arial"/>
                <a:ea typeface="Arial"/>
                <a:cs typeface="Arial"/>
                <a:sym typeface="Arial"/>
              </a:rPr>
              <a:t>Dedicated reasoning model compares, validates, and synthesizes these outputs into a single trusted result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estaltVTI">
  <a:themeElements>
    <a:clrScheme name="Gestalt">
      <a:dk1>
        <a:srgbClr val="000000"/>
      </a:dk1>
      <a:lt1>
        <a:srgbClr val="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GestaltVTI">
  <a:themeElements>
    <a:clrScheme name="Gestalt">
      <a:dk1>
        <a:srgbClr val="000000"/>
      </a:dk1>
      <a:lt1>
        <a:srgbClr val="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2025-12-05T16:22:05Z</dcterms:created>
  <dc:creator>Gore, Ross J.</dc:creator>
</cp:coreProperties>
</file>
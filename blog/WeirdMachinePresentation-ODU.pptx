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isnCCV+nO04ZbZyOZduSj9ucMg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uringmachine.io"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0d07ae252_1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0d07ae25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Turing machines were initially ideated by Alan Turing, an English mathematician. They consist of a “tape,” which represents an </a:t>
            </a:r>
            <a:r>
              <a:rPr lang="en-US"/>
              <a:t>arbitrary</a:t>
            </a:r>
            <a:r>
              <a:rPr lang="en-US"/>
              <a:t> amount of memory, and a “tape head,” which points to the current position in the memory. The head reads the value at that position in memory and conditionally moves to the left or right. The underlying Turing Machine consists of various states and transitions, which provide instructions to write a value and move left or right based the input value. In computer science, they are used to represent </a:t>
            </a:r>
            <a:r>
              <a:rPr i="1" lang="en-US"/>
              <a:t>decidable problems</a:t>
            </a:r>
            <a:r>
              <a:rPr lang="en-US"/>
              <a:t>, which are problems that are “computationally feasible” to compute. Computer programs are </a:t>
            </a:r>
            <a:r>
              <a:rPr i="1" lang="en-US"/>
              <a:t>implementations</a:t>
            </a:r>
            <a:r>
              <a:rPr lang="en-US"/>
              <a:t> of Turing Machines, although exact </a:t>
            </a:r>
            <a:r>
              <a:rPr lang="en-US"/>
              <a:t>implementations</a:t>
            </a:r>
            <a:r>
              <a:rPr lang="en-US"/>
              <a:t> may depend on the language and programmer.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So, what happens when the implementation of a Turing Machine does not match the theoretical design? The Turing Machine in the image (from </a:t>
            </a:r>
            <a:r>
              <a:rPr lang="en-US" u="sng">
                <a:solidFill>
                  <a:schemeClr val="hlink"/>
                </a:solidFill>
                <a:hlinkClick r:id="rId2"/>
              </a:rPr>
              <a:t>https://turingmachine.io</a:t>
            </a:r>
            <a:r>
              <a:rPr lang="en-US"/>
              <a:t>) </a:t>
            </a:r>
            <a:r>
              <a:rPr lang="en-US"/>
              <a:t>simulates adding “1” to a given binary number. The machine moves right to the end of the binary number, then moves left and changes 1s to 0s until a 0 or blank is reached and changed to a “1” in the transition to the “done” state. A programmer could implement this fairly easy in almost any modern language, but while the </a:t>
            </a:r>
            <a:r>
              <a:rPr lang="en-US"/>
              <a:t>TM</a:t>
            </a:r>
            <a:r>
              <a:rPr lang="en-US"/>
              <a:t> itself may not be </a:t>
            </a:r>
            <a:r>
              <a:rPr lang="en-US"/>
              <a:t>affected</a:t>
            </a:r>
            <a:r>
              <a:rPr lang="en-US"/>
              <a:t> by unintended inputs, the implementation could be. This is the central concept of the “Weird Machine;” unintended (“weird”) states and behaviors can emerge from inputs that the programmer did not account for or consider. A very well-known example of this is a Buffer Overflow attack, where an attacker uses a specially-crafted input to overwrite values on memory and arbitrarily execute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Weird machines can add both benign and malicious functionalities to a machine.</a:t>
            </a:r>
            <a:endParaRPr/>
          </a:p>
        </p:txBody>
      </p:sp>
      <p:sp>
        <p:nvSpPr>
          <p:cNvPr id="116" name="Google Shape;11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Sam - </a:t>
            </a:r>
            <a:r>
              <a:rPr lang="en-US" sz="1200">
                <a:solidFill>
                  <a:schemeClr val="dk1"/>
                </a:solidFill>
              </a:rPr>
              <a:t>From Buffer Overflows to “Weird Machines” and Theory of Computation </a:t>
            </a:r>
            <a:r>
              <a:rPr lang="en-US">
                <a:solidFill>
                  <a:schemeClr val="dk1"/>
                </a:solidFill>
              </a:rPr>
              <a:t>paper was the most helpful because it reframed exploits not as ad-hoc hacking, but as programs for emergent “weird machines,” which really helped connect practical exploitation techniques to computability theory and providing a clearer way to reason about unexpected system behavior.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Jada - Both Bratus papers were especially useful in understanding what a Weird Machine was and how it could result from existing structures in a program or system. </a:t>
            </a:r>
            <a:r>
              <a:rPr i="1" lang="en-US">
                <a:solidFill>
                  <a:schemeClr val="dk1"/>
                </a:solidFill>
              </a:rPr>
              <a:t>Hacking &amp; Computer Science</a:t>
            </a:r>
            <a:r>
              <a:rPr lang="en-US"/>
              <a:t> introduced the concept of data-ruled machine rather than machine-controlled data. Machines operate based on the data they are given and are thus controlled by them. </a:t>
            </a:r>
            <a:r>
              <a:rPr i="1" lang="en-US"/>
              <a:t>From Buffer Overflows…</a:t>
            </a:r>
            <a:r>
              <a:rPr lang="en-US"/>
              <a:t> provided exploits as proofs for the presence of Weird Machines, connecting the security mindset to the theoretical.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Bri - </a:t>
            </a:r>
            <a:r>
              <a:rPr i="1" lang="en-US"/>
              <a:t>Hacking &amp; Computer Science by Bratus</a:t>
            </a:r>
            <a:r>
              <a:rPr lang="en-US"/>
              <a:t> introduced that security complexity can be a detriment in many systems even when organized within layers. It suggested that every system operated on some layer of trust, inviting exploitation a complex environment a weird machine would thrive in. Additionally, </a:t>
            </a:r>
            <a:r>
              <a:rPr i="1" lang="en-US"/>
              <a:t>Weird Machines, Exploitability, and Provable Unexploitability </a:t>
            </a:r>
            <a:r>
              <a:rPr lang="en-US"/>
              <a:t>by Dullien helped in defining a weird machine as a unintended, but functional state existing between a system’s normal operations. </a:t>
            </a:r>
            <a:endParaRPr/>
          </a:p>
          <a:p>
            <a:pPr indent="0" lvl="0" marL="0" rtl="0" algn="l">
              <a:spcBef>
                <a:spcPts val="0"/>
              </a:spcBef>
              <a:spcAft>
                <a:spcPts val="0"/>
              </a:spcAft>
              <a:buClr>
                <a:schemeClr val="dk1"/>
              </a:buClr>
              <a:buSzPts val="1100"/>
              <a:buFont typeface="Arial"/>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timeline shows that weird machines aren’t new they have appeared repeatedly across hardware, software, and cyber-physical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 early weird machine example is the Apollo 13 Mailbox, arguably one of the first recorded beneficial cyber-physical weird machine, astronauts repurposed constrained hardware and procedures to compute a life-saving solution under failure conditions.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By the 1980s and 1990s, weird machines became visible in software, with the Morris Worm and early memory-reuse attacks demonstrating unintended computation at scale.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the 2000s, this behavior was formalized by ROP (Return-Oriented Programming) proving that even restricted gadgets can be Turing-complete, and Bratus et al. paper formally named and unified these behaviors under the concept of </a:t>
            </a:r>
            <a:r>
              <a:rPr i="1" lang="en-US">
                <a:solidFill>
                  <a:schemeClr val="dk1"/>
                </a:solidFill>
              </a:rPr>
              <a:t>weird machines</a:t>
            </a:r>
            <a:r>
              <a:rPr lang="en-US">
                <a:solidFill>
                  <a:schemeClr val="dk1"/>
                </a:solidFill>
              </a:rPr>
              <a:t>, giving us a vocabulary to reason about them.</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This work builds on that history by demonstrating intentional, dual-use weird machines in cyber-physical systems, showing they can be both beneficial and malicious depending on how they’re composed.</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0d07ae25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My personal experience of a weird machine came from a fighting game, Tekken 8, where through using unexpected inputs, players were able to give male characters access to a slapping move only intended for female characters. Users then exploited this further by building a syntax upon it when introducing other factors like specific stance changes and timing. As a result, movesets that had hardly changed for decades, became variables as characters began swapping movelists entirely, even allowing players to discover data tables for characters not yet in the game. </a:t>
            </a:r>
            <a:endParaRPr/>
          </a:p>
        </p:txBody>
      </p:sp>
      <p:sp>
        <p:nvSpPr>
          <p:cNvPr id="148" name="Google Shape;148;g3b0d07ae252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71945877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7194587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A weird machine gadget is just a set of pieces in a system that were never meant to be a programming language, but that you can still “wire together” to make the system follow your instructions. Think of it as finding Lego bricks hidden inside something that was supposed to be finished and fixed.</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In the video game world, a famous example showed up in Final Fantasy VII. Players discovered that by performing a particular sequence of actions around saving, loading, or exiting, the game would write inconsistent state to disk and then reload it as if the same item existed in two places. Players ended up with duplicate high-value gear or endgame items much earlier than intended, effectively “programming” the game into giving them extra items without touching the code directly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So the save file, the game’s loader, and the console’s memory layout together form a gadget: controllable pieces that, when combined carefully, behave like a little unintended program. The designers never meant for save files to be code, but attackers turned them into exactly that.</a:t>
            </a:r>
            <a:endParaRPr sz="1200">
              <a:solidFill>
                <a:schemeClr val="dk1"/>
              </a:solidFill>
              <a:latin typeface="Roboto"/>
              <a:ea typeface="Roboto"/>
              <a:cs typeface="Roboto"/>
              <a:sym typeface="Roboto"/>
            </a:endParaRPr>
          </a:p>
          <a:p>
            <a:pPr indent="0" lvl="0" marL="0" rtl="0" algn="l">
              <a:spcBef>
                <a:spcPts val="6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wind energy test bed operates as a scaled-down cyber‑physical wind farm, integrating turbines, industrial controllers, and a SCADA system into a unified environment.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architecture centers on Modbus TCP interconnections. Edge controllers (PLCs and Raspberry Pis) expose turbine data and command interfaces via Modbus, which are routed through a custom Python‑based proxy. This proxy inspects Modbus traffic to authenticate devices, effectively acting as a secure gateway before forwarding data. The Rapid SCADA server is configured to poll and control these networked devices simultaneously using Modbus commands, mapping specific registers to system logs. This design replicates the Modbus‑driven supervisory control and cybersecurity stack of a production wind farm.</a:t>
            </a:r>
            <a:endParaRPr/>
          </a:p>
          <a:p>
            <a:pPr indent="0" lvl="0" marL="0" rtl="0" algn="l">
              <a:spcBef>
                <a:spcPts val="0"/>
              </a:spcBef>
              <a:spcAft>
                <a:spcPts val="0"/>
              </a:spcAft>
              <a:buNone/>
            </a:pPr>
            <a:r>
              <a:t/>
            </a:r>
            <a:endParaRPr/>
          </a:p>
        </p:txBody>
      </p:sp>
      <p:sp>
        <p:nvSpPr>
          <p:cNvPr id="171" name="Google Shape;17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71d4f651d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71d4f651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Modbus defines how everything communicates in the test bed. It uses two simple building blocks: coils, which are like on-off switches, and registers, which store numbers. Every sensor and every control device gets assigned an address. When a turbine's wind sensor measures the wind speed, that number shows up in a specific register. When the SCADA server wants to shut down a turbine, it flips a specific coil. A key feature is that same register can be read by multiple systems at the same time. This shared address space is really the connective tissue of the whole system. Every device in the wind farm—sensors, controllers, the SCADA server—they're all reading from and writing to the same set of addresses. It's elegant, but it also means that any device connected to the network could potentially access any register.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Coming from a traditional software mindset, we expect systems to behave according to their APIs, inputs go in, outputs come out, and anything unexpected is treated as a bug.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That assumption breaks down in cyber-physical systems, where software doesn’t just compute, it directly controls hardware.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In our wind-energy testbed, PLC logic and control software affect physical turbines, sensors, and actuators. Timing delays, protocol retries, and feedback loops introduce behaviors that simply don’t exist in software-only systems.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This is where weird machines emerge – not purely in code or hardware, but in their interaction.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Because we’re not energy engineers or PLC experts, we built a Python API that abstracts Modbus registers, PLC state, and timing behavior into composable software primitives. This let us explore the architecture as software engineers and ask: what unintended machines already exist here?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Using these gadgets, we could intentionally compose and discover cyber-physical weird machines in software. In future work, these models will be deployed onto the actual hardware to evaluate how much of this behavior can run in the background of a live system.</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89" name="Google Shape;1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0d07ae252_9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3b0d07ae252_9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0d07ae252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SzPts val="1100"/>
              <a:buNone/>
            </a:pPr>
            <a:r>
              <a:rPr lang="en-US">
                <a:solidFill>
                  <a:schemeClr val="dk1"/>
                </a:solidFill>
              </a:rPr>
              <a:t>In the wind-energy testbed, we treat Modbus-like operations as primitives. By sequencing register/coil reads and writes, </a:t>
            </a:r>
            <a:endParaRPr>
              <a:solidFill>
                <a:schemeClr val="dk1"/>
              </a:solidFill>
            </a:endParaRPr>
          </a:p>
          <a:p>
            <a:pPr indent="0" lvl="0" marL="0" rtl="0" algn="l">
              <a:lnSpc>
                <a:spcPct val="200000"/>
              </a:lnSpc>
              <a:spcBef>
                <a:spcPts val="0"/>
              </a:spcBef>
              <a:spcAft>
                <a:spcPts val="0"/>
              </a:spcAft>
              <a:buSzPts val="1100"/>
              <a:buNone/>
            </a:pPr>
            <a:r>
              <a:rPr lang="en-US">
                <a:solidFill>
                  <a:schemeClr val="dk1"/>
                </a:solidFill>
              </a:rPr>
              <a:t>then adding control gadgets like wait/conditional/loop, we can build composite behaviors like counters, timers, </a:t>
            </a:r>
            <a:endParaRPr>
              <a:solidFill>
                <a:schemeClr val="dk1"/>
              </a:solidFill>
            </a:endParaRPr>
          </a:p>
          <a:p>
            <a:pPr indent="0" lvl="0" marL="0" rtl="0" algn="l">
              <a:lnSpc>
                <a:spcPct val="200000"/>
              </a:lnSpc>
              <a:spcBef>
                <a:spcPts val="0"/>
              </a:spcBef>
              <a:spcAft>
                <a:spcPts val="0"/>
              </a:spcAft>
              <a:buClr>
                <a:schemeClr val="dk1"/>
              </a:buClr>
              <a:buSzPts val="1100"/>
              <a:buFont typeface="Arial"/>
              <a:buNone/>
            </a:pPr>
            <a:r>
              <a:rPr lang="en-US">
                <a:solidFill>
                  <a:schemeClr val="dk1"/>
                </a:solidFill>
              </a:rPr>
              <a:t>and even state machines computation emerging from the protocol itself. Allowing unintended computational structure to emerge within a non-computational control protocol.</a:t>
            </a:r>
            <a:endParaRPr/>
          </a:p>
        </p:txBody>
      </p:sp>
      <p:sp>
        <p:nvSpPr>
          <p:cNvPr id="206" name="Google Shape;206;g3b0d07ae252_5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0d07ae25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Using the modbus features I created a counter that relayed codewords only if a coil was flipped as true. These codewords would be signaled in intervals, writing strings to register addresses, and then finally modifying the initial coil to return back to false after completing. As mentioned previously, modbus coils naturally flip in changes to the machines operation. A simple program like this would allow for an outsider to not only monitor but also exploit vulnerable states, as this would only execute from naturally </a:t>
            </a:r>
            <a:r>
              <a:rPr lang="en-US"/>
              <a:t>occurring</a:t>
            </a:r>
            <a:r>
              <a:rPr lang="en-US"/>
              <a:t> conditions in the machines intended state. </a:t>
            </a:r>
            <a:endParaRPr/>
          </a:p>
        </p:txBody>
      </p:sp>
      <p:sp>
        <p:nvSpPr>
          <p:cNvPr id="221" name="Google Shape;221;g3b0d07ae252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0d07ae252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This implementation of the Weird Gadgets creates a remote mailbox system where messages can be read and written. There is a segmented implementation, where messages of arbitrary size can be sent one character at a time, and an unsegmented implementation, where messages less than some memory size are converted to raw bytes and stored for retrieval. Both pseudo programs make use of conditionals and read/write functions with both integer registers and binary foils. The segmented program also uses loops to iterate through each character of the message.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included screenshot shows one iteration of the segmented messaging system. One system starts by writing a character ASCII value to the specified integer register and changing the “unread message” coil to “On” (logically, “True”). The host checks to see if there is a message by reading the “unread message” coil and goes to read the associated message register if it is on. The character is output to the screen and the “unread message” coil is turned off to mark the message as read. This occurs for each letter in the message, terminating when there are no more characters left to send.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These two programs demonstrate the flexibility of Weird Machines and Architectural Gadgets to create functionality outside of the intended set.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0" name="Google Shape;230;g3b0d07ae252_2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0d07ae252_2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b0d07ae252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As they are Turing Complete, these languages can be used to solve any </a:t>
            </a:r>
            <a:r>
              <a:rPr i="1" lang="en-US"/>
              <a:t>decidable</a:t>
            </a:r>
            <a:r>
              <a:rPr lang="en-US"/>
              <a:t> programming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Something interesting found during the literature review was the </a:t>
            </a:r>
            <a:r>
              <a:rPr i="1" lang="en-US"/>
              <a:t>Crema</a:t>
            </a:r>
            <a:r>
              <a:rPr lang="en-US"/>
              <a:t> programming framework, which proposed non-Turing Complete programming languages. It was created with the argument that Turing Completeness is not always necessary or needed for specific programs.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200000"/>
              </a:lnSpc>
              <a:spcBef>
                <a:spcPts val="1200"/>
              </a:spcBef>
              <a:spcAft>
                <a:spcPts val="0"/>
              </a:spcAft>
              <a:buNone/>
            </a:pPr>
            <a:r>
              <a:rPr lang="en-US"/>
              <a:t>This work doesn’t end with the prototype gadgets we built. The next step is formalizing the research, reflecting on the tooling that enabled it, </a:t>
            </a:r>
            <a:endParaRPr/>
          </a:p>
          <a:p>
            <a:pPr indent="0" lvl="0" marL="0" marR="381000" rtl="0" algn="l">
              <a:lnSpc>
                <a:spcPct val="200000"/>
              </a:lnSpc>
              <a:spcBef>
                <a:spcPts val="1200"/>
              </a:spcBef>
              <a:spcAft>
                <a:spcPts val="0"/>
              </a:spcAft>
              <a:buNone/>
            </a:pPr>
            <a:r>
              <a:rPr lang="en-US"/>
              <a:t>and exploring how LLMs could help scale weird-machine discovery across cyber physical systems such as our Wind Energy Testbed.</a:t>
            </a:r>
            <a:endParaRPr/>
          </a:p>
          <a:p>
            <a:pPr indent="0" lvl="0" marL="0" rtl="0" algn="l">
              <a:spcBef>
                <a:spcPts val="1200"/>
              </a:spcBef>
              <a:spcAft>
                <a:spcPts val="0"/>
              </a:spcAft>
              <a:buNone/>
            </a:pPr>
            <a:r>
              <a:t/>
            </a:r>
            <a:endParaRPr/>
          </a:p>
        </p:txBody>
      </p:sp>
      <p:sp>
        <p:nvSpPr>
          <p:cNvPr id="254" name="Google Shape;25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A consortium LLM is a team of specialized models plus a reasoning “conductor” that turns many opinions into one justified decision. It lets us replace a single general model with a coordinated group that can explain what it decided and why.</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Instead of relying on one large language model, we use several smaller, specialized models that all read the same technical manual from different perspectives. This setup mimics a case conference: each “expert” notices different clues, and together they give a more reliable answer than any one model alone.</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Each member starts as a general‑purpose model, then is fine‑tuned on domain‑specific data and task‑specific outputs. In our case, that means fine‑tuning on the weird‑machine gadget work we already did by hand on the wind energy test bed, using its technical manuals and our labeled gadget examples. That training teaches each model to “speak the local language” of registers, coils, state machines, protocol bridges, and security checks in exactly the way we analyzed them manually.</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On top of these specialists sits a reasoning LLM that acts as the orchestrator. It takes their proposed gadgets, compares where they agree or disagree, and then walks through an explicit step‑by‑step argument to choose a final answer and rationale. This turns raw diversity into structured consensus, makes the process transparent, and lets the system know when to hand a hard case back to a human because disagreement remains high.</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What the output looks like</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For example, the consortium might produce an output like:</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US" sz="1200">
                <a:solidFill>
                  <a:schemeClr val="dk1"/>
                </a:solidFill>
                <a:latin typeface="Roboto"/>
                <a:ea typeface="Roboto"/>
                <a:cs typeface="Roboto"/>
                <a:sym typeface="Roboto"/>
              </a:rPr>
              <a:t>“Type: Read/Write gadget. Location: Modbus holding register 40001, accessed via FC03/FC06 in the turbine technical manual. Explanation: By issuing a sequence of legitimate writes and reads to 40001 each control cycle, one can implement a counter variable for use in a weird machine.</a:t>
            </a:r>
            <a:endParaRPr sz="1200">
              <a:solidFill>
                <a:schemeClr val="dk1"/>
              </a:solidFill>
              <a:latin typeface="Roboto"/>
              <a:ea typeface="Roboto"/>
              <a:cs typeface="Roboto"/>
              <a:sym typeface="Roboto"/>
            </a:endParaRPr>
          </a:p>
        </p:txBody>
      </p:sp>
      <p:sp>
        <p:nvSpPr>
          <p:cNvPr id="260" name="Google Shape;26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71d4f65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200000"/>
              </a:lnSpc>
              <a:spcBef>
                <a:spcPts val="1200"/>
              </a:spcBef>
              <a:spcAft>
                <a:spcPts val="0"/>
              </a:spcAft>
              <a:buNone/>
            </a:pPr>
            <a:r>
              <a:rPr lang="en-US"/>
              <a:t>This work doesn’t end with the prototype gadgets we built. The next step is formalizing the research, reflecting on the tooling that enabled it, </a:t>
            </a:r>
            <a:endParaRPr/>
          </a:p>
          <a:p>
            <a:pPr indent="0" lvl="0" marL="0" marR="381000" rtl="0" algn="l">
              <a:lnSpc>
                <a:spcPct val="200000"/>
              </a:lnSpc>
              <a:spcBef>
                <a:spcPts val="1200"/>
              </a:spcBef>
              <a:spcAft>
                <a:spcPts val="0"/>
              </a:spcAft>
              <a:buNone/>
            </a:pPr>
            <a:r>
              <a:rPr lang="en-US"/>
              <a:t>and exploring how LLMs could help scale weird-machine discovery across cyber physical systems such as our Wind Energy Testbed.</a:t>
            </a:r>
            <a:endParaRPr/>
          </a:p>
          <a:p>
            <a:pPr indent="0" lvl="0" marL="0" rtl="0" algn="l">
              <a:spcBef>
                <a:spcPts val="1200"/>
              </a:spcBef>
              <a:spcAft>
                <a:spcPts val="0"/>
              </a:spcAft>
              <a:buNone/>
            </a:pPr>
            <a:r>
              <a:t/>
            </a:r>
            <a:endParaRPr/>
          </a:p>
        </p:txBody>
      </p:sp>
      <p:sp>
        <p:nvSpPr>
          <p:cNvPr id="271" name="Google Shape;271;g3a71d4f651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7"/>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 name="Google Shape;14;p17"/>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lt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7"/>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lt1"/>
              </a:buClr>
              <a:buSzPts val="2200"/>
              <a:buNone/>
              <a:defRPr i="1" sz="2200"/>
            </a:lvl1pPr>
            <a:lvl2pPr lvl="1" algn="ctr">
              <a:lnSpc>
                <a:spcPct val="110000"/>
              </a:lnSpc>
              <a:spcBef>
                <a:spcPts val="500"/>
              </a:spcBef>
              <a:spcAft>
                <a:spcPts val="0"/>
              </a:spcAft>
              <a:buClr>
                <a:schemeClr val="lt1"/>
              </a:buClr>
              <a:buSzPts val="2000"/>
              <a:buNone/>
              <a:defRPr sz="2000"/>
            </a:lvl2pPr>
            <a:lvl3pPr lvl="2" algn="ctr">
              <a:lnSpc>
                <a:spcPct val="110000"/>
              </a:lnSpc>
              <a:spcBef>
                <a:spcPts val="500"/>
              </a:spcBef>
              <a:spcAft>
                <a:spcPts val="0"/>
              </a:spcAft>
              <a:buClr>
                <a:schemeClr val="lt1"/>
              </a:buClr>
              <a:buSzPts val="1800"/>
              <a:buNone/>
              <a:defRPr sz="1800"/>
            </a:lvl3pPr>
            <a:lvl4pPr lvl="3" algn="ctr">
              <a:lnSpc>
                <a:spcPct val="110000"/>
              </a:lnSpc>
              <a:spcBef>
                <a:spcPts val="500"/>
              </a:spcBef>
              <a:spcAft>
                <a:spcPts val="0"/>
              </a:spcAft>
              <a:buClr>
                <a:schemeClr val="lt1"/>
              </a:buClr>
              <a:buSzPts val="1600"/>
              <a:buNone/>
              <a:defRPr sz="1600"/>
            </a:lvl4pPr>
            <a:lvl5pPr lvl="4" algn="ctr">
              <a:lnSpc>
                <a:spcPct val="11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8"/>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8"/>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8"/>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8"/>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16"/>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 name="Google Shape;34;p16"/>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dk1"/>
              </a:buClr>
              <a:buSzPts val="2200"/>
              <a:buNone/>
              <a:defRPr i="1" sz="22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16"/>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6"/>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9" name="Shape 39"/>
        <p:cNvGrpSpPr/>
        <p:nvPr/>
      </p:nvGrpSpPr>
      <p:grpSpPr>
        <a:xfrm>
          <a:off x="0" y="0"/>
          <a:ext cx="0" cy="0"/>
          <a:chOff x="0" y="0"/>
          <a:chExt cx="0" cy="0"/>
        </a:xfrm>
      </p:grpSpPr>
      <p:sp>
        <p:nvSpPr>
          <p:cNvPr id="40" name="Google Shape;40;p19"/>
          <p:cNvSpPr txBox="1"/>
          <p:nvPr>
            <p:ph type="title"/>
          </p:nvPr>
        </p:nvSpPr>
        <p:spPr>
          <a:xfrm>
            <a:off x="521208" y="978408"/>
            <a:ext cx="5020056" cy="428853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9"/>
          <p:cNvSpPr txBox="1"/>
          <p:nvPr>
            <p:ph idx="1" type="body"/>
          </p:nvPr>
        </p:nvSpPr>
        <p:spPr>
          <a:xfrm>
            <a:off x="521208" y="5266944"/>
            <a:ext cx="5020056" cy="1088136"/>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rgbClr val="757575"/>
              </a:buClr>
              <a:buSzPts val="2200"/>
              <a:buNone/>
              <a:defRPr i="1" sz="2200">
                <a:solidFill>
                  <a:srgbClr val="757575"/>
                </a:solidFill>
              </a:defRPr>
            </a:lvl1pPr>
            <a:lvl2pPr indent="-228600" lvl="1" marL="914400" algn="l">
              <a:lnSpc>
                <a:spcPct val="110000"/>
              </a:lnSpc>
              <a:spcBef>
                <a:spcPts val="500"/>
              </a:spcBef>
              <a:spcAft>
                <a:spcPts val="0"/>
              </a:spcAft>
              <a:buClr>
                <a:srgbClr val="757575"/>
              </a:buClr>
              <a:buSzPts val="2000"/>
              <a:buNone/>
              <a:defRPr sz="2000">
                <a:solidFill>
                  <a:srgbClr val="757575"/>
                </a:solidFill>
              </a:defRPr>
            </a:lvl2pPr>
            <a:lvl3pPr indent="-228600" lvl="2" marL="1371600" algn="l">
              <a:lnSpc>
                <a:spcPct val="110000"/>
              </a:lnSpc>
              <a:spcBef>
                <a:spcPts val="500"/>
              </a:spcBef>
              <a:spcAft>
                <a:spcPts val="0"/>
              </a:spcAft>
              <a:buClr>
                <a:srgbClr val="757575"/>
              </a:buClr>
              <a:buSzPts val="1800"/>
              <a:buNone/>
              <a:defRPr sz="1800">
                <a:solidFill>
                  <a:srgbClr val="757575"/>
                </a:solidFill>
              </a:defRPr>
            </a:lvl3pPr>
            <a:lvl4pPr indent="-228600" lvl="3" marL="1828800" algn="l">
              <a:lnSpc>
                <a:spcPct val="110000"/>
              </a:lnSpc>
              <a:spcBef>
                <a:spcPts val="500"/>
              </a:spcBef>
              <a:spcAft>
                <a:spcPts val="0"/>
              </a:spcAft>
              <a:buClr>
                <a:srgbClr val="757575"/>
              </a:buClr>
              <a:buSzPts val="1600"/>
              <a:buNone/>
              <a:defRPr sz="1600">
                <a:solidFill>
                  <a:srgbClr val="757575"/>
                </a:solidFill>
              </a:defRPr>
            </a:lvl4pPr>
            <a:lvl5pPr indent="-228600" lvl="4" marL="2286000" algn="l">
              <a:lnSpc>
                <a:spcPct val="11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2" name="Google Shape;42;p19"/>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9"/>
          <p:cNvSpPr/>
          <p:nvPr/>
        </p:nvSpPr>
        <p:spPr>
          <a:xfrm>
            <a:off x="517870" y="508090"/>
            <a:ext cx="5021183"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20"/>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0"/>
          <p:cNvSpPr txBox="1"/>
          <p:nvPr>
            <p:ph idx="1" type="body"/>
          </p:nvPr>
        </p:nvSpPr>
        <p:spPr>
          <a:xfrm>
            <a:off x="521208"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0"/>
          <p:cNvSpPr txBox="1"/>
          <p:nvPr>
            <p:ph idx="2" type="body"/>
          </p:nvPr>
        </p:nvSpPr>
        <p:spPr>
          <a:xfrm>
            <a:off x="6519672"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0"/>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0"/>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21"/>
          <p:cNvSpPr txBox="1"/>
          <p:nvPr>
            <p:ph type="title"/>
          </p:nvPr>
        </p:nvSpPr>
        <p:spPr>
          <a:xfrm>
            <a:off x="521208" y="978408"/>
            <a:ext cx="11164824" cy="12161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1"/>
          <p:cNvSpPr txBox="1"/>
          <p:nvPr>
            <p:ph idx="1" type="body"/>
          </p:nvPr>
        </p:nvSpPr>
        <p:spPr>
          <a:xfrm>
            <a:off x="521208"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21"/>
          <p:cNvSpPr txBox="1"/>
          <p:nvPr>
            <p:ph idx="2" type="body"/>
          </p:nvPr>
        </p:nvSpPr>
        <p:spPr>
          <a:xfrm>
            <a:off x="521208"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1"/>
          <p:cNvSpPr txBox="1"/>
          <p:nvPr>
            <p:ph idx="3" type="body"/>
          </p:nvPr>
        </p:nvSpPr>
        <p:spPr>
          <a:xfrm>
            <a:off x="6519672"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21"/>
          <p:cNvSpPr txBox="1"/>
          <p:nvPr>
            <p:ph idx="4" type="body"/>
          </p:nvPr>
        </p:nvSpPr>
        <p:spPr>
          <a:xfrm>
            <a:off x="6519672"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1"/>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1"/>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22"/>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2"/>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7" name="Shape 67"/>
        <p:cNvGrpSpPr/>
        <p:nvPr/>
      </p:nvGrpSpPr>
      <p:grpSpPr>
        <a:xfrm>
          <a:off x="0" y="0"/>
          <a:ext cx="0" cy="0"/>
          <a:chOff x="0" y="0"/>
          <a:chExt cx="0" cy="0"/>
        </a:xfrm>
      </p:grpSpPr>
      <p:sp>
        <p:nvSpPr>
          <p:cNvPr id="68" name="Google Shape;68;p23"/>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3"/>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24"/>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4"/>
          <p:cNvSpPr txBox="1"/>
          <p:nvPr>
            <p:ph idx="1" type="body"/>
          </p:nvPr>
        </p:nvSpPr>
        <p:spPr>
          <a:xfrm>
            <a:off x="6519672" y="987424"/>
            <a:ext cx="5166360" cy="5358384"/>
          </a:xfrm>
          <a:prstGeom prst="rect">
            <a:avLst/>
          </a:prstGeom>
          <a:noFill/>
          <a:ln>
            <a:noFill/>
          </a:ln>
        </p:spPr>
        <p:txBody>
          <a:bodyPr anchorCtr="0" anchor="t" bIns="45700" lIns="91425" spcFirstLastPara="1" rIns="91425" wrap="square" tIns="45700">
            <a:normAutofit/>
          </a:bodyPr>
          <a:lstStyle>
            <a:lvl1pPr indent="-355600" lvl="0" marL="457200" algn="l">
              <a:lnSpc>
                <a:spcPct val="110000"/>
              </a:lnSpc>
              <a:spcBef>
                <a:spcPts val="1000"/>
              </a:spcBef>
              <a:spcAft>
                <a:spcPts val="0"/>
              </a:spcAft>
              <a:buClr>
                <a:schemeClr val="dk1"/>
              </a:buClr>
              <a:buSzPts val="2000"/>
              <a:buChar char="•"/>
              <a:defRPr sz="2000"/>
            </a:lvl1pPr>
            <a:lvl2pPr indent="-342900" lvl="1" marL="914400" algn="l">
              <a:lnSpc>
                <a:spcPct val="110000"/>
              </a:lnSpc>
              <a:spcBef>
                <a:spcPts val="500"/>
              </a:spcBef>
              <a:spcAft>
                <a:spcPts val="0"/>
              </a:spcAft>
              <a:buClr>
                <a:schemeClr val="dk1"/>
              </a:buClr>
              <a:buSzPts val="1800"/>
              <a:buChar char="•"/>
              <a:defRPr sz="1800"/>
            </a:lvl2pPr>
            <a:lvl3pPr indent="-330200" lvl="2" marL="1371600" algn="l">
              <a:lnSpc>
                <a:spcPct val="110000"/>
              </a:lnSpc>
              <a:spcBef>
                <a:spcPts val="500"/>
              </a:spcBef>
              <a:spcAft>
                <a:spcPts val="0"/>
              </a:spcAft>
              <a:buClr>
                <a:schemeClr val="dk1"/>
              </a:buClr>
              <a:buSzPts val="1600"/>
              <a:buChar char="•"/>
              <a:defRPr sz="1600"/>
            </a:lvl3pPr>
            <a:lvl4pPr indent="-317500" lvl="3" marL="1828800" algn="l">
              <a:lnSpc>
                <a:spcPct val="110000"/>
              </a:lnSpc>
              <a:spcBef>
                <a:spcPts val="500"/>
              </a:spcBef>
              <a:spcAft>
                <a:spcPts val="0"/>
              </a:spcAft>
              <a:buClr>
                <a:schemeClr val="dk1"/>
              </a:buClr>
              <a:buSzPts val="1400"/>
              <a:buChar char="•"/>
              <a:defRPr sz="1400"/>
            </a:lvl4pPr>
            <a:lvl5pPr indent="-317500" lvl="4" marL="2286000" algn="l">
              <a:lnSpc>
                <a:spcPct val="110000"/>
              </a:lnSpc>
              <a:spcBef>
                <a:spcPts val="500"/>
              </a:spcBef>
              <a:spcAft>
                <a:spcPts val="0"/>
              </a:spcAft>
              <a:buClr>
                <a:schemeClr val="dk1"/>
              </a:buClr>
              <a:buSzPts val="1400"/>
              <a:buChar char="•"/>
              <a:defRPr sz="14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24"/>
          <p:cNvSpPr txBox="1"/>
          <p:nvPr>
            <p:ph idx="2"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24"/>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25"/>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p:nvPr>
            <p:ph idx="2" type="pic"/>
          </p:nvPr>
        </p:nvSpPr>
        <p:spPr>
          <a:xfrm>
            <a:off x="6519672" y="987424"/>
            <a:ext cx="5166360" cy="5358384"/>
          </a:xfrm>
          <a:prstGeom prst="rect">
            <a:avLst/>
          </a:prstGeom>
          <a:noFill/>
          <a:ln>
            <a:noFill/>
          </a:ln>
        </p:spPr>
      </p:sp>
      <p:sp>
        <p:nvSpPr>
          <p:cNvPr id="81" name="Google Shape;81;p25"/>
          <p:cNvSpPr txBox="1"/>
          <p:nvPr>
            <p:ph idx="1"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25"/>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26"/>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26"/>
          <p:cNvSpPr txBox="1"/>
          <p:nvPr>
            <p:ph idx="1" type="body"/>
          </p:nvPr>
        </p:nvSpPr>
        <p:spPr>
          <a:xfrm rot="5400000">
            <a:off x="4215384" y="-1115568"/>
            <a:ext cx="3767328" cy="1115568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26"/>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6"/>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6"/>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1" name="Shape 91"/>
        <p:cNvGrpSpPr/>
        <p:nvPr/>
      </p:nvGrpSpPr>
      <p:grpSpPr>
        <a:xfrm>
          <a:off x="0" y="0"/>
          <a:ext cx="0" cy="0"/>
          <a:chOff x="0" y="0"/>
          <a:chExt cx="0" cy="0"/>
        </a:xfrm>
      </p:grpSpPr>
      <p:sp>
        <p:nvSpPr>
          <p:cNvPr id="92" name="Google Shape;92;p27"/>
          <p:cNvSpPr txBox="1"/>
          <p:nvPr>
            <p:ph type="title"/>
          </p:nvPr>
        </p:nvSpPr>
        <p:spPr>
          <a:xfrm rot="5400000">
            <a:off x="7251192" y="2386584"/>
            <a:ext cx="5367528" cy="255117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7"/>
          <p:cNvSpPr txBox="1"/>
          <p:nvPr>
            <p:ph idx="1" type="body"/>
          </p:nvPr>
        </p:nvSpPr>
        <p:spPr>
          <a:xfrm rot="5400000">
            <a:off x="1842516" y="-342900"/>
            <a:ext cx="5367528" cy="801014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2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27"/>
          <p:cNvSpPr/>
          <p:nvPr/>
        </p:nvSpPr>
        <p:spPr>
          <a:xfrm rot="5400000">
            <a:off x="8936623" y="3585018"/>
            <a:ext cx="5325734"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lt1"/>
              </a:buClr>
              <a:buSzPts val="4400"/>
              <a:buFont typeface="Arial"/>
              <a:buNone/>
              <a:defRPr b="1" i="0" sz="4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1pPr>
            <a:lvl2pPr indent="-330200" lvl="1" marL="914400" marR="0" rtl="0" algn="l">
              <a:lnSpc>
                <a:spcPct val="11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2pPr>
            <a:lvl3pPr indent="-317500" lvl="2" marL="1371600" marR="0" rtl="0" algn="l">
              <a:lnSpc>
                <a:spcPct val="110000"/>
              </a:lnSpc>
              <a:spcBef>
                <a:spcPts val="5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3pPr>
            <a:lvl4pPr indent="-304800" lvl="3" marL="1828800" marR="0" rtl="0" algn="l">
              <a:lnSpc>
                <a:spcPct val="110000"/>
              </a:lnSpc>
              <a:spcBef>
                <a:spcPts val="5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4pPr>
            <a:lvl5pPr indent="-304800" lvl="4" marL="2286000" marR="0" rtl="0" algn="l">
              <a:lnSpc>
                <a:spcPct val="110000"/>
              </a:lnSpc>
              <a:spcBef>
                <a:spcPts val="5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 name="Google Shape;8;p15"/>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 name="Google Shape;9;p15"/>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0" name="Google Shape;10;p15"/>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lt1"/>
                </a:solidFill>
                <a:latin typeface="Arial"/>
                <a:ea typeface="Arial"/>
                <a:cs typeface="Arial"/>
                <a:sym typeface="Arial"/>
              </a:defRPr>
            </a:lvl1pPr>
            <a:lvl2pPr indent="0" lvl="1" marL="0" marR="0" rtl="0" algn="r">
              <a:spcBef>
                <a:spcPts val="0"/>
              </a:spcBef>
              <a:buNone/>
              <a:defRPr b="0" i="0" sz="900" u="none" cap="none" strike="noStrike">
                <a:solidFill>
                  <a:schemeClr val="lt1"/>
                </a:solidFill>
                <a:latin typeface="Arial"/>
                <a:ea typeface="Arial"/>
                <a:cs typeface="Arial"/>
                <a:sym typeface="Arial"/>
              </a:defRPr>
            </a:lvl2pPr>
            <a:lvl3pPr indent="0" lvl="2" marL="0" marR="0" rtl="0" algn="r">
              <a:spcBef>
                <a:spcPts val="0"/>
              </a:spcBef>
              <a:buNone/>
              <a:defRPr b="0" i="0" sz="900" u="none" cap="none" strike="noStrike">
                <a:solidFill>
                  <a:schemeClr val="lt1"/>
                </a:solidFill>
                <a:latin typeface="Arial"/>
                <a:ea typeface="Arial"/>
                <a:cs typeface="Arial"/>
                <a:sym typeface="Arial"/>
              </a:defRPr>
            </a:lvl3pPr>
            <a:lvl4pPr indent="0" lvl="3" marL="0" marR="0" rtl="0" algn="r">
              <a:spcBef>
                <a:spcPts val="0"/>
              </a:spcBef>
              <a:buNone/>
              <a:defRPr b="0" i="0" sz="900" u="none" cap="none" strike="noStrike">
                <a:solidFill>
                  <a:schemeClr val="lt1"/>
                </a:solidFill>
                <a:latin typeface="Arial"/>
                <a:ea typeface="Arial"/>
                <a:cs typeface="Arial"/>
                <a:sym typeface="Arial"/>
              </a:defRPr>
            </a:lvl4pPr>
            <a:lvl5pPr indent="0" lvl="4" marL="0" marR="0" rtl="0" algn="r">
              <a:spcBef>
                <a:spcPts val="0"/>
              </a:spcBef>
              <a:buNone/>
              <a:defRPr b="0" i="0" sz="900" u="none" cap="none" strike="noStrike">
                <a:solidFill>
                  <a:schemeClr val="lt1"/>
                </a:solidFill>
                <a:latin typeface="Arial"/>
                <a:ea typeface="Arial"/>
                <a:cs typeface="Arial"/>
                <a:sym typeface="Arial"/>
              </a:defRPr>
            </a:lvl5pPr>
            <a:lvl6pPr indent="0" lvl="5" marL="0" marR="0" rtl="0" algn="r">
              <a:spcBef>
                <a:spcPts val="0"/>
              </a:spcBef>
              <a:buNone/>
              <a:defRPr b="0" i="0" sz="900" u="none" cap="none" strike="noStrike">
                <a:solidFill>
                  <a:schemeClr val="lt1"/>
                </a:solidFill>
                <a:latin typeface="Arial"/>
                <a:ea typeface="Arial"/>
                <a:cs typeface="Arial"/>
                <a:sym typeface="Arial"/>
              </a:defRPr>
            </a:lvl6pPr>
            <a:lvl7pPr indent="0" lvl="6" marL="0" marR="0" rtl="0" algn="r">
              <a:spcBef>
                <a:spcPts val="0"/>
              </a:spcBef>
              <a:buNone/>
              <a:defRPr b="0" i="0" sz="900" u="none" cap="none" strike="noStrike">
                <a:solidFill>
                  <a:schemeClr val="lt1"/>
                </a:solidFill>
                <a:latin typeface="Arial"/>
                <a:ea typeface="Arial"/>
                <a:cs typeface="Arial"/>
                <a:sym typeface="Arial"/>
              </a:defRPr>
            </a:lvl7pPr>
            <a:lvl8pPr indent="0" lvl="7" marL="0" marR="0" rtl="0" algn="r">
              <a:spcBef>
                <a:spcPts val="0"/>
              </a:spcBef>
              <a:buNone/>
              <a:defRPr b="0" i="0" sz="900" u="none" cap="none" strike="noStrike">
                <a:solidFill>
                  <a:schemeClr val="lt1"/>
                </a:solidFill>
                <a:latin typeface="Arial"/>
                <a:ea typeface="Arial"/>
                <a:cs typeface="Arial"/>
                <a:sym typeface="Arial"/>
              </a:defRPr>
            </a:lvl8pPr>
            <a:lvl9pPr indent="0" lvl="8" marL="0" marR="0" rtl="0" algn="r">
              <a:spcBef>
                <a:spcPts val="0"/>
              </a:spcBef>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15"/>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14"/>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14"/>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lnSpc>
                <a:spcPct val="11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14"/>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3" name="Google Shape;23;p14"/>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 name="Google Shape;24;p14"/>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dk1"/>
                </a:solidFill>
                <a:latin typeface="Arial"/>
                <a:ea typeface="Arial"/>
                <a:cs typeface="Arial"/>
                <a:sym typeface="Arial"/>
              </a:defRPr>
            </a:lvl1pPr>
            <a:lvl2pPr indent="0" lvl="1" marL="0" marR="0" rtl="0" algn="r">
              <a:spcBef>
                <a:spcPts val="0"/>
              </a:spcBef>
              <a:buNone/>
              <a:defRPr b="0" i="0" sz="900" u="none" cap="none" strike="noStrike">
                <a:solidFill>
                  <a:schemeClr val="dk1"/>
                </a:solidFill>
                <a:latin typeface="Arial"/>
                <a:ea typeface="Arial"/>
                <a:cs typeface="Arial"/>
                <a:sym typeface="Arial"/>
              </a:defRPr>
            </a:lvl2pPr>
            <a:lvl3pPr indent="0" lvl="2" marL="0" marR="0" rtl="0" algn="r">
              <a:spcBef>
                <a:spcPts val="0"/>
              </a:spcBef>
              <a:buNone/>
              <a:defRPr b="0" i="0" sz="900" u="none" cap="none" strike="noStrike">
                <a:solidFill>
                  <a:schemeClr val="dk1"/>
                </a:solidFill>
                <a:latin typeface="Arial"/>
                <a:ea typeface="Arial"/>
                <a:cs typeface="Arial"/>
                <a:sym typeface="Arial"/>
              </a:defRPr>
            </a:lvl3pPr>
            <a:lvl4pPr indent="0" lvl="3" marL="0" marR="0" rtl="0" algn="r">
              <a:spcBef>
                <a:spcPts val="0"/>
              </a:spcBef>
              <a:buNone/>
              <a:defRPr b="0" i="0" sz="900" u="none" cap="none" strike="noStrike">
                <a:solidFill>
                  <a:schemeClr val="dk1"/>
                </a:solidFill>
                <a:latin typeface="Arial"/>
                <a:ea typeface="Arial"/>
                <a:cs typeface="Arial"/>
                <a:sym typeface="Arial"/>
              </a:defRPr>
            </a:lvl4pPr>
            <a:lvl5pPr indent="0" lvl="4" marL="0" marR="0" rtl="0" algn="r">
              <a:spcBef>
                <a:spcPts val="0"/>
              </a:spcBef>
              <a:buNone/>
              <a:defRPr b="0" i="0" sz="900" u="none" cap="none" strike="noStrike">
                <a:solidFill>
                  <a:schemeClr val="dk1"/>
                </a:solidFill>
                <a:latin typeface="Arial"/>
                <a:ea typeface="Arial"/>
                <a:cs typeface="Arial"/>
                <a:sym typeface="Arial"/>
              </a:defRPr>
            </a:lvl5pPr>
            <a:lvl6pPr indent="0" lvl="5" marL="0" marR="0" rtl="0" algn="r">
              <a:spcBef>
                <a:spcPts val="0"/>
              </a:spcBef>
              <a:buNone/>
              <a:defRPr b="0" i="0" sz="900" u="none" cap="none" strike="noStrike">
                <a:solidFill>
                  <a:schemeClr val="dk1"/>
                </a:solidFill>
                <a:latin typeface="Arial"/>
                <a:ea typeface="Arial"/>
                <a:cs typeface="Arial"/>
                <a:sym typeface="Arial"/>
              </a:defRPr>
            </a:lvl6pPr>
            <a:lvl7pPr indent="0" lvl="6" marL="0" marR="0" rtl="0" algn="r">
              <a:spcBef>
                <a:spcPts val="0"/>
              </a:spcBef>
              <a:buNone/>
              <a:defRPr b="0" i="0" sz="900" u="none" cap="none" strike="noStrike">
                <a:solidFill>
                  <a:schemeClr val="dk1"/>
                </a:solidFill>
                <a:latin typeface="Arial"/>
                <a:ea typeface="Arial"/>
                <a:cs typeface="Arial"/>
                <a:sym typeface="Arial"/>
              </a:defRPr>
            </a:lvl7pPr>
            <a:lvl8pPr indent="0" lvl="7" marL="0" marR="0" rtl="0" algn="r">
              <a:spcBef>
                <a:spcPts val="0"/>
              </a:spcBef>
              <a:buNone/>
              <a:defRPr b="0" i="0" sz="900" u="none" cap="none" strike="noStrike">
                <a:solidFill>
                  <a:schemeClr val="dk1"/>
                </a:solidFill>
                <a:latin typeface="Arial"/>
                <a:ea typeface="Arial"/>
                <a:cs typeface="Arial"/>
                <a:sym typeface="Arial"/>
              </a:defRPr>
            </a:lvl8pPr>
            <a:lvl9pPr indent="0" lvl="8" marL="0" marR="0" rtl="0" algn="r">
              <a:spcBef>
                <a:spcPts val="0"/>
              </a:spcBef>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 name="Google Shape;25;p14"/>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gif"/><Relationship Id="rId4" Type="http://schemas.openxmlformats.org/officeDocument/2006/relationships/image" Target="../media/image19.gif"/><Relationship Id="rId5" Type="http://schemas.openxmlformats.org/officeDocument/2006/relationships/image" Target="../media/image12.gif"/><Relationship Id="rId6"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mailto:jcumb002@odu.edu" TargetMode="External"/><Relationship Id="rId4" Type="http://schemas.openxmlformats.org/officeDocument/2006/relationships/hyperlink" Target="mailto:bdunn003@odu.edu" TargetMode="External"/><Relationship Id="rId5" Type="http://schemas.openxmlformats.org/officeDocument/2006/relationships/hyperlink" Target="mailto:sjack047@odu.edu" TargetMode="External"/><Relationship Id="rId6" Type="http://schemas.openxmlformats.org/officeDocument/2006/relationships/hyperlink" Target="mailto:rgore@odu.edu" TargetMode="External"/><Relationship Id="rId7" Type="http://schemas.openxmlformats.org/officeDocument/2006/relationships/hyperlink" Target="mailto:sshetty@odu.edu"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sp>
        <p:nvSpPr>
          <p:cNvPr id="102" name="Google Shape;102;p1"/>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A close up of triangles&#10;&#10;Description automatically generated" id="103" name="Google Shape;103;p1"/>
          <p:cNvPicPr preferRelativeResize="0"/>
          <p:nvPr/>
        </p:nvPicPr>
        <p:blipFill rotWithShape="1">
          <a:blip r:embed="rId3">
            <a:alphaModFix/>
          </a:blip>
          <a:srcRect b="0" l="0" r="0" t="15730"/>
          <a:stretch/>
        </p:blipFill>
        <p:spPr>
          <a:xfrm>
            <a:off x="20" y="10"/>
            <a:ext cx="12191980" cy="6857990"/>
          </a:xfrm>
          <a:prstGeom prst="rect">
            <a:avLst/>
          </a:prstGeom>
          <a:noFill/>
          <a:ln>
            <a:noFill/>
          </a:ln>
        </p:spPr>
      </p:pic>
      <p:sp>
        <p:nvSpPr>
          <p:cNvPr id="104" name="Google Shape;104;p1"/>
          <p:cNvSpPr/>
          <p:nvPr/>
        </p:nvSpPr>
        <p:spPr>
          <a:xfrm>
            <a:off x="0" y="5577840"/>
            <a:ext cx="12191999" cy="1280160"/>
          </a:xfrm>
          <a:prstGeom prst="rect">
            <a:avLst/>
          </a:prstGeom>
          <a:solidFill>
            <a:schemeClr val="dk1">
              <a:alpha val="2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05" name="Google Shape;105;p1"/>
          <p:cNvSpPr txBox="1"/>
          <p:nvPr>
            <p:ph type="ctrTitle"/>
          </p:nvPr>
        </p:nvSpPr>
        <p:spPr>
          <a:xfrm>
            <a:off x="320039" y="5731580"/>
            <a:ext cx="8196431" cy="9601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Arial"/>
              <a:buNone/>
            </a:pPr>
            <a:r>
              <a:rPr lang="en-US" sz="2800"/>
              <a:t>Detecting and Exploiting Emergent Security Behaviors in Cyber-Physical System Architectures</a:t>
            </a:r>
            <a:endParaRPr/>
          </a:p>
        </p:txBody>
      </p:sp>
      <p:sp>
        <p:nvSpPr>
          <p:cNvPr id="106" name="Google Shape;106;p1"/>
          <p:cNvSpPr txBox="1"/>
          <p:nvPr>
            <p:ph idx="1" type="subTitle"/>
          </p:nvPr>
        </p:nvSpPr>
        <p:spPr>
          <a:xfrm>
            <a:off x="8604503" y="5731580"/>
            <a:ext cx="3392781" cy="96012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lt1"/>
              </a:buClr>
              <a:buSzPts val="2000"/>
              <a:buNone/>
            </a:pPr>
            <a:r>
              <a:rPr lang="en-US" sz="2000"/>
              <a:t>A Weird Machines Approach</a:t>
            </a:r>
            <a:endParaRPr/>
          </a:p>
          <a:p>
            <a:pPr indent="0" lvl="0" marL="0" rtl="0" algn="r">
              <a:lnSpc>
                <a:spcPct val="100000"/>
              </a:lnSpc>
              <a:spcBef>
                <a:spcPts val="1000"/>
              </a:spcBef>
              <a:spcAft>
                <a:spcPts val="0"/>
              </a:spcAft>
              <a:buClr>
                <a:schemeClr val="lt1"/>
              </a:buClr>
              <a:buSzPts val="2000"/>
              <a:buNone/>
            </a:pPr>
            <a:r>
              <a:rPr lang="en-US" sz="2000"/>
              <a:t>Jada Cumberland, Brianne Dunn, Samuel Jackson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b0d07ae252_1_1"/>
          <p:cNvSpPr txBox="1"/>
          <p:nvPr>
            <p:ph type="title"/>
          </p:nvPr>
        </p:nvSpPr>
        <p:spPr>
          <a:xfrm>
            <a:off x="521208" y="978408"/>
            <a:ext cx="11155800" cy="1463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Turing Machines</a:t>
            </a:r>
            <a:endParaRPr/>
          </a:p>
        </p:txBody>
      </p:sp>
      <p:pic>
        <p:nvPicPr>
          <p:cNvPr id="112" name="Google Shape;112;g3b0d07ae252_1_1"/>
          <p:cNvPicPr preferRelativeResize="0"/>
          <p:nvPr/>
        </p:nvPicPr>
        <p:blipFill>
          <a:blip r:embed="rId3">
            <a:alphaModFix/>
          </a:blip>
          <a:stretch>
            <a:fillRect/>
          </a:stretch>
        </p:blipFill>
        <p:spPr>
          <a:xfrm>
            <a:off x="807726" y="2035050"/>
            <a:ext cx="4712226" cy="4608000"/>
          </a:xfrm>
          <a:prstGeom prst="rect">
            <a:avLst/>
          </a:prstGeom>
          <a:noFill/>
          <a:ln>
            <a:noFill/>
          </a:ln>
        </p:spPr>
      </p:pic>
      <p:pic>
        <p:nvPicPr>
          <p:cNvPr id="113" name="Google Shape;113;g3b0d07ae252_1_1"/>
          <p:cNvPicPr preferRelativeResize="0"/>
          <p:nvPr/>
        </p:nvPicPr>
        <p:blipFill>
          <a:blip r:embed="rId4">
            <a:alphaModFix/>
          </a:blip>
          <a:stretch>
            <a:fillRect/>
          </a:stretch>
        </p:blipFill>
        <p:spPr>
          <a:xfrm>
            <a:off x="6602676" y="1716423"/>
            <a:ext cx="4791080" cy="4926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2"/>
          <p:cNvSpPr/>
          <p:nvPr/>
        </p:nvSpPr>
        <p:spPr>
          <a:xfrm>
            <a:off x="0" y="0"/>
            <a:ext cx="12188952" cy="68579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9" name="Google Shape;119;p2"/>
          <p:cNvSpPr txBox="1"/>
          <p:nvPr>
            <p:ph type="title"/>
          </p:nvPr>
        </p:nvSpPr>
        <p:spPr>
          <a:xfrm>
            <a:off x="521208" y="978408"/>
            <a:ext cx="6300216" cy="132588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What is a weird machine?</a:t>
            </a:r>
            <a:endParaRPr/>
          </a:p>
        </p:txBody>
      </p:sp>
      <p:sp>
        <p:nvSpPr>
          <p:cNvPr id="120" name="Google Shape;120;p2"/>
          <p:cNvSpPr/>
          <p:nvPr/>
        </p:nvSpPr>
        <p:spPr>
          <a:xfrm>
            <a:off x="517868" y="508090"/>
            <a:ext cx="6281928"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1" name="Google Shape;121;p2"/>
          <p:cNvSpPr/>
          <p:nvPr/>
        </p:nvSpPr>
        <p:spPr>
          <a:xfrm>
            <a:off x="7513612" y="611650"/>
            <a:ext cx="4160520" cy="4571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22" name="Google Shape;122;p2"/>
          <p:cNvSpPr txBox="1"/>
          <p:nvPr>
            <p:ph idx="1" type="body"/>
          </p:nvPr>
        </p:nvSpPr>
        <p:spPr>
          <a:xfrm>
            <a:off x="7507224" y="1088136"/>
            <a:ext cx="4160520" cy="5257800"/>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1800"/>
              <a:buChar char="•"/>
            </a:pPr>
            <a:r>
              <a:rPr lang="en-US"/>
              <a:t>A computational artifact where code execution can happen outside the original specification of the program due to unexpected input</a:t>
            </a:r>
            <a:endParaRPr/>
          </a:p>
        </p:txBody>
      </p:sp>
      <p:pic>
        <p:nvPicPr>
          <p:cNvPr id="123" name="Google Shape;123;p2"/>
          <p:cNvPicPr preferRelativeResize="0"/>
          <p:nvPr/>
        </p:nvPicPr>
        <p:blipFill rotWithShape="1">
          <a:blip r:embed="rId3">
            <a:alphaModFix/>
          </a:blip>
          <a:srcRect b="0" l="0" r="0" t="10976"/>
          <a:stretch/>
        </p:blipFill>
        <p:spPr>
          <a:xfrm>
            <a:off x="2067550" y="2625326"/>
            <a:ext cx="8053875" cy="4239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Weird Machine Reading List</a:t>
            </a:r>
            <a:endParaRPr/>
          </a:p>
        </p:txBody>
      </p:sp>
      <p:sp>
        <p:nvSpPr>
          <p:cNvPr id="129" name="Google Shape;129;p3"/>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800"/>
              <a:buChar char="•"/>
            </a:pPr>
            <a:r>
              <a:rPr lang="en-US"/>
              <a:t>Dullien, T. Weird Machines, Exploitability, and Provable Unexploitability</a:t>
            </a:r>
            <a:endParaRPr/>
          </a:p>
          <a:p>
            <a:pPr indent="-228600" lvl="0" marL="228600" rtl="0" algn="l">
              <a:spcBef>
                <a:spcPts val="0"/>
              </a:spcBef>
              <a:spcAft>
                <a:spcPts val="0"/>
              </a:spcAft>
              <a:buSzPts val="1800"/>
              <a:buChar char="•"/>
            </a:pPr>
            <a:r>
              <a:rPr lang="en-US"/>
              <a:t>Bratus, et al. Exploit Programming: From Buffer Overflows to “Weird Machines” and Theory of Computation</a:t>
            </a:r>
            <a:endParaRPr/>
          </a:p>
          <a:p>
            <a:pPr indent="-228600" lvl="0" marL="228600" rtl="0" algn="l">
              <a:spcBef>
                <a:spcPts val="0"/>
              </a:spcBef>
              <a:spcAft>
                <a:spcPts val="0"/>
              </a:spcAft>
              <a:buSzPts val="1800"/>
              <a:buChar char="•"/>
            </a:pPr>
            <a:r>
              <a:rPr lang="en-US"/>
              <a:t>Bratus, et al. Hacking &amp; Computer Science</a:t>
            </a:r>
            <a:endParaRPr/>
          </a:p>
          <a:p>
            <a:pPr indent="-228600" lvl="0" marL="228600" rtl="0" algn="l">
              <a:spcBef>
                <a:spcPts val="0"/>
              </a:spcBef>
              <a:spcAft>
                <a:spcPts val="0"/>
              </a:spcAft>
              <a:buSzPts val="1800"/>
              <a:buChar char="•"/>
            </a:pPr>
            <a:r>
              <a:rPr lang="en-US"/>
              <a:t>Pavlovic, Seidel. Security Science (SecSci), Basic Concepts and Mathematical Foundations</a:t>
            </a:r>
            <a:endParaRPr/>
          </a:p>
          <a:p>
            <a:pPr indent="-228600" lvl="0" marL="228600" rtl="0" algn="l">
              <a:spcBef>
                <a:spcPts val="0"/>
              </a:spcBef>
              <a:spcAft>
                <a:spcPts val="0"/>
              </a:spcAft>
              <a:buSzPts val="1800"/>
              <a:buChar char="•"/>
            </a:pPr>
            <a:r>
              <a:rPr lang="en-US"/>
              <a:t>Dullien, T. Programming the Weird Machine</a:t>
            </a:r>
            <a:endParaRPr/>
          </a:p>
          <a:p>
            <a:pPr indent="-228600" lvl="0" marL="228600" rtl="0" algn="l">
              <a:spcBef>
                <a:spcPts val="0"/>
              </a:spcBef>
              <a:spcAft>
                <a:spcPts val="0"/>
              </a:spcAft>
              <a:buSzPts val="1800"/>
              <a:buChar char="•"/>
            </a:pPr>
            <a:r>
              <a:rPr lang="en-US"/>
              <a:t>Riley, Karen, et al. Crema</a:t>
            </a:r>
            <a:endParaRPr/>
          </a:p>
          <a:p>
            <a:pPr indent="-228600" lvl="0" marL="228600" rtl="0" algn="l">
              <a:spcBef>
                <a:spcPts val="0"/>
              </a:spcBef>
              <a:spcAft>
                <a:spcPts val="0"/>
              </a:spcAft>
              <a:buSzPts val="1800"/>
              <a:buChar char="•"/>
            </a:pPr>
            <a:r>
              <a:rPr lang="en-US"/>
              <a:t>Benjamin, Thomas S., et al. Computing with Time: Microarchitectural Weird Machines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4"/>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5" name="Google Shape;135;p4"/>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6" name="Google Shape;136;p4"/>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7" name="Google Shape;137;p4"/>
          <p:cNvSpPr txBox="1"/>
          <p:nvPr>
            <p:ph type="title"/>
          </p:nvPr>
        </p:nvSpPr>
        <p:spPr>
          <a:xfrm>
            <a:off x="521208" y="978408"/>
            <a:ext cx="3397649" cy="33037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Weird Machine Timeline</a:t>
            </a:r>
            <a:endParaRPr/>
          </a:p>
        </p:txBody>
      </p:sp>
      <p:sp>
        <p:nvSpPr>
          <p:cNvPr id="138" name="Google Shape;138;p4"/>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39" name="Google Shape;139;p4"/>
          <p:cNvPicPr preferRelativeResize="0"/>
          <p:nvPr/>
        </p:nvPicPr>
        <p:blipFill>
          <a:blip r:embed="rId3">
            <a:alphaModFix/>
          </a:blip>
          <a:stretch>
            <a:fillRect/>
          </a:stretch>
        </p:blipFill>
        <p:spPr>
          <a:xfrm>
            <a:off x="3692050" y="835100"/>
            <a:ext cx="7366374" cy="56866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Thinking about previous experiences and weird machines</a:t>
            </a:r>
            <a:endParaRPr/>
          </a:p>
        </p:txBody>
      </p:sp>
      <p:sp>
        <p:nvSpPr>
          <p:cNvPr id="145" name="Google Shape;145;p5"/>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800"/>
              <a:buChar char="•"/>
            </a:pPr>
            <a:r>
              <a:rPr lang="en-US"/>
              <a:t>Arista EOS (Extensible Operating System) Logging as a Weird Machine</a:t>
            </a:r>
            <a:endParaRPr/>
          </a:p>
          <a:p>
            <a:pPr indent="-228600" lvl="1" marL="685800" rtl="0" algn="l">
              <a:spcBef>
                <a:spcPts val="0"/>
              </a:spcBef>
              <a:spcAft>
                <a:spcPts val="0"/>
              </a:spcAft>
              <a:buSzPts val="1800"/>
              <a:buChar char="•"/>
            </a:pPr>
            <a:r>
              <a:rPr b="1" lang="en-US"/>
              <a:t>Intended Machine:</a:t>
            </a:r>
            <a:endParaRPr b="1"/>
          </a:p>
          <a:p>
            <a:pPr indent="-247650" lvl="2" marL="1143000" rtl="0" algn="l">
              <a:lnSpc>
                <a:spcPct val="100000"/>
              </a:lnSpc>
              <a:spcBef>
                <a:spcPts val="0"/>
              </a:spcBef>
              <a:spcAft>
                <a:spcPts val="0"/>
              </a:spcAft>
              <a:buSzPts val="2100"/>
              <a:buChar char="•"/>
            </a:pPr>
            <a:r>
              <a:rPr lang="en-US"/>
              <a:t>Local logging and remote logging are independent</a:t>
            </a:r>
            <a:endParaRPr/>
          </a:p>
          <a:p>
            <a:pPr indent="-228600" lvl="2" marL="1143000" rtl="0" algn="l">
              <a:lnSpc>
                <a:spcPct val="100000"/>
              </a:lnSpc>
              <a:spcBef>
                <a:spcPts val="0"/>
              </a:spcBef>
              <a:spcAft>
                <a:spcPts val="0"/>
              </a:spcAft>
              <a:buSzPts val="1800"/>
              <a:buChar char="•"/>
            </a:pPr>
            <a:r>
              <a:rPr lang="en-US"/>
              <a:t>Local logs persist even if remote forwarding fails</a:t>
            </a:r>
            <a:endParaRPr/>
          </a:p>
          <a:p>
            <a:pPr indent="-203200" lvl="1" marL="685800" rtl="0" algn="l">
              <a:lnSpc>
                <a:spcPct val="100000"/>
              </a:lnSpc>
              <a:spcBef>
                <a:spcPts val="0"/>
              </a:spcBef>
              <a:spcAft>
                <a:spcPts val="0"/>
              </a:spcAft>
              <a:buSzPts val="1400"/>
              <a:buChar char="•"/>
            </a:pPr>
            <a:r>
              <a:rPr b="1" lang="en-US" sz="1400"/>
              <a:t>Weird Machine:</a:t>
            </a:r>
            <a:endParaRPr b="1" sz="1400"/>
          </a:p>
          <a:p>
            <a:pPr indent="-203200" lvl="2" marL="1143000" rtl="0" algn="l">
              <a:lnSpc>
                <a:spcPct val="100000"/>
              </a:lnSpc>
              <a:spcBef>
                <a:spcPts val="0"/>
              </a:spcBef>
              <a:spcAft>
                <a:spcPts val="0"/>
              </a:spcAft>
              <a:buSzPts val="1400"/>
              <a:buChar char="•"/>
            </a:pPr>
            <a:r>
              <a:rPr lang="en-US"/>
              <a:t>An emergent control path where the TCP reachability of a remote syslog server controls whether local device logging executes.</a:t>
            </a:r>
            <a:endParaRPr/>
          </a:p>
          <a:p>
            <a:pPr indent="-228600" lvl="0" marL="228600" rtl="0" algn="l">
              <a:lnSpc>
                <a:spcPct val="100000"/>
              </a:lnSpc>
              <a:spcBef>
                <a:spcPts val="0"/>
              </a:spcBef>
              <a:spcAft>
                <a:spcPts val="0"/>
              </a:spcAft>
              <a:buSzPts val="1800"/>
              <a:buChar char="•"/>
            </a:pPr>
            <a:r>
              <a:rPr lang="en-US"/>
              <a:t>Robolink Zumi Programmable Cars</a:t>
            </a:r>
            <a:endParaRPr/>
          </a:p>
          <a:p>
            <a:pPr indent="-228600" lvl="1" marL="685800" rtl="0" algn="l">
              <a:lnSpc>
                <a:spcPct val="100000"/>
              </a:lnSpc>
              <a:spcBef>
                <a:spcPts val="0"/>
              </a:spcBef>
              <a:spcAft>
                <a:spcPts val="0"/>
              </a:spcAft>
              <a:buSzPts val="1800"/>
              <a:buChar char="•"/>
            </a:pPr>
            <a:r>
              <a:rPr b="1" lang="en-US"/>
              <a:t>Intended Machine:</a:t>
            </a:r>
            <a:endParaRPr b="1"/>
          </a:p>
          <a:p>
            <a:pPr indent="-228600" lvl="2" marL="1143000" rtl="0" algn="l">
              <a:lnSpc>
                <a:spcPct val="100000"/>
              </a:lnSpc>
              <a:spcBef>
                <a:spcPts val="0"/>
              </a:spcBef>
              <a:spcAft>
                <a:spcPts val="0"/>
              </a:spcAft>
              <a:buSzPts val="1800"/>
              <a:buChar char="•"/>
            </a:pPr>
            <a:r>
              <a:rPr lang="en-US"/>
              <a:t>Car executes code as entered, then stops</a:t>
            </a:r>
            <a:endParaRPr/>
          </a:p>
          <a:p>
            <a:pPr indent="-228600" lvl="1" marL="685800" rtl="0" algn="l">
              <a:lnSpc>
                <a:spcPct val="100000"/>
              </a:lnSpc>
              <a:spcBef>
                <a:spcPts val="0"/>
              </a:spcBef>
              <a:spcAft>
                <a:spcPts val="0"/>
              </a:spcAft>
              <a:buSzPts val="1800"/>
              <a:buChar char="•"/>
            </a:pPr>
            <a:r>
              <a:rPr b="1" lang="en-US"/>
              <a:t>Weird Machine:</a:t>
            </a:r>
            <a:endParaRPr b="1"/>
          </a:p>
          <a:p>
            <a:pPr indent="-228600" lvl="2" marL="1143000" rtl="0" algn="l">
              <a:lnSpc>
                <a:spcPct val="100000"/>
              </a:lnSpc>
              <a:spcBef>
                <a:spcPts val="0"/>
              </a:spcBef>
              <a:spcAft>
                <a:spcPts val="0"/>
              </a:spcAft>
              <a:buSzPts val="1800"/>
              <a:buChar char="•"/>
            </a:pPr>
            <a:r>
              <a:rPr lang="en-US"/>
              <a:t>Car catches on specific parts of code and loops</a:t>
            </a:r>
            <a:endParaRPr/>
          </a:p>
          <a:p>
            <a:pPr indent="-228600" lvl="2" marL="1143000" rtl="0" algn="l">
              <a:lnSpc>
                <a:spcPct val="100000"/>
              </a:lnSpc>
              <a:spcBef>
                <a:spcPts val="0"/>
              </a:spcBef>
              <a:spcAft>
                <a:spcPts val="0"/>
              </a:spcAft>
              <a:buSzPts val="1800"/>
              <a:buChar char="•"/>
            </a:pPr>
            <a:r>
              <a:rPr lang="en-US"/>
              <a:t>Sensor data as input to unintended state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b0d07ae252_2_0"/>
          <p:cNvSpPr txBox="1"/>
          <p:nvPr>
            <p:ph type="title"/>
          </p:nvPr>
        </p:nvSpPr>
        <p:spPr>
          <a:xfrm>
            <a:off x="521208" y="978408"/>
            <a:ext cx="11155800" cy="1463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Thinking about previous experiences and weird machines (cont.)</a:t>
            </a:r>
            <a:endParaRPr/>
          </a:p>
        </p:txBody>
      </p:sp>
      <p:sp>
        <p:nvSpPr>
          <p:cNvPr id="151" name="Google Shape;151;g3b0d07ae252_2_0"/>
          <p:cNvSpPr txBox="1"/>
          <p:nvPr>
            <p:ph idx="1" type="body"/>
          </p:nvPr>
        </p:nvSpPr>
        <p:spPr>
          <a:xfrm>
            <a:off x="521208" y="2578608"/>
            <a:ext cx="11155800" cy="37674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800"/>
              <a:buChar char="•"/>
            </a:pPr>
            <a:r>
              <a:rPr lang="en-US"/>
              <a:t>Swapping Movesets in Tekken 8 </a:t>
            </a:r>
            <a:endParaRPr b="1" sz="1300"/>
          </a:p>
          <a:p>
            <a:pPr indent="-215900" lvl="2" marL="1143000" rtl="0" algn="l">
              <a:spcBef>
                <a:spcPts val="0"/>
              </a:spcBef>
              <a:spcAft>
                <a:spcPts val="0"/>
              </a:spcAft>
              <a:buSzPts val="1600"/>
              <a:buChar char="•"/>
            </a:pPr>
            <a:r>
              <a:rPr lang="en-US" sz="1200"/>
              <a:t>Users were able to find a bug which allowed male characters to use an unintended slap move on female characters</a:t>
            </a:r>
            <a:endParaRPr sz="1200"/>
          </a:p>
          <a:p>
            <a:pPr indent="-215900" lvl="2" marL="1143000" rtl="0" algn="l">
              <a:spcBef>
                <a:spcPts val="0"/>
              </a:spcBef>
              <a:spcAft>
                <a:spcPts val="0"/>
              </a:spcAft>
              <a:buSzPts val="1600"/>
              <a:buChar char="•"/>
            </a:pPr>
            <a:r>
              <a:rPr lang="en-US" sz="1200"/>
              <a:t>Found through conditionals that incorporated stance changes, specific timing, and a reaction from the opposing character. </a:t>
            </a:r>
            <a:endParaRPr sz="1200"/>
          </a:p>
          <a:p>
            <a:pPr indent="-190500" lvl="2" marL="1143000" rtl="0" algn="l">
              <a:spcBef>
                <a:spcPts val="0"/>
              </a:spcBef>
              <a:spcAft>
                <a:spcPts val="0"/>
              </a:spcAft>
              <a:buSzPts val="1200"/>
              <a:buChar char="•"/>
            </a:pPr>
            <a:r>
              <a:rPr lang="en-US" sz="1200"/>
              <a:t>This allowed for even deeper exploitation, allowing for discoverable data. </a:t>
            </a:r>
            <a:endParaRPr sz="1200"/>
          </a:p>
          <a:p>
            <a:pPr indent="-215900" lvl="1" marL="685800" rtl="0" algn="l">
              <a:spcBef>
                <a:spcPts val="0"/>
              </a:spcBef>
              <a:spcAft>
                <a:spcPts val="0"/>
              </a:spcAft>
              <a:buSzPts val="1600"/>
              <a:buChar char="•"/>
            </a:pPr>
            <a:r>
              <a:rPr b="1" lang="en-US" sz="1400"/>
              <a:t>Intended Machine</a:t>
            </a:r>
            <a:endParaRPr b="1" sz="1400"/>
          </a:p>
          <a:p>
            <a:pPr indent="-190500" lvl="2" marL="1143000" rtl="0" algn="l">
              <a:spcBef>
                <a:spcPts val="0"/>
              </a:spcBef>
              <a:spcAft>
                <a:spcPts val="0"/>
              </a:spcAft>
              <a:buSzPts val="1200"/>
              <a:buChar char="•"/>
            </a:pPr>
            <a:r>
              <a:rPr lang="en-US" sz="1200"/>
              <a:t>A fighting game with rigid movesets, some moves being gender locked to certain characters. </a:t>
            </a:r>
            <a:endParaRPr sz="1200"/>
          </a:p>
          <a:p>
            <a:pPr indent="-317500" lvl="0" marL="914400" rtl="0" algn="l">
              <a:spcBef>
                <a:spcPts val="0"/>
              </a:spcBef>
              <a:spcAft>
                <a:spcPts val="0"/>
              </a:spcAft>
              <a:buSzPts val="1400"/>
              <a:buChar char="•"/>
            </a:pPr>
            <a:r>
              <a:rPr b="1" lang="en-US" sz="1400"/>
              <a:t>Weird machine</a:t>
            </a:r>
            <a:endParaRPr b="1" sz="1400"/>
          </a:p>
          <a:p>
            <a:pPr indent="-304800" lvl="1" marL="1371600" rtl="0" algn="l">
              <a:spcBef>
                <a:spcPts val="0"/>
              </a:spcBef>
              <a:spcAft>
                <a:spcPts val="0"/>
              </a:spcAft>
              <a:buSzPts val="1200"/>
              <a:buChar char="•"/>
            </a:pPr>
            <a:r>
              <a:rPr lang="en-US" sz="1200"/>
              <a:t>Everyone was able to respond to slap prompt, movesets became variables that allowed users to find new data. </a:t>
            </a:r>
            <a:endParaRPr b="1"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a71945877e_0_0"/>
          <p:cNvSpPr txBox="1"/>
          <p:nvPr>
            <p:ph type="title"/>
          </p:nvPr>
        </p:nvSpPr>
        <p:spPr>
          <a:xfrm>
            <a:off x="521208" y="978408"/>
            <a:ext cx="11155800" cy="1463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Weird</a:t>
            </a:r>
            <a:r>
              <a:rPr lang="en-US"/>
              <a:t> Machine Gadgets</a:t>
            </a:r>
            <a:endParaRPr/>
          </a:p>
        </p:txBody>
      </p:sp>
      <p:sp>
        <p:nvSpPr>
          <p:cNvPr id="157" name="Google Shape;157;g3a71945877e_0_0"/>
          <p:cNvSpPr txBox="1"/>
          <p:nvPr>
            <p:ph idx="1" type="body"/>
          </p:nvPr>
        </p:nvSpPr>
        <p:spPr>
          <a:xfrm>
            <a:off x="521205" y="2578600"/>
            <a:ext cx="3937800" cy="3767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sz="2400"/>
              <a:t>What is a gadget?</a:t>
            </a:r>
            <a:br>
              <a:rPr lang="en-US"/>
            </a:br>
            <a:r>
              <a:rPr lang="en-US"/>
              <a:t>Set of architectural artifacts that can be composed to construct a program</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Architectural artifacts can be:</a:t>
            </a:r>
            <a:endParaRPr/>
          </a:p>
          <a:p>
            <a:pPr indent="-361950" lvl="0" marL="457200" rtl="0" algn="l">
              <a:spcBef>
                <a:spcPts val="1000"/>
              </a:spcBef>
              <a:spcAft>
                <a:spcPts val="0"/>
              </a:spcAft>
              <a:buSzPts val="2100"/>
              <a:buChar char="●"/>
            </a:pPr>
            <a:r>
              <a:rPr lang="en-US" sz="2100"/>
              <a:t>Software</a:t>
            </a:r>
            <a:endParaRPr sz="2100"/>
          </a:p>
          <a:p>
            <a:pPr indent="-361950" lvl="0" marL="457200" rtl="0" algn="l">
              <a:spcBef>
                <a:spcPts val="0"/>
              </a:spcBef>
              <a:spcAft>
                <a:spcPts val="0"/>
              </a:spcAft>
              <a:buSzPts val="2100"/>
              <a:buChar char="●"/>
            </a:pPr>
            <a:r>
              <a:rPr lang="en-US" sz="2100"/>
              <a:t>Protocols</a:t>
            </a:r>
            <a:endParaRPr sz="2100"/>
          </a:p>
          <a:p>
            <a:pPr indent="-361950" lvl="0" marL="457200" rtl="0" algn="l">
              <a:spcBef>
                <a:spcPts val="0"/>
              </a:spcBef>
              <a:spcAft>
                <a:spcPts val="0"/>
              </a:spcAft>
              <a:buSzPts val="2100"/>
              <a:buChar char="●"/>
            </a:pPr>
            <a:r>
              <a:rPr lang="en-US" sz="2100"/>
              <a:t>Physical components</a:t>
            </a:r>
            <a:endParaRPr sz="2100"/>
          </a:p>
          <a:p>
            <a:pPr indent="0" lvl="0" marL="0" rtl="0" algn="l">
              <a:spcBef>
                <a:spcPts val="1000"/>
              </a:spcBef>
              <a:spcAft>
                <a:spcPts val="0"/>
              </a:spcAft>
              <a:buNone/>
            </a:pPr>
            <a:r>
              <a:t/>
            </a:r>
            <a:endParaRPr/>
          </a:p>
        </p:txBody>
      </p:sp>
      <p:sp>
        <p:nvSpPr>
          <p:cNvPr id="158" name="Google Shape;158;g3a71945877e_0_0"/>
          <p:cNvSpPr txBox="1"/>
          <p:nvPr/>
        </p:nvSpPr>
        <p:spPr>
          <a:xfrm>
            <a:off x="5041600" y="2441500"/>
            <a:ext cx="63795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800" u="sng">
                <a:solidFill>
                  <a:schemeClr val="dk1"/>
                </a:solidFill>
              </a:rPr>
              <a:t>Example:</a:t>
            </a:r>
            <a:r>
              <a:rPr lang="en-US" sz="1800">
                <a:solidFill>
                  <a:schemeClr val="dk1"/>
                </a:solidFill>
              </a:rPr>
              <a:t> </a:t>
            </a:r>
            <a:r>
              <a:rPr lang="en-US" sz="1800">
                <a:solidFill>
                  <a:schemeClr val="dk1"/>
                </a:solidFill>
              </a:rPr>
              <a:t>Video Game </a:t>
            </a:r>
            <a:r>
              <a:rPr lang="en-US" sz="1800">
                <a:solidFill>
                  <a:schemeClr val="dk1"/>
                </a:solidFill>
              </a:rPr>
              <a:t>Save File Corruption</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u="sng">
                <a:solidFill>
                  <a:schemeClr val="dk1"/>
                </a:solidFill>
              </a:rPr>
              <a:t>Gadgets</a:t>
            </a:r>
            <a:r>
              <a:rPr b="1" lang="en-US" sz="1800">
                <a:solidFill>
                  <a:schemeClr val="dk1"/>
                </a:solidFill>
              </a:rPr>
              <a:t>: </a:t>
            </a:r>
            <a:r>
              <a:rPr lang="en-US" sz="1800">
                <a:solidFill>
                  <a:schemeClr val="dk1"/>
                </a:solidFill>
              </a:rPr>
              <a:t>Save file format, game state parser, memory layout</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u="sng">
                <a:solidFill>
                  <a:schemeClr val="dk1"/>
                </a:solidFill>
              </a:rPr>
              <a:t>Composition: </a:t>
            </a:r>
            <a:r>
              <a:rPr lang="en-US" sz="1800">
                <a:solidFill>
                  <a:schemeClr val="dk1"/>
                </a:solidFill>
              </a:rPr>
              <a:t>Carefully corrupt specific bytes in the Final Fantasy VII save file to gain extra items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i="1" lang="en-US" sz="1800" u="sng">
                <a:solidFill>
                  <a:schemeClr val="dk1"/>
                </a:solidFill>
              </a:rPr>
              <a:t>The Final Fantasy VII save file is just data, but when the parser crashes on malformed input, it becomes a lever for control.</a:t>
            </a:r>
            <a:endParaRPr i="1" sz="1800" u="sng">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id="159" name="Google Shape;159;g3a71945877e_0_0"/>
          <p:cNvPicPr preferRelativeResize="0"/>
          <p:nvPr/>
        </p:nvPicPr>
        <p:blipFill>
          <a:blip r:embed="rId3">
            <a:alphaModFix/>
          </a:blip>
          <a:stretch>
            <a:fillRect/>
          </a:stretch>
        </p:blipFill>
        <p:spPr>
          <a:xfrm>
            <a:off x="9981325" y="85825"/>
            <a:ext cx="2276451" cy="3035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6"/>
          <p:cNvSpPr/>
          <p:nvPr/>
        </p:nvSpPr>
        <p:spPr>
          <a:xfrm>
            <a:off x="0" y="0"/>
            <a:ext cx="12188952" cy="68579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65" name="Google Shape;165;p6"/>
          <p:cNvSpPr txBox="1"/>
          <p:nvPr>
            <p:ph type="title"/>
          </p:nvPr>
        </p:nvSpPr>
        <p:spPr>
          <a:xfrm>
            <a:off x="521208" y="978408"/>
            <a:ext cx="3200400" cy="2432304"/>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700"/>
              <a:buFont typeface="Arial"/>
              <a:buNone/>
            </a:pPr>
            <a:r>
              <a:rPr b="1" lang="en-US" sz="3700">
                <a:solidFill>
                  <a:schemeClr val="dk1"/>
                </a:solidFill>
                <a:latin typeface="Arial"/>
                <a:ea typeface="Arial"/>
                <a:cs typeface="Arial"/>
                <a:sym typeface="Arial"/>
              </a:rPr>
              <a:t>Architectural Weird Machines</a:t>
            </a:r>
            <a:endParaRPr/>
          </a:p>
        </p:txBody>
      </p:sp>
      <p:sp>
        <p:nvSpPr>
          <p:cNvPr id="166" name="Google Shape;166;p6"/>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67" name="Google Shape;167;p6"/>
          <p:cNvSpPr txBox="1"/>
          <p:nvPr/>
        </p:nvSpPr>
        <p:spPr>
          <a:xfrm>
            <a:off x="521208" y="3538728"/>
            <a:ext cx="3200400" cy="2816352"/>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Unlike traditional weird machines which use code-level gadgets, architectural gadgets exploit the interactions across system boundaries, communication channels, and operational constraints.</a:t>
            </a:r>
            <a:endParaRPr/>
          </a:p>
        </p:txBody>
      </p:sp>
      <p:pic>
        <p:nvPicPr>
          <p:cNvPr id="168" name="Google Shape;168;p6"/>
          <p:cNvPicPr preferRelativeResize="0"/>
          <p:nvPr>
            <p:ph idx="1" type="body"/>
          </p:nvPr>
        </p:nvPicPr>
        <p:blipFill rotWithShape="1">
          <a:blip r:embed="rId3">
            <a:alphaModFix/>
          </a:blip>
          <a:srcRect b="-2" l="6437" r="-2" t="0"/>
          <a:stretch/>
        </p:blipFill>
        <p:spPr>
          <a:xfrm>
            <a:off x="4136609" y="970929"/>
            <a:ext cx="7534183" cy="53750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Our Wind Energy Testbed</a:t>
            </a:r>
            <a:endParaRPr/>
          </a:p>
        </p:txBody>
      </p:sp>
      <p:pic>
        <p:nvPicPr>
          <p:cNvPr id="174" name="Google Shape;174;p7"/>
          <p:cNvPicPr preferRelativeResize="0"/>
          <p:nvPr/>
        </p:nvPicPr>
        <p:blipFill>
          <a:blip r:embed="rId3">
            <a:alphaModFix/>
          </a:blip>
          <a:stretch>
            <a:fillRect/>
          </a:stretch>
        </p:blipFill>
        <p:spPr>
          <a:xfrm>
            <a:off x="100325" y="1708400"/>
            <a:ext cx="12192000" cy="5024438"/>
          </a:xfrm>
          <a:prstGeom prst="rect">
            <a:avLst/>
          </a:prstGeom>
          <a:noFill/>
          <a:ln>
            <a:noFill/>
          </a:ln>
        </p:spPr>
      </p:pic>
      <p:sp>
        <p:nvSpPr>
          <p:cNvPr id="175" name="Google Shape;175;p7"/>
          <p:cNvSpPr/>
          <p:nvPr/>
        </p:nvSpPr>
        <p:spPr>
          <a:xfrm>
            <a:off x="5043350" y="5565300"/>
            <a:ext cx="1456500" cy="758700"/>
          </a:xfrm>
          <a:prstGeom prst="flowChartConnecto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7"/>
          <p:cNvSpPr/>
          <p:nvPr/>
        </p:nvSpPr>
        <p:spPr>
          <a:xfrm>
            <a:off x="1159850" y="5565300"/>
            <a:ext cx="1456500" cy="758700"/>
          </a:xfrm>
          <a:prstGeom prst="flowChartConnecto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7"/>
          <p:cNvSpPr/>
          <p:nvPr/>
        </p:nvSpPr>
        <p:spPr>
          <a:xfrm>
            <a:off x="6499850" y="4413525"/>
            <a:ext cx="1456500" cy="758700"/>
          </a:xfrm>
          <a:prstGeom prst="flowChartConnecto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7"/>
          <p:cNvSpPr/>
          <p:nvPr/>
        </p:nvSpPr>
        <p:spPr>
          <a:xfrm>
            <a:off x="8776400" y="978400"/>
            <a:ext cx="940200" cy="729900"/>
          </a:xfrm>
          <a:prstGeom prst="flowChartConnecto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7"/>
          <p:cNvSpPr txBox="1"/>
          <p:nvPr/>
        </p:nvSpPr>
        <p:spPr>
          <a:xfrm>
            <a:off x="9898575" y="973900"/>
            <a:ext cx="1905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rPr>
              <a:t>Modbus Connection</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a71d4f651d_2_0"/>
          <p:cNvSpPr txBox="1"/>
          <p:nvPr>
            <p:ph type="title"/>
          </p:nvPr>
        </p:nvSpPr>
        <p:spPr>
          <a:xfrm>
            <a:off x="521208" y="978408"/>
            <a:ext cx="11155800" cy="1463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Modbus is the connective tissue</a:t>
            </a:r>
            <a:endParaRPr/>
          </a:p>
        </p:txBody>
      </p:sp>
      <p:sp>
        <p:nvSpPr>
          <p:cNvPr id="185" name="Google Shape;185;g3a71d4f651d_2_0"/>
          <p:cNvSpPr txBox="1"/>
          <p:nvPr>
            <p:ph idx="1" type="body"/>
          </p:nvPr>
        </p:nvSpPr>
        <p:spPr>
          <a:xfrm>
            <a:off x="217754" y="2289538"/>
            <a:ext cx="5413500" cy="3767400"/>
          </a:xfrm>
          <a:prstGeom prst="rect">
            <a:avLst/>
          </a:prstGeom>
        </p:spPr>
        <p:txBody>
          <a:bodyPr anchorCtr="0" anchor="t" bIns="45700" lIns="91425" spcFirstLastPara="1" rIns="91425" wrap="square" tIns="45700">
            <a:normAutofit lnSpcReduction="10000"/>
          </a:bodyPr>
          <a:lstStyle/>
          <a:p>
            <a:pPr indent="-419100" lvl="0" marL="457200" rtl="0" algn="l">
              <a:spcBef>
                <a:spcPts val="1000"/>
              </a:spcBef>
              <a:spcAft>
                <a:spcPts val="0"/>
              </a:spcAft>
              <a:buSzPts val="3000"/>
              <a:buChar char="●"/>
            </a:pPr>
            <a:r>
              <a:rPr lang="en-US" sz="3000"/>
              <a:t>Building blocks: </a:t>
            </a:r>
            <a:br>
              <a:rPr lang="en-US" sz="3000"/>
            </a:br>
            <a:r>
              <a:rPr lang="en-US" sz="3000"/>
              <a:t>Coils (on-off) &amp; </a:t>
            </a:r>
            <a:br>
              <a:rPr lang="en-US" sz="3000"/>
            </a:br>
            <a:r>
              <a:rPr lang="en-US" sz="3000"/>
              <a:t>Registers (numeric values)</a:t>
            </a:r>
            <a:endParaRPr sz="3000"/>
          </a:p>
          <a:p>
            <a:pPr indent="-419100" lvl="0" marL="457200" rtl="0" algn="l">
              <a:spcBef>
                <a:spcPts val="0"/>
              </a:spcBef>
              <a:spcAft>
                <a:spcPts val="0"/>
              </a:spcAft>
              <a:buSzPts val="3000"/>
              <a:buChar char="●"/>
            </a:pPr>
            <a:r>
              <a:rPr lang="en-US" sz="3000"/>
              <a:t>Shared access enables real-time coordination</a:t>
            </a:r>
            <a:endParaRPr sz="3000"/>
          </a:p>
          <a:p>
            <a:pPr indent="-419100" lvl="0" marL="457200" rtl="0" algn="l">
              <a:spcBef>
                <a:spcPts val="0"/>
              </a:spcBef>
              <a:spcAft>
                <a:spcPts val="0"/>
              </a:spcAft>
              <a:buSzPts val="3000"/>
              <a:buChar char="●"/>
            </a:pPr>
            <a:r>
              <a:rPr lang="en-US" sz="3000"/>
              <a:t>Simplicity creates "</a:t>
            </a:r>
            <a:r>
              <a:rPr lang="en-US" sz="3000"/>
              <a:t>opportunity</a:t>
            </a:r>
            <a:r>
              <a:rPr lang="en-US" sz="3000"/>
              <a:t>"</a:t>
            </a:r>
            <a:endParaRPr sz="3000"/>
          </a:p>
          <a:p>
            <a:pPr indent="0" lvl="0" marL="0" rtl="0" algn="l">
              <a:spcBef>
                <a:spcPts val="1000"/>
              </a:spcBef>
              <a:spcAft>
                <a:spcPts val="0"/>
              </a:spcAft>
              <a:buNone/>
            </a:pPr>
            <a:r>
              <a:t/>
            </a:r>
            <a:endParaRPr/>
          </a:p>
        </p:txBody>
      </p:sp>
      <p:pic>
        <p:nvPicPr>
          <p:cNvPr id="186" name="Google Shape;186;g3a71d4f651d_2_0"/>
          <p:cNvPicPr preferRelativeResize="0"/>
          <p:nvPr/>
        </p:nvPicPr>
        <p:blipFill>
          <a:blip r:embed="rId3">
            <a:alphaModFix/>
          </a:blip>
          <a:stretch>
            <a:fillRect/>
          </a:stretch>
        </p:blipFill>
        <p:spPr>
          <a:xfrm>
            <a:off x="5813122" y="2441499"/>
            <a:ext cx="6226478" cy="3463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txBox="1"/>
          <p:nvPr/>
        </p:nvSpPr>
        <p:spPr>
          <a:xfrm>
            <a:off x="215850" y="630875"/>
            <a:ext cx="11760300" cy="14631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None/>
            </a:pPr>
            <a:r>
              <a:rPr b="1" lang="en-US" sz="4400">
                <a:solidFill>
                  <a:srgbClr val="000000"/>
                </a:solidFill>
              </a:rPr>
              <a:t>Building weird machines using </a:t>
            </a:r>
            <a:r>
              <a:rPr b="1" lang="en-US" sz="4400"/>
              <a:t>components like modbus</a:t>
            </a:r>
            <a:r>
              <a:rPr b="1" lang="en-US" sz="4400">
                <a:solidFill>
                  <a:srgbClr val="000000"/>
                </a:solidFill>
              </a:rPr>
              <a:t> can be hard when you have a software mindset</a:t>
            </a:r>
            <a:endParaRPr b="1" sz="4400">
              <a:solidFill>
                <a:srgbClr val="000000"/>
              </a:solidFill>
            </a:endParaRPr>
          </a:p>
        </p:txBody>
      </p:sp>
      <p:sp>
        <p:nvSpPr>
          <p:cNvPr id="192" name="Google Shape;192;p9"/>
          <p:cNvSpPr txBox="1"/>
          <p:nvPr/>
        </p:nvSpPr>
        <p:spPr>
          <a:xfrm>
            <a:off x="232225" y="2093975"/>
            <a:ext cx="3670500" cy="17490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None/>
            </a:pPr>
            <a:r>
              <a:rPr b="1" lang="en-US" sz="1800">
                <a:solidFill>
                  <a:srgbClr val="000000"/>
                </a:solidFill>
              </a:rPr>
              <a:t>Software mindset assumes:</a:t>
            </a:r>
            <a:endParaRPr b="1" sz="1800">
              <a:solidFill>
                <a:srgbClr val="000000"/>
              </a:solidFill>
            </a:endParaRPr>
          </a:p>
          <a:p>
            <a:pPr indent="-336550" lvl="1" marL="914400" rtl="0" algn="l">
              <a:lnSpc>
                <a:spcPct val="110000"/>
              </a:lnSpc>
              <a:spcBef>
                <a:spcPts val="0"/>
              </a:spcBef>
              <a:spcAft>
                <a:spcPts val="0"/>
              </a:spcAft>
              <a:buClr>
                <a:srgbClr val="000000"/>
              </a:buClr>
              <a:buSzPts val="1700"/>
              <a:buChar char="•"/>
            </a:pPr>
            <a:r>
              <a:rPr lang="en-US" sz="1500">
                <a:solidFill>
                  <a:srgbClr val="000000"/>
                </a:solidFill>
              </a:rPr>
              <a:t>Clear APIs</a:t>
            </a:r>
            <a:endParaRPr sz="1500">
              <a:solidFill>
                <a:srgbClr val="000000"/>
              </a:solidFill>
            </a:endParaRPr>
          </a:p>
          <a:p>
            <a:pPr indent="-336550" lvl="1" marL="914400" rtl="0" algn="l">
              <a:lnSpc>
                <a:spcPct val="110000"/>
              </a:lnSpc>
              <a:spcBef>
                <a:spcPts val="0"/>
              </a:spcBef>
              <a:spcAft>
                <a:spcPts val="0"/>
              </a:spcAft>
              <a:buClr>
                <a:srgbClr val="000000"/>
              </a:buClr>
              <a:buSzPts val="1700"/>
              <a:buChar char="•"/>
            </a:pPr>
            <a:r>
              <a:rPr lang="en-US" sz="1500">
                <a:solidFill>
                  <a:srgbClr val="000000"/>
                </a:solidFill>
              </a:rPr>
              <a:t>Deterministic behavior</a:t>
            </a:r>
            <a:endParaRPr sz="1500">
              <a:solidFill>
                <a:srgbClr val="000000"/>
              </a:solidFill>
            </a:endParaRPr>
          </a:p>
          <a:p>
            <a:pPr indent="-336550" lvl="1" marL="914400" rtl="0" algn="l">
              <a:lnSpc>
                <a:spcPct val="110000"/>
              </a:lnSpc>
              <a:spcBef>
                <a:spcPts val="0"/>
              </a:spcBef>
              <a:spcAft>
                <a:spcPts val="0"/>
              </a:spcAft>
              <a:buClr>
                <a:srgbClr val="000000"/>
              </a:buClr>
              <a:buSzPts val="1700"/>
              <a:buChar char="•"/>
            </a:pPr>
            <a:r>
              <a:rPr lang="en-US" sz="1500">
                <a:solidFill>
                  <a:srgbClr val="000000"/>
                </a:solidFill>
              </a:rPr>
              <a:t>Separation between control and execution</a:t>
            </a:r>
            <a:endParaRPr sz="1500">
              <a:solidFill>
                <a:srgbClr val="000000"/>
              </a:solidFill>
            </a:endParaRPr>
          </a:p>
        </p:txBody>
      </p:sp>
      <p:sp>
        <p:nvSpPr>
          <p:cNvPr id="193" name="Google Shape;193;p9"/>
          <p:cNvSpPr txBox="1"/>
          <p:nvPr/>
        </p:nvSpPr>
        <p:spPr>
          <a:xfrm>
            <a:off x="4494847" y="6240243"/>
            <a:ext cx="7864500" cy="643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1000"/>
              </a:spcBef>
              <a:spcAft>
                <a:spcPts val="0"/>
              </a:spcAft>
              <a:buNone/>
            </a:pPr>
            <a:r>
              <a:rPr lang="en-US" sz="1800">
                <a:solidFill>
                  <a:srgbClr val="000000"/>
                </a:solidFill>
              </a:rPr>
              <a:t>GitHub Repository: https://github.com/rossgore/weird_machine_gadgets</a:t>
            </a:r>
            <a:endParaRPr sz="1800">
              <a:solidFill>
                <a:srgbClr val="000000"/>
              </a:solidFill>
            </a:endParaRPr>
          </a:p>
        </p:txBody>
      </p:sp>
      <p:sp>
        <p:nvSpPr>
          <p:cNvPr id="194" name="Google Shape;194;p9"/>
          <p:cNvSpPr txBox="1"/>
          <p:nvPr/>
        </p:nvSpPr>
        <p:spPr>
          <a:xfrm>
            <a:off x="3902725" y="2093975"/>
            <a:ext cx="4271700" cy="1749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0"/>
              </a:spcBef>
              <a:spcAft>
                <a:spcPts val="0"/>
              </a:spcAft>
              <a:buNone/>
            </a:pPr>
            <a:r>
              <a:rPr b="1" lang="en-US" sz="1800">
                <a:solidFill>
                  <a:srgbClr val="000000"/>
                </a:solidFill>
              </a:rPr>
              <a:t>Cyber-physical reality breaks those assumptions:</a:t>
            </a:r>
            <a:endParaRPr b="1" sz="1800">
              <a:solidFill>
                <a:srgbClr val="000000"/>
              </a:solidFill>
            </a:endParaRPr>
          </a:p>
          <a:p>
            <a:pPr indent="-336550" lvl="1" marL="914400" rtl="0" algn="l">
              <a:lnSpc>
                <a:spcPct val="110000"/>
              </a:lnSpc>
              <a:spcBef>
                <a:spcPts val="0"/>
              </a:spcBef>
              <a:spcAft>
                <a:spcPts val="0"/>
              </a:spcAft>
              <a:buClr>
                <a:srgbClr val="000000"/>
              </a:buClr>
              <a:buSzPts val="1700"/>
              <a:buChar char="•"/>
            </a:pPr>
            <a:r>
              <a:rPr lang="en-US" sz="1500">
                <a:solidFill>
                  <a:srgbClr val="000000"/>
                </a:solidFill>
              </a:rPr>
              <a:t>Software decisions directly affect physical state</a:t>
            </a:r>
            <a:endParaRPr sz="1500">
              <a:solidFill>
                <a:srgbClr val="000000"/>
              </a:solidFill>
            </a:endParaRPr>
          </a:p>
          <a:p>
            <a:pPr indent="-336550" lvl="1" marL="914400" rtl="0" algn="l">
              <a:lnSpc>
                <a:spcPct val="110000"/>
              </a:lnSpc>
              <a:spcBef>
                <a:spcPts val="0"/>
              </a:spcBef>
              <a:spcAft>
                <a:spcPts val="0"/>
              </a:spcAft>
              <a:buClr>
                <a:srgbClr val="000000"/>
              </a:buClr>
              <a:buSzPts val="1700"/>
              <a:buChar char="•"/>
            </a:pPr>
            <a:r>
              <a:rPr lang="en-US" sz="1500">
                <a:solidFill>
                  <a:srgbClr val="000000"/>
                </a:solidFill>
              </a:rPr>
              <a:t>Hardware timing, sensors, and actuators introduce tangible side effects</a:t>
            </a:r>
            <a:endParaRPr sz="1500">
              <a:solidFill>
                <a:srgbClr val="000000"/>
              </a:solidFill>
            </a:endParaRPr>
          </a:p>
        </p:txBody>
      </p:sp>
      <p:sp>
        <p:nvSpPr>
          <p:cNvPr id="195" name="Google Shape;195;p9"/>
          <p:cNvSpPr txBox="1"/>
          <p:nvPr/>
        </p:nvSpPr>
        <p:spPr>
          <a:xfrm>
            <a:off x="8237400" y="2124425"/>
            <a:ext cx="3436500" cy="16881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1000"/>
              </a:spcBef>
              <a:spcAft>
                <a:spcPts val="0"/>
              </a:spcAft>
              <a:buNone/>
            </a:pPr>
            <a:r>
              <a:rPr b="1" lang="en-US" sz="1800">
                <a:solidFill>
                  <a:srgbClr val="000000"/>
                </a:solidFill>
              </a:rPr>
              <a:t>Weird machines Emerge:</a:t>
            </a:r>
            <a:endParaRPr b="1" sz="1800">
              <a:solidFill>
                <a:srgbClr val="000000"/>
              </a:solidFill>
            </a:endParaRPr>
          </a:p>
          <a:p>
            <a:pPr indent="-323850" lvl="0" marL="457200" rtl="0" algn="l">
              <a:lnSpc>
                <a:spcPct val="110000"/>
              </a:lnSpc>
              <a:spcBef>
                <a:spcPts val="1000"/>
              </a:spcBef>
              <a:spcAft>
                <a:spcPts val="0"/>
              </a:spcAft>
              <a:buClr>
                <a:srgbClr val="000000"/>
              </a:buClr>
              <a:buSzPts val="1500"/>
              <a:buChar char="•"/>
            </a:pPr>
            <a:r>
              <a:rPr lang="en-US" sz="1500">
                <a:solidFill>
                  <a:srgbClr val="000000"/>
                </a:solidFill>
              </a:rPr>
              <a:t>From composition, side effects, and misused assumptions</a:t>
            </a:r>
            <a:endParaRPr sz="1500">
              <a:solidFill>
                <a:srgbClr val="000000"/>
              </a:solidFill>
            </a:endParaRPr>
          </a:p>
        </p:txBody>
      </p:sp>
      <p:sp>
        <p:nvSpPr>
          <p:cNvPr id="196" name="Google Shape;196;p9"/>
          <p:cNvSpPr txBox="1"/>
          <p:nvPr/>
        </p:nvSpPr>
        <p:spPr>
          <a:xfrm>
            <a:off x="0" y="3842975"/>
            <a:ext cx="9218100" cy="23658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1000"/>
              </a:spcBef>
              <a:spcAft>
                <a:spcPts val="0"/>
              </a:spcAft>
              <a:buNone/>
            </a:pPr>
            <a:r>
              <a:rPr b="1" lang="en-US" sz="1800">
                <a:solidFill>
                  <a:srgbClr val="000000"/>
                </a:solidFill>
              </a:rPr>
              <a:t>Python gadget libraries helped bridge this gap by:</a:t>
            </a:r>
            <a:endParaRPr b="1" sz="1800">
              <a:solidFill>
                <a:srgbClr val="000000"/>
              </a:solidFill>
            </a:endParaRPr>
          </a:p>
          <a:p>
            <a:pPr indent="-323850" lvl="1" marL="914400" rtl="0" algn="l">
              <a:lnSpc>
                <a:spcPct val="110000"/>
              </a:lnSpc>
              <a:spcBef>
                <a:spcPts val="1000"/>
              </a:spcBef>
              <a:spcAft>
                <a:spcPts val="0"/>
              </a:spcAft>
              <a:buClr>
                <a:srgbClr val="000000"/>
              </a:buClr>
              <a:buSzPts val="1500"/>
              <a:buChar char="•"/>
            </a:pPr>
            <a:r>
              <a:rPr lang="en-US" sz="1500">
                <a:solidFill>
                  <a:srgbClr val="000000"/>
                </a:solidFill>
              </a:rPr>
              <a:t>Abstracting low-level hardware and protocol details</a:t>
            </a:r>
            <a:endParaRPr sz="1500">
              <a:solidFill>
                <a:srgbClr val="000000"/>
              </a:solidFill>
            </a:endParaRPr>
          </a:p>
          <a:p>
            <a:pPr indent="-323850" lvl="1" marL="914400" rtl="0" algn="l">
              <a:lnSpc>
                <a:spcPct val="110000"/>
              </a:lnSpc>
              <a:spcBef>
                <a:spcPts val="1000"/>
              </a:spcBef>
              <a:spcAft>
                <a:spcPts val="0"/>
              </a:spcAft>
              <a:buClr>
                <a:srgbClr val="000000"/>
              </a:buClr>
              <a:buSzPts val="1500"/>
              <a:buChar char="•"/>
            </a:pPr>
            <a:r>
              <a:rPr lang="en-US" sz="1500">
                <a:solidFill>
                  <a:srgbClr val="000000"/>
                </a:solidFill>
              </a:rPr>
              <a:t>Exposing simpler, composable primitives</a:t>
            </a:r>
            <a:endParaRPr sz="1500">
              <a:solidFill>
                <a:srgbClr val="000000"/>
              </a:solidFill>
            </a:endParaRPr>
          </a:p>
          <a:p>
            <a:pPr indent="-323850" lvl="1" marL="914400" rtl="0" algn="l">
              <a:lnSpc>
                <a:spcPct val="110000"/>
              </a:lnSpc>
              <a:spcBef>
                <a:spcPts val="1000"/>
              </a:spcBef>
              <a:spcAft>
                <a:spcPts val="0"/>
              </a:spcAft>
              <a:buClr>
                <a:srgbClr val="000000"/>
              </a:buClr>
              <a:buSzPts val="1500"/>
              <a:buChar char="•"/>
            </a:pPr>
            <a:r>
              <a:rPr lang="en-US" sz="1500">
                <a:solidFill>
                  <a:srgbClr val="000000"/>
                </a:solidFill>
              </a:rPr>
              <a:t>Enabling rapid experimentation with unintended behaviors</a:t>
            </a:r>
            <a:endParaRPr sz="1500">
              <a:solidFill>
                <a:srgbClr val="000000"/>
              </a:solidFill>
            </a:endParaRPr>
          </a:p>
          <a:p>
            <a:pPr indent="-323850" lvl="0" marL="457200" rtl="0" algn="l">
              <a:lnSpc>
                <a:spcPct val="110000"/>
              </a:lnSpc>
              <a:spcBef>
                <a:spcPts val="1000"/>
              </a:spcBef>
              <a:spcAft>
                <a:spcPts val="0"/>
              </a:spcAft>
              <a:buClr>
                <a:srgbClr val="000000"/>
              </a:buClr>
              <a:buSzPts val="1500"/>
              <a:buChar char="•"/>
            </a:pPr>
            <a:r>
              <a:rPr lang="en-US" sz="1500">
                <a:solidFill>
                  <a:srgbClr val="000000"/>
                </a:solidFill>
              </a:rPr>
              <a:t>Result: easier exploration of emergent control and computation</a:t>
            </a:r>
            <a:endParaRPr sz="15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b0d07ae252_9_2"/>
          <p:cNvSpPr txBox="1"/>
          <p:nvPr>
            <p:ph type="title"/>
          </p:nvPr>
        </p:nvSpPr>
        <p:spPr>
          <a:xfrm>
            <a:off x="521208" y="978408"/>
            <a:ext cx="11155800" cy="1463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Wind Energy Testbed Weird Gadgets: Modbus</a:t>
            </a:r>
            <a:endParaRPr/>
          </a:p>
        </p:txBody>
      </p:sp>
      <p:sp>
        <p:nvSpPr>
          <p:cNvPr id="202" name="Google Shape;202;g3b0d07ae252_9_2"/>
          <p:cNvSpPr txBox="1"/>
          <p:nvPr>
            <p:ph idx="1" type="body"/>
          </p:nvPr>
        </p:nvSpPr>
        <p:spPr>
          <a:xfrm>
            <a:off x="521200" y="2441450"/>
            <a:ext cx="6803400" cy="4177500"/>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1800"/>
              <a:buChar char="•"/>
            </a:pPr>
            <a:r>
              <a:rPr lang="en-US"/>
              <a:t>The testbed uses 16 function code (FC01-FC16) that operate like opcodes in a computer’s instruction set. The most significant ones include:</a:t>
            </a:r>
            <a:endParaRPr/>
          </a:p>
          <a:p>
            <a:pPr indent="0" lvl="0" marL="228600" rtl="0" algn="l">
              <a:lnSpc>
                <a:spcPct val="110000"/>
              </a:lnSpc>
              <a:spcBef>
                <a:spcPts val="0"/>
              </a:spcBef>
              <a:spcAft>
                <a:spcPts val="0"/>
              </a:spcAft>
              <a:buNone/>
            </a:pPr>
            <a:r>
              <a:t/>
            </a:r>
            <a:endParaRPr/>
          </a:p>
          <a:p>
            <a:pPr indent="-228600" lvl="0" marL="228600" rtl="0" algn="l">
              <a:lnSpc>
                <a:spcPct val="200000"/>
              </a:lnSpc>
              <a:spcBef>
                <a:spcPts val="0"/>
              </a:spcBef>
              <a:spcAft>
                <a:spcPts val="0"/>
              </a:spcAft>
              <a:buSzPts val="1800"/>
              <a:buChar char="•"/>
            </a:pPr>
            <a:r>
              <a:rPr lang="en-US"/>
              <a:t>FC01 (Read Coils): Boolean read operations</a:t>
            </a:r>
            <a:endParaRPr/>
          </a:p>
          <a:p>
            <a:pPr indent="-228600" lvl="0" marL="228600" rtl="0" algn="l">
              <a:lnSpc>
                <a:spcPct val="200000"/>
              </a:lnSpc>
              <a:spcBef>
                <a:spcPts val="0"/>
              </a:spcBef>
              <a:spcAft>
                <a:spcPts val="0"/>
              </a:spcAft>
              <a:buSzPts val="1800"/>
              <a:buChar char="•"/>
            </a:pPr>
            <a:r>
              <a:rPr lang="en-US"/>
              <a:t>FC03 (Read Holding Registers): Memory read operations</a:t>
            </a:r>
            <a:endParaRPr/>
          </a:p>
          <a:p>
            <a:pPr indent="-228600" lvl="0" marL="228600" rtl="0" algn="l">
              <a:lnSpc>
                <a:spcPct val="200000"/>
              </a:lnSpc>
              <a:spcBef>
                <a:spcPts val="0"/>
              </a:spcBef>
              <a:spcAft>
                <a:spcPts val="0"/>
              </a:spcAft>
              <a:buSzPts val="1800"/>
              <a:buChar char="•"/>
            </a:pPr>
            <a:r>
              <a:rPr lang="en-US"/>
              <a:t>FC05 (Write </a:t>
            </a:r>
            <a:r>
              <a:rPr lang="en-US"/>
              <a:t>Single</a:t>
            </a:r>
            <a:r>
              <a:rPr lang="en-US"/>
              <a:t> Coil): Boolean write operations</a:t>
            </a:r>
            <a:endParaRPr/>
          </a:p>
          <a:p>
            <a:pPr indent="-228600" lvl="0" marL="228600" rtl="0" algn="l">
              <a:lnSpc>
                <a:spcPct val="200000"/>
              </a:lnSpc>
              <a:spcBef>
                <a:spcPts val="0"/>
              </a:spcBef>
              <a:spcAft>
                <a:spcPts val="0"/>
              </a:spcAft>
              <a:buSzPts val="1800"/>
              <a:buChar char="•"/>
            </a:pPr>
            <a:r>
              <a:rPr lang="en-US"/>
              <a:t>FC06 (Write Single Register): Memory write operations</a:t>
            </a:r>
            <a:endParaRPr/>
          </a:p>
        </p:txBody>
      </p:sp>
      <p:pic>
        <p:nvPicPr>
          <p:cNvPr id="203" name="Google Shape;203;g3b0d07ae252_9_2"/>
          <p:cNvPicPr preferRelativeResize="0"/>
          <p:nvPr/>
        </p:nvPicPr>
        <p:blipFill>
          <a:blip r:embed="rId3">
            <a:alphaModFix/>
          </a:blip>
          <a:stretch>
            <a:fillRect/>
          </a:stretch>
        </p:blipFill>
        <p:spPr>
          <a:xfrm>
            <a:off x="7879250" y="2474358"/>
            <a:ext cx="4111692" cy="41116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b0d07ae252_5_0"/>
          <p:cNvSpPr txBox="1"/>
          <p:nvPr>
            <p:ph type="title"/>
          </p:nvPr>
        </p:nvSpPr>
        <p:spPr>
          <a:xfrm>
            <a:off x="521208" y="978408"/>
            <a:ext cx="11155800" cy="1463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Wind Energy Testbed Weird Gadgets</a:t>
            </a:r>
            <a:endParaRPr/>
          </a:p>
        </p:txBody>
      </p:sp>
      <p:sp>
        <p:nvSpPr>
          <p:cNvPr id="209" name="Google Shape;209;g3b0d07ae252_5_0"/>
          <p:cNvSpPr txBox="1"/>
          <p:nvPr>
            <p:ph idx="1" type="body"/>
          </p:nvPr>
        </p:nvSpPr>
        <p:spPr>
          <a:xfrm>
            <a:off x="521200" y="2441450"/>
            <a:ext cx="7020000" cy="4177500"/>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1800"/>
              <a:buChar char="•"/>
            </a:pPr>
            <a:r>
              <a:rPr lang="en-US"/>
              <a:t>Core Idea: Using the Modbus Protocol “opcodes” we can create </a:t>
            </a:r>
            <a:r>
              <a:rPr lang="en-US"/>
              <a:t>computational</a:t>
            </a:r>
            <a:r>
              <a:rPr lang="en-US"/>
              <a:t> behavior through composition.</a:t>
            </a:r>
            <a:endParaRPr/>
          </a:p>
          <a:p>
            <a:pPr indent="-228600" lvl="0" marL="228600" rtl="0" algn="l">
              <a:lnSpc>
                <a:spcPct val="150000"/>
              </a:lnSpc>
              <a:spcBef>
                <a:spcPts val="0"/>
              </a:spcBef>
              <a:spcAft>
                <a:spcPts val="0"/>
              </a:spcAft>
              <a:buSzPts val="1800"/>
              <a:buChar char="•"/>
            </a:pPr>
            <a:r>
              <a:rPr lang="en-US"/>
              <a:t>Gadget Stack (3 layers):</a:t>
            </a:r>
            <a:endParaRPr/>
          </a:p>
          <a:p>
            <a:pPr indent="-342900" lvl="1" marL="914400" rtl="0" algn="l">
              <a:lnSpc>
                <a:spcPct val="150000"/>
              </a:lnSpc>
              <a:spcBef>
                <a:spcPts val="0"/>
              </a:spcBef>
              <a:spcAft>
                <a:spcPts val="0"/>
              </a:spcAft>
              <a:buSzPts val="1800"/>
              <a:buChar char="•"/>
            </a:pPr>
            <a:r>
              <a:rPr b="1" lang="en-US"/>
              <a:t>PPG (Protocol Processing Gadgets)</a:t>
            </a:r>
            <a:endParaRPr b="1"/>
          </a:p>
          <a:p>
            <a:pPr indent="-342900" lvl="2" marL="1371600" rtl="0" algn="l">
              <a:lnSpc>
                <a:spcPct val="150000"/>
              </a:lnSpc>
              <a:spcBef>
                <a:spcPts val="0"/>
              </a:spcBef>
              <a:spcAft>
                <a:spcPts val="0"/>
              </a:spcAft>
              <a:buSzPts val="1800"/>
              <a:buChar char="•"/>
            </a:pPr>
            <a:r>
              <a:rPr lang="en-US"/>
              <a:t>Provide register/coil read+write and increment/decrement primitives</a:t>
            </a:r>
            <a:endParaRPr/>
          </a:p>
          <a:p>
            <a:pPr indent="-342900" lvl="1" marL="914400" rtl="0" algn="l">
              <a:lnSpc>
                <a:spcPct val="150000"/>
              </a:lnSpc>
              <a:spcBef>
                <a:spcPts val="0"/>
              </a:spcBef>
              <a:spcAft>
                <a:spcPts val="0"/>
              </a:spcAft>
              <a:buSzPts val="1800"/>
              <a:buChar char="•"/>
            </a:pPr>
            <a:r>
              <a:rPr b="1" lang="en-US"/>
              <a:t>CLG (Conditional Logic Gadget)</a:t>
            </a:r>
            <a:endParaRPr b="1"/>
          </a:p>
          <a:p>
            <a:pPr indent="-342900" lvl="2" marL="1371600" rtl="0" algn="l">
              <a:lnSpc>
                <a:spcPct val="150000"/>
              </a:lnSpc>
              <a:spcBef>
                <a:spcPts val="0"/>
              </a:spcBef>
              <a:spcAft>
                <a:spcPts val="0"/>
              </a:spcAft>
              <a:buSzPts val="1800"/>
              <a:buChar char="•"/>
            </a:pPr>
            <a:r>
              <a:rPr lang="en-US"/>
              <a:t>CLGs provide emergent control-flow-like behavior using only protocol interactions such as while-loops, if-statements, and do-while loop</a:t>
            </a:r>
            <a:endParaRPr/>
          </a:p>
          <a:p>
            <a:pPr indent="-342900" lvl="1" marL="914400" rtl="0" algn="l">
              <a:lnSpc>
                <a:spcPct val="150000"/>
              </a:lnSpc>
              <a:spcBef>
                <a:spcPts val="0"/>
              </a:spcBef>
              <a:spcAft>
                <a:spcPts val="0"/>
              </a:spcAft>
              <a:buSzPts val="1800"/>
              <a:buChar char="•"/>
            </a:pPr>
            <a:r>
              <a:rPr b="1" lang="en-US"/>
              <a:t>Composite Gadgets</a:t>
            </a:r>
            <a:endParaRPr b="1"/>
          </a:p>
          <a:p>
            <a:pPr indent="-342900" lvl="2" marL="1371600" rtl="0" algn="l">
              <a:lnSpc>
                <a:spcPct val="150000"/>
              </a:lnSpc>
              <a:spcBef>
                <a:spcPts val="0"/>
              </a:spcBef>
              <a:spcAft>
                <a:spcPts val="0"/>
              </a:spcAft>
              <a:buSzPts val="1800"/>
              <a:buChar char="•"/>
            </a:pPr>
            <a:r>
              <a:rPr lang="en-US"/>
              <a:t>Higher-level logic like a State Machine or a Conditional Executor</a:t>
            </a:r>
            <a:endParaRPr/>
          </a:p>
        </p:txBody>
      </p:sp>
      <p:pic>
        <p:nvPicPr>
          <p:cNvPr id="210" name="Google Shape;210;g3b0d07ae252_5_0"/>
          <p:cNvPicPr preferRelativeResize="0"/>
          <p:nvPr/>
        </p:nvPicPr>
        <p:blipFill>
          <a:blip r:embed="rId3">
            <a:alphaModFix/>
          </a:blip>
          <a:stretch>
            <a:fillRect/>
          </a:stretch>
        </p:blipFill>
        <p:spPr>
          <a:xfrm>
            <a:off x="7810776" y="2441450"/>
            <a:ext cx="4136400" cy="3956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0"/>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Wind Energy Testbed Weird Machines</a:t>
            </a:r>
            <a:endParaRPr/>
          </a:p>
        </p:txBody>
      </p:sp>
      <p:sp>
        <p:nvSpPr>
          <p:cNvPr id="216" name="Google Shape;216;p10"/>
          <p:cNvSpPr txBox="1"/>
          <p:nvPr>
            <p:ph idx="1" type="body"/>
          </p:nvPr>
        </p:nvSpPr>
        <p:spPr>
          <a:xfrm>
            <a:off x="148900" y="2107925"/>
            <a:ext cx="5643600" cy="43050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800"/>
              <a:buChar char="•"/>
            </a:pPr>
            <a:r>
              <a:rPr lang="en-US"/>
              <a:t>Here are the </a:t>
            </a:r>
            <a:r>
              <a:rPr lang="en-US"/>
              <a:t>Weird Machines we composed using our manufactured </a:t>
            </a:r>
            <a:r>
              <a:rPr i="1" lang="en-US"/>
              <a:t>Weird Gadgets:</a:t>
            </a:r>
            <a:endParaRPr i="1"/>
          </a:p>
          <a:p>
            <a:pPr indent="0" lvl="0" marL="228600" rtl="0" algn="l">
              <a:spcBef>
                <a:spcPts val="0"/>
              </a:spcBef>
              <a:spcAft>
                <a:spcPts val="0"/>
              </a:spcAft>
              <a:buNone/>
            </a:pPr>
            <a:r>
              <a:t/>
            </a:r>
            <a:endParaRPr i="1"/>
          </a:p>
          <a:p>
            <a:pPr indent="-228600" lvl="0" marL="228600" rtl="0" algn="l">
              <a:spcBef>
                <a:spcPts val="0"/>
              </a:spcBef>
              <a:spcAft>
                <a:spcPts val="0"/>
              </a:spcAft>
              <a:buSzPts val="1800"/>
              <a:buChar char="•"/>
            </a:pPr>
            <a:r>
              <a:rPr lang="en-US"/>
              <a:t>Binary Semaphore Weird Machine</a:t>
            </a:r>
            <a:endParaRPr/>
          </a:p>
          <a:p>
            <a:pPr indent="-228600" lvl="1" marL="685800" rtl="0" algn="l">
              <a:spcBef>
                <a:spcPts val="0"/>
              </a:spcBef>
              <a:spcAft>
                <a:spcPts val="0"/>
              </a:spcAft>
              <a:buSzPts val="1800"/>
              <a:buChar char="•"/>
            </a:pPr>
            <a:r>
              <a:rPr lang="en-US"/>
              <a:t>Emergent synchronization primitive built from protocol &amp; control gadgets</a:t>
            </a:r>
            <a:endParaRPr/>
          </a:p>
          <a:p>
            <a:pPr indent="-228600" lvl="1" marL="685800" rtl="0" algn="l">
              <a:spcBef>
                <a:spcPts val="0"/>
              </a:spcBef>
              <a:spcAft>
                <a:spcPts val="0"/>
              </a:spcAft>
              <a:buSzPts val="1800"/>
              <a:buChar char="•"/>
            </a:pPr>
            <a:r>
              <a:rPr lang="en-US"/>
              <a:t>Enforces mutual exclusion over a shared resource</a:t>
            </a:r>
            <a:endParaRPr/>
          </a:p>
        </p:txBody>
      </p:sp>
      <p:pic>
        <p:nvPicPr>
          <p:cNvPr id="217" name="Google Shape;217;p10"/>
          <p:cNvPicPr preferRelativeResize="0"/>
          <p:nvPr/>
        </p:nvPicPr>
        <p:blipFill>
          <a:blip r:embed="rId3">
            <a:alphaModFix/>
          </a:blip>
          <a:stretch>
            <a:fillRect/>
          </a:stretch>
        </p:blipFill>
        <p:spPr>
          <a:xfrm>
            <a:off x="7060813" y="4724088"/>
            <a:ext cx="4676775" cy="1819275"/>
          </a:xfrm>
          <a:prstGeom prst="rect">
            <a:avLst/>
          </a:prstGeom>
          <a:noFill/>
          <a:ln>
            <a:noFill/>
          </a:ln>
        </p:spPr>
      </p:pic>
      <p:pic>
        <p:nvPicPr>
          <p:cNvPr id="218" name="Google Shape;218;p10"/>
          <p:cNvPicPr preferRelativeResize="0"/>
          <p:nvPr/>
        </p:nvPicPr>
        <p:blipFill>
          <a:blip r:embed="rId4">
            <a:alphaModFix/>
          </a:blip>
          <a:stretch>
            <a:fillRect/>
          </a:stretch>
        </p:blipFill>
        <p:spPr>
          <a:xfrm>
            <a:off x="6152900" y="1919750"/>
            <a:ext cx="5775125" cy="264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b0d07ae252_3_0"/>
          <p:cNvSpPr txBox="1"/>
          <p:nvPr>
            <p:ph type="title"/>
          </p:nvPr>
        </p:nvSpPr>
        <p:spPr>
          <a:xfrm>
            <a:off x="452358" y="1069658"/>
            <a:ext cx="11155800" cy="1463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Wind Energy Testbed Weird Machines (cont.)</a:t>
            </a:r>
            <a:endParaRPr/>
          </a:p>
        </p:txBody>
      </p:sp>
      <p:sp>
        <p:nvSpPr>
          <p:cNvPr id="224" name="Google Shape;224;g3b0d07ae252_3_0"/>
          <p:cNvSpPr txBox="1"/>
          <p:nvPr>
            <p:ph idx="1" type="body"/>
          </p:nvPr>
        </p:nvSpPr>
        <p:spPr>
          <a:xfrm>
            <a:off x="452358" y="2532758"/>
            <a:ext cx="11155800" cy="3767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Weird Machines composed using our manufactured </a:t>
            </a:r>
            <a:r>
              <a:rPr i="1" lang="en-US"/>
              <a:t>Weird Gadgets </a:t>
            </a:r>
            <a:endParaRPr/>
          </a:p>
          <a:p>
            <a:pPr indent="-228600" lvl="0" marL="228600" rtl="0" algn="l">
              <a:spcBef>
                <a:spcPts val="0"/>
              </a:spcBef>
              <a:spcAft>
                <a:spcPts val="0"/>
              </a:spcAft>
              <a:buSzPts val="1800"/>
              <a:buChar char="•"/>
            </a:pPr>
            <a:r>
              <a:rPr lang="en-US"/>
              <a:t>Code Signaling Weird Machine</a:t>
            </a:r>
            <a:endParaRPr/>
          </a:p>
          <a:p>
            <a:pPr indent="-228600" lvl="1" marL="685800" rtl="0" algn="l">
              <a:spcBef>
                <a:spcPts val="0"/>
              </a:spcBef>
              <a:spcAft>
                <a:spcPts val="0"/>
              </a:spcAft>
              <a:buSzPts val="1800"/>
              <a:buChar char="•"/>
            </a:pPr>
            <a:r>
              <a:rPr lang="en-US"/>
              <a:t>Utilized modbus coils and registries </a:t>
            </a:r>
            <a:endParaRPr/>
          </a:p>
          <a:p>
            <a:pPr indent="-228600" lvl="1" marL="685800" rtl="0" algn="l">
              <a:spcBef>
                <a:spcPts val="0"/>
              </a:spcBef>
              <a:spcAft>
                <a:spcPts val="0"/>
              </a:spcAft>
              <a:buSzPts val="1800"/>
              <a:buChar char="•"/>
            </a:pPr>
            <a:r>
              <a:rPr lang="en-US"/>
              <a:t>Machine stored conditional flags to coils to signal whether machine was vulnerable</a:t>
            </a:r>
            <a:endParaRPr/>
          </a:p>
          <a:p>
            <a:pPr indent="-228600" lvl="1" marL="685800" rtl="0" algn="l">
              <a:spcBef>
                <a:spcPts val="0"/>
              </a:spcBef>
              <a:spcAft>
                <a:spcPts val="0"/>
              </a:spcAft>
              <a:buSzPts val="1800"/>
              <a:buChar char="•"/>
            </a:pPr>
            <a:r>
              <a:rPr lang="en-US"/>
              <a:t>Sent code words from registry,</a:t>
            </a:r>
            <a:endParaRPr/>
          </a:p>
          <a:p>
            <a:pPr indent="-228600" lvl="1" marL="685800" rtl="0" algn="l">
              <a:spcBef>
                <a:spcPts val="0"/>
              </a:spcBef>
              <a:spcAft>
                <a:spcPts val="0"/>
              </a:spcAft>
              <a:buSzPts val="1800"/>
              <a:buChar char="•"/>
            </a:pPr>
            <a:r>
              <a:rPr lang="en-US"/>
              <a:t>After countdown value would modify coil to display vulnerability</a:t>
            </a:r>
            <a:endParaRPr/>
          </a:p>
          <a:p>
            <a:pPr indent="0" lvl="0" marL="0" rtl="0" algn="l">
              <a:spcBef>
                <a:spcPts val="0"/>
              </a:spcBef>
              <a:spcAft>
                <a:spcPts val="0"/>
              </a:spcAft>
              <a:buNone/>
            </a:pPr>
            <a:r>
              <a:rPr lang="en-US"/>
              <a:t> </a:t>
            </a:r>
            <a:endParaRPr/>
          </a:p>
        </p:txBody>
      </p:sp>
      <p:pic>
        <p:nvPicPr>
          <p:cNvPr id="225" name="Google Shape;225;g3b0d07ae252_3_0"/>
          <p:cNvPicPr preferRelativeResize="0"/>
          <p:nvPr/>
        </p:nvPicPr>
        <p:blipFill>
          <a:blip r:embed="rId3">
            <a:alphaModFix/>
          </a:blip>
          <a:stretch>
            <a:fillRect/>
          </a:stretch>
        </p:blipFill>
        <p:spPr>
          <a:xfrm>
            <a:off x="8674589" y="2380350"/>
            <a:ext cx="3443560" cy="3767400"/>
          </a:xfrm>
          <a:prstGeom prst="rect">
            <a:avLst/>
          </a:prstGeom>
          <a:noFill/>
          <a:ln>
            <a:noFill/>
          </a:ln>
        </p:spPr>
      </p:pic>
      <p:cxnSp>
        <p:nvCxnSpPr>
          <p:cNvPr id="226" name="Google Shape;226;g3b0d07ae252_3_0"/>
          <p:cNvCxnSpPr/>
          <p:nvPr/>
        </p:nvCxnSpPr>
        <p:spPr>
          <a:xfrm flipH="1">
            <a:off x="7351150" y="4989600"/>
            <a:ext cx="1264800" cy="1005900"/>
          </a:xfrm>
          <a:prstGeom prst="straightConnector1">
            <a:avLst/>
          </a:prstGeom>
          <a:noFill/>
          <a:ln cap="flat" cmpd="sng" w="76200">
            <a:solidFill>
              <a:srgbClr val="00FF00"/>
            </a:solidFill>
            <a:prstDash val="solid"/>
            <a:round/>
            <a:headEnd len="med" w="med" type="none"/>
            <a:tailEnd len="med" w="med" type="none"/>
          </a:ln>
        </p:spPr>
      </p:cxnSp>
      <p:pic>
        <p:nvPicPr>
          <p:cNvPr id="227" name="Google Shape;227;g3b0d07ae252_3_0"/>
          <p:cNvPicPr preferRelativeResize="0"/>
          <p:nvPr/>
        </p:nvPicPr>
        <p:blipFill>
          <a:blip r:embed="rId4">
            <a:alphaModFix/>
          </a:blip>
          <a:stretch>
            <a:fillRect/>
          </a:stretch>
        </p:blipFill>
        <p:spPr>
          <a:xfrm>
            <a:off x="3218000" y="5690624"/>
            <a:ext cx="4133150" cy="8172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b0d07ae252_2_20"/>
          <p:cNvSpPr txBox="1"/>
          <p:nvPr>
            <p:ph type="title"/>
          </p:nvPr>
        </p:nvSpPr>
        <p:spPr>
          <a:xfrm>
            <a:off x="521208" y="978408"/>
            <a:ext cx="11155800" cy="1463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Wind Energy Testbed Weird Machines (cont.)</a:t>
            </a:r>
            <a:endParaRPr/>
          </a:p>
        </p:txBody>
      </p:sp>
      <p:sp>
        <p:nvSpPr>
          <p:cNvPr id="233" name="Google Shape;233;g3b0d07ae252_2_20"/>
          <p:cNvSpPr txBox="1"/>
          <p:nvPr>
            <p:ph idx="1" type="body"/>
          </p:nvPr>
        </p:nvSpPr>
        <p:spPr>
          <a:xfrm>
            <a:off x="452358" y="2532758"/>
            <a:ext cx="11155800" cy="37674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800"/>
              <a:buChar char="•"/>
            </a:pPr>
            <a:r>
              <a:rPr lang="en-US"/>
              <a:t>Remote </a:t>
            </a:r>
            <a:r>
              <a:rPr lang="en-US"/>
              <a:t>Mailbox</a:t>
            </a:r>
            <a:endParaRPr/>
          </a:p>
          <a:p>
            <a:pPr indent="-228600" lvl="1" marL="685800" rtl="0" algn="l">
              <a:spcBef>
                <a:spcPts val="0"/>
              </a:spcBef>
              <a:spcAft>
                <a:spcPts val="0"/>
              </a:spcAft>
              <a:buSzPts val="1800"/>
              <a:buChar char="•"/>
            </a:pPr>
            <a:r>
              <a:rPr lang="en-US"/>
              <a:t>Segmented: Send a message one character at a time in server registries</a:t>
            </a:r>
            <a:endParaRPr/>
          </a:p>
          <a:p>
            <a:pPr indent="-228600" lvl="1" marL="685800" rtl="0" algn="l">
              <a:spcBef>
                <a:spcPts val="0"/>
              </a:spcBef>
              <a:spcAft>
                <a:spcPts val="0"/>
              </a:spcAft>
              <a:buSzPts val="1800"/>
              <a:buChar char="•"/>
            </a:pPr>
            <a:r>
              <a:rPr lang="en-US"/>
              <a:t>Unsegmented: Save and retrieve messages in server </a:t>
            </a:r>
            <a:r>
              <a:rPr lang="en-US"/>
              <a:t>registries</a:t>
            </a:r>
            <a:endParaRPr/>
          </a:p>
          <a:p>
            <a:pPr indent="-228600" lvl="1" marL="685800" rtl="0" algn="l">
              <a:spcBef>
                <a:spcPts val="0"/>
              </a:spcBef>
              <a:spcAft>
                <a:spcPts val="0"/>
              </a:spcAft>
              <a:buSzPts val="1800"/>
              <a:buChar char="•"/>
            </a:pPr>
            <a:r>
              <a:rPr lang="en-US"/>
              <a:t>Utilizes: Conditionals, loops, read/write to registers/foils</a:t>
            </a:r>
            <a:endParaRPr/>
          </a:p>
        </p:txBody>
      </p:sp>
      <p:pic>
        <p:nvPicPr>
          <p:cNvPr id="234" name="Google Shape;234;g3b0d07ae252_2_20"/>
          <p:cNvPicPr preferRelativeResize="0"/>
          <p:nvPr/>
        </p:nvPicPr>
        <p:blipFill>
          <a:blip r:embed="rId3">
            <a:alphaModFix/>
          </a:blip>
          <a:stretch>
            <a:fillRect/>
          </a:stretch>
        </p:blipFill>
        <p:spPr>
          <a:xfrm>
            <a:off x="3683400" y="4126225"/>
            <a:ext cx="4693700" cy="2173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b0d07ae252_2_10"/>
          <p:cNvSpPr txBox="1"/>
          <p:nvPr>
            <p:ph idx="1" type="body"/>
          </p:nvPr>
        </p:nvSpPr>
        <p:spPr>
          <a:xfrm>
            <a:off x="521208" y="2371543"/>
            <a:ext cx="11155800" cy="37674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Programming Language with full </a:t>
            </a:r>
            <a:r>
              <a:rPr lang="en-US"/>
              <a:t>capabilities</a:t>
            </a:r>
            <a:r>
              <a:rPr lang="en-US"/>
              <a:t> of a Turing Machine:</a:t>
            </a:r>
            <a:endParaRPr/>
          </a:p>
          <a:p>
            <a:pPr indent="-342900" lvl="1" marL="914400" rtl="0" algn="l">
              <a:spcBef>
                <a:spcPts val="0"/>
              </a:spcBef>
              <a:spcAft>
                <a:spcPts val="0"/>
              </a:spcAft>
              <a:buSzPts val="1800"/>
              <a:buChar char="•"/>
            </a:pPr>
            <a:r>
              <a:rPr lang="en-US"/>
              <a:t>Sequence: Read/write to arbitrary memory</a:t>
            </a:r>
            <a:endParaRPr/>
          </a:p>
          <a:p>
            <a:pPr indent="-342900" lvl="1" marL="914400" rtl="0" algn="l">
              <a:spcBef>
                <a:spcPts val="0"/>
              </a:spcBef>
              <a:spcAft>
                <a:spcPts val="0"/>
              </a:spcAft>
              <a:buSzPts val="1800"/>
              <a:buChar char="•"/>
            </a:pPr>
            <a:r>
              <a:rPr lang="en-US"/>
              <a:t>Selection: Make conditional decisions</a:t>
            </a:r>
            <a:endParaRPr/>
          </a:p>
          <a:p>
            <a:pPr indent="-342900" lvl="1" marL="914400" rtl="0" algn="l">
              <a:spcBef>
                <a:spcPts val="0"/>
              </a:spcBef>
              <a:spcAft>
                <a:spcPts val="0"/>
              </a:spcAft>
              <a:buSzPts val="1800"/>
              <a:buChar char="•"/>
            </a:pPr>
            <a:r>
              <a:rPr lang="en-US"/>
              <a:t>Iteration</a:t>
            </a:r>
            <a:r>
              <a:rPr lang="en-US"/>
              <a:t>: Move/jump through memory, loops</a:t>
            </a:r>
            <a:endParaRPr/>
          </a:p>
        </p:txBody>
      </p:sp>
      <p:sp>
        <p:nvSpPr>
          <p:cNvPr id="240" name="Google Shape;240;g3b0d07ae252_2_10"/>
          <p:cNvSpPr txBox="1"/>
          <p:nvPr>
            <p:ph type="title"/>
          </p:nvPr>
        </p:nvSpPr>
        <p:spPr>
          <a:xfrm>
            <a:off x="521208" y="978408"/>
            <a:ext cx="11155800" cy="1463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What is Turing Completeness?</a:t>
            </a:r>
            <a:endParaRPr/>
          </a:p>
        </p:txBody>
      </p:sp>
      <p:pic>
        <p:nvPicPr>
          <p:cNvPr descr="a blue and yellow python logo is shown on a white background (Provided by Tenor)" id="241" name="Google Shape;241;g3b0d07ae252_2_10"/>
          <p:cNvPicPr preferRelativeResize="0"/>
          <p:nvPr/>
        </p:nvPicPr>
        <p:blipFill rotWithShape="1">
          <a:blip r:embed="rId3">
            <a:alphaModFix/>
          </a:blip>
          <a:srcRect b="0" l="26809" r="0" t="0"/>
          <a:stretch/>
        </p:blipFill>
        <p:spPr>
          <a:xfrm>
            <a:off x="632000" y="4340097"/>
            <a:ext cx="2369200" cy="2314000"/>
          </a:xfrm>
          <a:prstGeom prst="rect">
            <a:avLst/>
          </a:prstGeom>
          <a:noFill/>
          <a:ln>
            <a:noFill/>
          </a:ln>
        </p:spPr>
      </p:pic>
      <p:pic>
        <p:nvPicPr>
          <p:cNvPr descr="a blue hexagon with the letter c on it (Provided by Tenor)" id="242" name="Google Shape;242;g3b0d07ae252_2_10"/>
          <p:cNvPicPr preferRelativeResize="0"/>
          <p:nvPr/>
        </p:nvPicPr>
        <p:blipFill>
          <a:blip r:embed="rId4">
            <a:alphaModFix/>
          </a:blip>
          <a:stretch>
            <a:fillRect/>
          </a:stretch>
        </p:blipFill>
        <p:spPr>
          <a:xfrm>
            <a:off x="3277300" y="4247810"/>
            <a:ext cx="2498576" cy="2498576"/>
          </a:xfrm>
          <a:prstGeom prst="rect">
            <a:avLst/>
          </a:prstGeom>
          <a:noFill/>
          <a:ln>
            <a:noFill/>
          </a:ln>
        </p:spPr>
      </p:pic>
      <p:pic>
        <p:nvPicPr>
          <p:cNvPr descr="a logo for java with a cup of coffee and smoke (Provided by Tenor)" id="243" name="Google Shape;243;g3b0d07ae252_2_10"/>
          <p:cNvPicPr preferRelativeResize="0"/>
          <p:nvPr/>
        </p:nvPicPr>
        <p:blipFill>
          <a:blip r:embed="rId5">
            <a:alphaModFix/>
          </a:blip>
          <a:stretch>
            <a:fillRect/>
          </a:stretch>
        </p:blipFill>
        <p:spPr>
          <a:xfrm>
            <a:off x="6300006" y="3383385"/>
            <a:ext cx="1836819" cy="3363000"/>
          </a:xfrm>
          <a:prstGeom prst="rect">
            <a:avLst/>
          </a:prstGeom>
          <a:noFill/>
          <a:ln>
            <a:noFill/>
          </a:ln>
        </p:spPr>
      </p:pic>
      <p:pic>
        <p:nvPicPr>
          <p:cNvPr descr="File:JavaScript-logo.png - Wikimedia Commons" id="244" name="Google Shape;244;g3b0d07ae252_2_10"/>
          <p:cNvPicPr preferRelativeResize="0"/>
          <p:nvPr/>
        </p:nvPicPr>
        <p:blipFill>
          <a:blip r:embed="rId6">
            <a:alphaModFix/>
          </a:blip>
          <a:stretch>
            <a:fillRect/>
          </a:stretch>
        </p:blipFill>
        <p:spPr>
          <a:xfrm>
            <a:off x="9014225" y="4084512"/>
            <a:ext cx="2498576" cy="249859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1"/>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Are the Wind Energy Testbed Gadgets Turing Complete?</a:t>
            </a:r>
            <a:endParaRPr/>
          </a:p>
        </p:txBody>
      </p:sp>
      <p:sp>
        <p:nvSpPr>
          <p:cNvPr id="250" name="Google Shape;250;p11"/>
          <p:cNvSpPr txBox="1"/>
          <p:nvPr>
            <p:ph idx="1" type="body"/>
          </p:nvPr>
        </p:nvSpPr>
        <p:spPr>
          <a:xfrm>
            <a:off x="521200" y="2578602"/>
            <a:ext cx="11155800" cy="2659500"/>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1000"/>
              </a:spcBef>
              <a:spcAft>
                <a:spcPts val="0"/>
              </a:spcAft>
              <a:buClr>
                <a:schemeClr val="dk1"/>
              </a:buClr>
              <a:buSzPts val="1800"/>
              <a:buChar char="•"/>
            </a:pPr>
            <a:r>
              <a:rPr lang="en-US"/>
              <a:t>Yes, they satisfy the necessary qualities of Turing Completeness</a:t>
            </a:r>
            <a:endParaRPr/>
          </a:p>
          <a:p>
            <a:pPr indent="-228600" lvl="1" marL="685800" rtl="0" algn="l">
              <a:lnSpc>
                <a:spcPct val="110000"/>
              </a:lnSpc>
              <a:spcBef>
                <a:spcPts val="1000"/>
              </a:spcBef>
              <a:spcAft>
                <a:spcPts val="0"/>
              </a:spcAft>
              <a:buClr>
                <a:schemeClr val="dk1"/>
              </a:buClr>
              <a:buSzPts val="1800"/>
              <a:buChar char="•"/>
            </a:pPr>
            <a:r>
              <a:rPr lang="en-US"/>
              <a:t>Sequence: Capability of reading/writing to registers and foils with “get” and “set”</a:t>
            </a:r>
            <a:endParaRPr/>
          </a:p>
          <a:p>
            <a:pPr indent="-228600" lvl="1" marL="685800" rtl="0" algn="l">
              <a:lnSpc>
                <a:spcPct val="110000"/>
              </a:lnSpc>
              <a:spcBef>
                <a:spcPts val="1000"/>
              </a:spcBef>
              <a:spcAft>
                <a:spcPts val="0"/>
              </a:spcAft>
              <a:buClr>
                <a:schemeClr val="dk1"/>
              </a:buClr>
              <a:buSzPts val="1800"/>
              <a:buChar char="•"/>
            </a:pPr>
            <a:r>
              <a:rPr lang="en-US"/>
              <a:t>Selection: Conditional writes simulate if-then-else</a:t>
            </a:r>
            <a:endParaRPr/>
          </a:p>
          <a:p>
            <a:pPr indent="-228600" lvl="1" marL="685800" rtl="0" algn="l">
              <a:lnSpc>
                <a:spcPct val="110000"/>
              </a:lnSpc>
              <a:spcBef>
                <a:spcPts val="1000"/>
              </a:spcBef>
              <a:spcAft>
                <a:spcPts val="0"/>
              </a:spcAft>
              <a:buClr>
                <a:schemeClr val="dk1"/>
              </a:buClr>
              <a:buSzPts val="1800"/>
              <a:buChar char="•"/>
            </a:pPr>
            <a:r>
              <a:rPr lang="en-US"/>
              <a:t>Iteration: Wait or repeat until condition is satisfied with ControlGadget</a:t>
            </a:r>
            <a:endParaRPr/>
          </a:p>
          <a:p>
            <a:pPr indent="-228600" lvl="0" marL="228600" rtl="0" algn="l">
              <a:lnSpc>
                <a:spcPct val="110000"/>
              </a:lnSpc>
              <a:spcBef>
                <a:spcPts val="1000"/>
              </a:spcBef>
              <a:spcAft>
                <a:spcPts val="0"/>
              </a:spcAft>
              <a:buClr>
                <a:schemeClr val="dk1"/>
              </a:buClr>
              <a:buSzPts val="1800"/>
              <a:buChar char="•"/>
            </a:pPr>
            <a:r>
              <a:rPr lang="en-US"/>
              <a:t>Weird Machines =&gt; Turing Complete =&gt; Solve any “decidable problem”</a:t>
            </a:r>
            <a:endParaRPr/>
          </a:p>
        </p:txBody>
      </p:sp>
      <p:sp>
        <p:nvSpPr>
          <p:cNvPr id="251" name="Google Shape;251;p11"/>
          <p:cNvSpPr txBox="1"/>
          <p:nvPr/>
        </p:nvSpPr>
        <p:spPr>
          <a:xfrm>
            <a:off x="2868525" y="5945925"/>
            <a:ext cx="9323400" cy="8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500">
                <a:solidFill>
                  <a:schemeClr val="dk1"/>
                </a:solidFill>
              </a:rPr>
              <a:t>This work argues Turing completeness by </a:t>
            </a:r>
            <a:r>
              <a:rPr i="1" lang="en-US" sz="1500">
                <a:solidFill>
                  <a:schemeClr val="dk1"/>
                </a:solidFill>
              </a:rPr>
              <a:t>construction</a:t>
            </a:r>
            <a:r>
              <a:rPr i="1" lang="en-US" sz="1500">
                <a:solidFill>
                  <a:schemeClr val="dk1"/>
                </a:solidFill>
              </a:rPr>
              <a:t> and analogy; a formal proof is out of scope</a:t>
            </a:r>
            <a:endParaRPr i="1" sz="15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2"/>
          <p:cNvSpPr txBox="1"/>
          <p:nvPr>
            <p:ph idx="1" type="body"/>
          </p:nvPr>
        </p:nvSpPr>
        <p:spPr>
          <a:xfrm>
            <a:off x="338325" y="1941574"/>
            <a:ext cx="11338800" cy="4404300"/>
          </a:xfrm>
          <a:prstGeom prst="rect">
            <a:avLst/>
          </a:prstGeom>
          <a:noFill/>
          <a:ln>
            <a:noFill/>
          </a:ln>
        </p:spPr>
        <p:txBody>
          <a:bodyPr anchorCtr="0" anchor="t" bIns="45700" lIns="91425" spcFirstLastPara="1" rIns="91425" wrap="square" tIns="45700">
            <a:noAutofit/>
          </a:bodyPr>
          <a:lstStyle/>
          <a:p>
            <a:pPr indent="-216806" lvl="0" marL="228600" rtl="0" algn="l">
              <a:lnSpc>
                <a:spcPct val="130000"/>
              </a:lnSpc>
              <a:spcBef>
                <a:spcPts val="1000"/>
              </a:spcBef>
              <a:spcAft>
                <a:spcPts val="0"/>
              </a:spcAft>
              <a:buSzPts val="1614"/>
              <a:buChar char="•"/>
            </a:pPr>
            <a:r>
              <a:rPr b="1" lang="en-US" sz="1614"/>
              <a:t>White Paper &amp; Research </a:t>
            </a:r>
            <a:r>
              <a:rPr b="1" lang="en-US" sz="1614"/>
              <a:t>Artifacts</a:t>
            </a:r>
            <a:endParaRPr b="1" sz="1614"/>
          </a:p>
          <a:p>
            <a:pPr indent="-204106" lvl="1" marL="685800" rtl="0" algn="l">
              <a:lnSpc>
                <a:spcPct val="130000"/>
              </a:lnSpc>
              <a:spcBef>
                <a:spcPts val="1000"/>
              </a:spcBef>
              <a:spcAft>
                <a:spcPts val="0"/>
              </a:spcAft>
              <a:buSzPts val="1414"/>
              <a:buChar char="•"/>
            </a:pPr>
            <a:r>
              <a:rPr lang="en-US" sz="1414"/>
              <a:t>Document our findings, </a:t>
            </a:r>
            <a:r>
              <a:rPr lang="en-US" sz="1414"/>
              <a:t>methodology</a:t>
            </a:r>
            <a:r>
              <a:rPr lang="en-US" sz="1414"/>
              <a:t>, and lessons learned in a formal white paper. </a:t>
            </a:r>
            <a:r>
              <a:rPr lang="en-US" sz="1414"/>
              <a:t>Publication and public release will occur only after sponsor review and approval.</a:t>
            </a:r>
            <a:endParaRPr sz="1414"/>
          </a:p>
          <a:p>
            <a:pPr indent="-216806" lvl="0" marL="228600" rtl="0" algn="l">
              <a:lnSpc>
                <a:spcPct val="130000"/>
              </a:lnSpc>
              <a:spcBef>
                <a:spcPts val="1000"/>
              </a:spcBef>
              <a:spcAft>
                <a:spcPts val="0"/>
              </a:spcAft>
              <a:buSzPts val="1614"/>
              <a:buChar char="•"/>
            </a:pPr>
            <a:r>
              <a:rPr b="1" lang="en-US" sz="1614"/>
              <a:t>Research Workflow &amp; Tooling Experience</a:t>
            </a:r>
            <a:endParaRPr b="1" sz="1614"/>
          </a:p>
          <a:p>
            <a:pPr indent="-178706" lvl="1" marL="685800" rtl="0" algn="l">
              <a:lnSpc>
                <a:spcPct val="130000"/>
              </a:lnSpc>
              <a:spcBef>
                <a:spcPts val="1000"/>
              </a:spcBef>
              <a:spcAft>
                <a:spcPts val="0"/>
              </a:spcAft>
              <a:buSzPts val="1014"/>
              <a:buChar char="•"/>
            </a:pPr>
            <a:r>
              <a:rPr lang="en-US" sz="1314"/>
              <a:t>T</a:t>
            </a:r>
            <a:r>
              <a:rPr lang="en-US" sz="1414"/>
              <a:t>his research project provides hands-on practice in technical writing, version control, and reproducible research workflows utilizing tools such as Overleaf, Git, and LaTeX.</a:t>
            </a:r>
            <a:endParaRPr sz="1414"/>
          </a:p>
          <a:p>
            <a:pPr indent="-216806" lvl="0" marL="228600" rtl="0" algn="l">
              <a:lnSpc>
                <a:spcPct val="130000"/>
              </a:lnSpc>
              <a:spcBef>
                <a:spcPts val="1000"/>
              </a:spcBef>
              <a:spcAft>
                <a:spcPts val="0"/>
              </a:spcAft>
              <a:buSzPts val="1614"/>
              <a:buChar char="•"/>
            </a:pPr>
            <a:r>
              <a:rPr b="1" lang="en-US" sz="1614"/>
              <a:t>Scaling Weird-Machine Discovery with LLMs</a:t>
            </a:r>
            <a:endParaRPr b="1" sz="1614"/>
          </a:p>
          <a:p>
            <a:pPr indent="-204106" lvl="1" marL="685800" rtl="0" algn="l">
              <a:lnSpc>
                <a:spcPct val="130000"/>
              </a:lnSpc>
              <a:spcBef>
                <a:spcPts val="1000"/>
              </a:spcBef>
              <a:spcAft>
                <a:spcPts val="0"/>
              </a:spcAft>
              <a:buSzPts val="1414"/>
              <a:buChar char="•"/>
            </a:pPr>
            <a:r>
              <a:rPr lang="en-US" sz="1414"/>
              <a:t>Explore a large-language-model consortium approach to assist in identifying potential weird gadgets within complex system architectures such as our Wind Energy Testbed.</a:t>
            </a:r>
            <a:endParaRPr sz="1414"/>
          </a:p>
          <a:p>
            <a:pPr indent="-216806" lvl="0" marL="228600" rtl="0" algn="l">
              <a:lnSpc>
                <a:spcPct val="130000"/>
              </a:lnSpc>
              <a:spcBef>
                <a:spcPts val="1000"/>
              </a:spcBef>
              <a:spcAft>
                <a:spcPts val="0"/>
              </a:spcAft>
              <a:buSzPts val="1614"/>
              <a:buChar char="•"/>
            </a:pPr>
            <a:r>
              <a:rPr b="1" lang="en-US" sz="1614"/>
              <a:t>Actualizing Our Research</a:t>
            </a:r>
            <a:endParaRPr b="1" sz="1614"/>
          </a:p>
          <a:p>
            <a:pPr indent="-202326" lvl="1" marL="685800" rtl="0" algn="l">
              <a:lnSpc>
                <a:spcPct val="130000"/>
              </a:lnSpc>
              <a:spcBef>
                <a:spcPts val="1000"/>
              </a:spcBef>
              <a:spcAft>
                <a:spcPts val="0"/>
              </a:spcAft>
              <a:buSzPts val="1386"/>
              <a:buChar char="•"/>
            </a:pPr>
            <a:r>
              <a:rPr lang="en-US" sz="1386"/>
              <a:t>In the future we will implement these weird machine models on the actual hardware and determine the extent to which they can run "in the background" of the existing system</a:t>
            </a:r>
            <a:endParaRPr sz="1386"/>
          </a:p>
          <a:p>
            <a:pPr indent="-114300" lvl="0" marL="228600" rtl="0" algn="l">
              <a:lnSpc>
                <a:spcPct val="90000"/>
              </a:lnSpc>
              <a:spcBef>
                <a:spcPts val="1000"/>
              </a:spcBef>
              <a:spcAft>
                <a:spcPts val="0"/>
              </a:spcAft>
              <a:buClr>
                <a:schemeClr val="dk1"/>
              </a:buClr>
              <a:buSzPts val="585"/>
              <a:buNone/>
            </a:pPr>
            <a:r>
              <a:t/>
            </a:r>
            <a:endParaRPr sz="585"/>
          </a:p>
        </p:txBody>
      </p:sp>
      <p:sp>
        <p:nvSpPr>
          <p:cNvPr id="257" name="Google Shape;257;p12"/>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What is coming next?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1" name="Shape 261"/>
        <p:cNvGrpSpPr/>
        <p:nvPr/>
      </p:nvGrpSpPr>
      <p:grpSpPr>
        <a:xfrm>
          <a:off x="0" y="0"/>
          <a:ext cx="0" cy="0"/>
          <a:chOff x="0" y="0"/>
          <a:chExt cx="0" cy="0"/>
        </a:xfrm>
      </p:grpSpPr>
      <p:sp>
        <p:nvSpPr>
          <p:cNvPr id="262" name="Google Shape;262;p13"/>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63" name="Google Shape;263;p13"/>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64" name="Google Shape;264;p13"/>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65" name="Google Shape;265;p13"/>
          <p:cNvSpPr txBox="1"/>
          <p:nvPr>
            <p:ph type="title"/>
          </p:nvPr>
        </p:nvSpPr>
        <p:spPr>
          <a:xfrm>
            <a:off x="521208" y="978408"/>
            <a:ext cx="3397649" cy="33037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400"/>
              <a:buFont typeface="Arial"/>
              <a:buNone/>
            </a:pPr>
            <a:r>
              <a:rPr lang="en-US" sz="3400"/>
              <a:t>LLM Consortium For Identifying Weird Gadgets from Technical Manuals</a:t>
            </a:r>
            <a:endParaRPr/>
          </a:p>
        </p:txBody>
      </p:sp>
      <p:sp>
        <p:nvSpPr>
          <p:cNvPr id="266" name="Google Shape;266;p13"/>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67" name="Google Shape;267;p13"/>
          <p:cNvPicPr preferRelativeResize="0"/>
          <p:nvPr/>
        </p:nvPicPr>
        <p:blipFill rotWithShape="1">
          <a:blip r:embed="rId3">
            <a:alphaModFix/>
          </a:blip>
          <a:srcRect b="0" l="0" r="0" t="0"/>
          <a:stretch/>
        </p:blipFill>
        <p:spPr>
          <a:xfrm>
            <a:off x="5002501" y="965741"/>
            <a:ext cx="6159870" cy="5728678"/>
          </a:xfrm>
          <a:prstGeom prst="rect">
            <a:avLst/>
          </a:prstGeom>
          <a:noFill/>
          <a:ln>
            <a:noFill/>
          </a:ln>
        </p:spPr>
      </p:pic>
      <p:sp>
        <p:nvSpPr>
          <p:cNvPr id="268" name="Google Shape;268;p13"/>
          <p:cNvSpPr txBox="1"/>
          <p:nvPr/>
        </p:nvSpPr>
        <p:spPr>
          <a:xfrm>
            <a:off x="335626" y="4024422"/>
            <a:ext cx="3768811"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Multiple fine-tuned llms independently generate responses, creating redundancy and reducing bias / hallucination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Dedicated reasoning model compares, validates, and synthesizes these outputs into a single trusted result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a71d4f651d_0_0"/>
          <p:cNvSpPr txBox="1"/>
          <p:nvPr>
            <p:ph idx="1" type="body"/>
          </p:nvPr>
        </p:nvSpPr>
        <p:spPr>
          <a:xfrm>
            <a:off x="521200" y="2578598"/>
            <a:ext cx="11155800" cy="2900400"/>
          </a:xfrm>
          <a:prstGeom prst="rect">
            <a:avLst/>
          </a:prstGeom>
          <a:noFill/>
          <a:ln>
            <a:noFill/>
          </a:ln>
        </p:spPr>
        <p:txBody>
          <a:bodyPr anchorCtr="0" anchor="t" bIns="45700" lIns="91425" spcFirstLastPara="1" rIns="91425" wrap="square" tIns="45700">
            <a:normAutofit fontScale="55000" lnSpcReduction="10000"/>
          </a:bodyPr>
          <a:lstStyle/>
          <a:p>
            <a:pPr indent="-223295" lvl="0" marL="228600" rtl="0" algn="l">
              <a:lnSpc>
                <a:spcPct val="150000"/>
              </a:lnSpc>
              <a:spcBef>
                <a:spcPts val="1000"/>
              </a:spcBef>
              <a:spcAft>
                <a:spcPts val="0"/>
              </a:spcAft>
              <a:buSzPct val="100000"/>
              <a:buChar char="•"/>
            </a:pPr>
            <a:r>
              <a:rPr b="1" lang="en-US" sz="3120"/>
              <a:t>Points of Contact:</a:t>
            </a:r>
            <a:endParaRPr b="1" sz="3120"/>
          </a:p>
          <a:p>
            <a:pPr indent="-223295" lvl="1" marL="685800" rtl="0" algn="l">
              <a:lnSpc>
                <a:spcPct val="150000"/>
              </a:lnSpc>
              <a:spcBef>
                <a:spcPts val="500"/>
              </a:spcBef>
              <a:spcAft>
                <a:spcPts val="0"/>
              </a:spcAft>
              <a:buSzPct val="100000"/>
              <a:buChar char="•"/>
            </a:pPr>
            <a:r>
              <a:rPr b="1" lang="en-US" sz="3120"/>
              <a:t>Jada Cumberland - </a:t>
            </a:r>
            <a:r>
              <a:rPr b="1" lang="en-US" sz="3120" u="sng">
                <a:solidFill>
                  <a:schemeClr val="hlink"/>
                </a:solidFill>
                <a:hlinkClick r:id="rId3"/>
              </a:rPr>
              <a:t>jcumb002@odu.edu</a:t>
            </a:r>
            <a:r>
              <a:rPr b="1" lang="en-US" sz="3120"/>
              <a:t> </a:t>
            </a:r>
            <a:endParaRPr b="1" sz="3120"/>
          </a:p>
          <a:p>
            <a:pPr indent="-223295" lvl="1" marL="685800" rtl="0" algn="l">
              <a:lnSpc>
                <a:spcPct val="150000"/>
              </a:lnSpc>
              <a:spcBef>
                <a:spcPts val="500"/>
              </a:spcBef>
              <a:spcAft>
                <a:spcPts val="0"/>
              </a:spcAft>
              <a:buSzPct val="100000"/>
              <a:buChar char="•"/>
            </a:pPr>
            <a:r>
              <a:rPr b="1" lang="en-US" sz="3120"/>
              <a:t>Brianne Dunn - </a:t>
            </a:r>
            <a:r>
              <a:rPr b="1" lang="en-US" sz="3120" u="sng">
                <a:solidFill>
                  <a:schemeClr val="hlink"/>
                </a:solidFill>
                <a:hlinkClick r:id="rId4"/>
              </a:rPr>
              <a:t>bdunn003@odu.edu</a:t>
            </a:r>
            <a:r>
              <a:rPr b="1" lang="en-US" sz="3120"/>
              <a:t> </a:t>
            </a:r>
            <a:endParaRPr b="1" sz="3120"/>
          </a:p>
          <a:p>
            <a:pPr indent="-223295" lvl="1" marL="685800" rtl="0" algn="l">
              <a:lnSpc>
                <a:spcPct val="150000"/>
              </a:lnSpc>
              <a:spcBef>
                <a:spcPts val="500"/>
              </a:spcBef>
              <a:spcAft>
                <a:spcPts val="0"/>
              </a:spcAft>
              <a:buSzPct val="100000"/>
              <a:buChar char="•"/>
            </a:pPr>
            <a:r>
              <a:rPr b="1" lang="en-US" sz="3120"/>
              <a:t>Samuel Jackson - </a:t>
            </a:r>
            <a:r>
              <a:rPr b="1" lang="en-US" sz="3120" u="sng">
                <a:solidFill>
                  <a:schemeClr val="hlink"/>
                </a:solidFill>
                <a:hlinkClick r:id="rId5"/>
              </a:rPr>
              <a:t>sjack047@odu.edu</a:t>
            </a:r>
            <a:r>
              <a:rPr b="1" lang="en-US" sz="3120"/>
              <a:t>	</a:t>
            </a:r>
            <a:endParaRPr b="1" sz="3120"/>
          </a:p>
          <a:p>
            <a:pPr indent="-223295" lvl="1" marL="685800" rtl="0" algn="l">
              <a:lnSpc>
                <a:spcPct val="150000"/>
              </a:lnSpc>
              <a:spcBef>
                <a:spcPts val="500"/>
              </a:spcBef>
              <a:spcAft>
                <a:spcPts val="0"/>
              </a:spcAft>
              <a:buSzPct val="100000"/>
              <a:buChar char="•"/>
            </a:pPr>
            <a:r>
              <a:rPr b="1" lang="en-US" sz="3120"/>
              <a:t>Dr. Ross Gore - </a:t>
            </a:r>
            <a:r>
              <a:rPr b="1" lang="en-US" sz="3120" u="sng">
                <a:solidFill>
                  <a:schemeClr val="hlink"/>
                </a:solidFill>
                <a:hlinkClick r:id="rId6"/>
              </a:rPr>
              <a:t>rgore@odu.edu</a:t>
            </a:r>
            <a:r>
              <a:rPr b="1" lang="en-US" sz="3120"/>
              <a:t> </a:t>
            </a:r>
            <a:endParaRPr b="1" sz="3120"/>
          </a:p>
          <a:p>
            <a:pPr indent="-223295" lvl="1" marL="685800" rtl="0" algn="l">
              <a:lnSpc>
                <a:spcPct val="150000"/>
              </a:lnSpc>
              <a:spcBef>
                <a:spcPts val="500"/>
              </a:spcBef>
              <a:spcAft>
                <a:spcPts val="0"/>
              </a:spcAft>
              <a:buSzPct val="100000"/>
              <a:buChar char="•"/>
            </a:pPr>
            <a:r>
              <a:rPr b="1" lang="en-US" sz="3120"/>
              <a:t>Dr. Sachin Shetty - </a:t>
            </a:r>
            <a:r>
              <a:rPr b="1" lang="en-US" sz="3120" u="sng">
                <a:solidFill>
                  <a:schemeClr val="hlink"/>
                </a:solidFill>
                <a:hlinkClick r:id="rId7"/>
              </a:rPr>
              <a:t>sshetty@odu.edu</a:t>
            </a:r>
            <a:r>
              <a:rPr b="1" lang="en-US" sz="3120"/>
              <a:t> </a:t>
            </a:r>
            <a:endParaRPr b="1" sz="3120"/>
          </a:p>
          <a:p>
            <a:pPr indent="-114300" lvl="0" marL="228600" rtl="0" algn="l">
              <a:lnSpc>
                <a:spcPct val="110000"/>
              </a:lnSpc>
              <a:spcBef>
                <a:spcPts val="1000"/>
              </a:spcBef>
              <a:spcAft>
                <a:spcPts val="0"/>
              </a:spcAft>
              <a:buClr>
                <a:schemeClr val="dk1"/>
              </a:buClr>
              <a:buSzPct val="100000"/>
              <a:buNone/>
            </a:pPr>
            <a:r>
              <a:t/>
            </a:r>
            <a:endParaRPr/>
          </a:p>
        </p:txBody>
      </p:sp>
      <p:sp>
        <p:nvSpPr>
          <p:cNvPr id="274" name="Google Shape;274;g3a71d4f651d_0_0"/>
          <p:cNvSpPr txBox="1"/>
          <p:nvPr>
            <p:ph type="title"/>
          </p:nvPr>
        </p:nvSpPr>
        <p:spPr>
          <a:xfrm>
            <a:off x="521208" y="978408"/>
            <a:ext cx="11155800" cy="1463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Q&amp;A </a:t>
            </a:r>
            <a:endParaRPr/>
          </a:p>
        </p:txBody>
      </p:sp>
      <p:sp>
        <p:nvSpPr>
          <p:cNvPr id="275" name="Google Shape;275;g3a71d4f651d_0_0"/>
          <p:cNvSpPr txBox="1"/>
          <p:nvPr/>
        </p:nvSpPr>
        <p:spPr>
          <a:xfrm>
            <a:off x="4130697" y="5864018"/>
            <a:ext cx="7864500" cy="643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1000"/>
              </a:spcBef>
              <a:spcAft>
                <a:spcPts val="0"/>
              </a:spcAft>
              <a:buNone/>
            </a:pPr>
            <a:r>
              <a:rPr lang="en-US" sz="1800">
                <a:solidFill>
                  <a:srgbClr val="000000"/>
                </a:solidFill>
              </a:rPr>
              <a:t>GitHub Repository: https://github.com/rossgore/weird_machine_gadgets</a:t>
            </a:r>
            <a:endParaRPr sz="18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2025-12-05T16:22:05Z</dcterms:created>
  <dc:creator>Gore, Ross J.</dc:creator>
</cp:coreProperties>
</file>